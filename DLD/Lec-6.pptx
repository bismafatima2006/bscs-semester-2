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8" r:id="rId2"/>
    <p:sldId id="334" r:id="rId3"/>
    <p:sldId id="335" r:id="rId4"/>
    <p:sldId id="336" r:id="rId5"/>
    <p:sldId id="337" r:id="rId6"/>
    <p:sldId id="339" r:id="rId7"/>
    <p:sldId id="340" r:id="rId8"/>
    <p:sldId id="33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B420F-CFD3-4A23-9185-CF49EDF77CFD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05522-6311-4986-A5E4-7335C6015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2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BF8ED27-91ED-4E4E-9BBF-65647225B5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C94DA-7D48-4AED-B0F6-F1F8C8D1394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63" name="Rectangle 2050">
            <a:extLst>
              <a:ext uri="{FF2B5EF4-FFF2-40B4-BE49-F238E27FC236}">
                <a16:creationId xmlns:a16="http://schemas.microsoft.com/office/drawing/2014/main" id="{E1A71CB5-361F-4FDE-813E-1F8F8ACA90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2051">
            <a:extLst>
              <a:ext uri="{FF2B5EF4-FFF2-40B4-BE49-F238E27FC236}">
                <a16:creationId xmlns:a16="http://schemas.microsoft.com/office/drawing/2014/main" id="{4E7B2881-655E-4690-A7E4-B3D5DE255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9059732-F47F-4D65-A2F3-51D2D328C1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5D4C8A-817B-4410-8052-13B9C1ABDDD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FF51616-401A-4988-B691-7DEFDBC918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B60F9D1-AAAA-4FBE-BEA4-65C484E45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2nd Literal Cost = 11</a:t>
            </a:r>
          </a:p>
          <a:p>
            <a:r>
              <a:rPr lang="en-US" altLang="en-US"/>
              <a:t>3rd Literal Cost = 10</a:t>
            </a:r>
          </a:p>
          <a:p>
            <a:r>
              <a:rPr lang="en-US" altLang="en-US"/>
              <a:t>The first solution is best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5275727-2360-4DC8-9C0D-A7E9FA785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0881-6ABC-4BD3-9C6F-9F9F322C0AE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59A0339-6148-4F0E-AD92-F28E502E84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DB5C6FA-A279-43A6-8F28-5BB6DDA7A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G = 15, GN = 18 (second value includes inverter inputs)</a:t>
            </a:r>
          </a:p>
          <a:p>
            <a:r>
              <a:rPr lang="en-US" altLang="en-US"/>
              <a:t>G = 14, GN = 17</a:t>
            </a:r>
          </a:p>
          <a:p>
            <a:r>
              <a:rPr lang="en-US" altLang="en-US"/>
              <a:t>1st solution is best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1CD3822-2597-423B-B2A6-F9A2AF5EB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20763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20763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B265E1-6B09-4692-8C8D-D5C85FAF681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6EFEF9C-4DC9-4FB9-8F7C-8B287D85B2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D6B2224-2FA4-426A-B07A-D7AD07CAA13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6125"/>
            <a:ext cx="5365750" cy="43243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07" tIns="47654" rIns="95307" bIns="47654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51">
            <a:extLst>
              <a:ext uri="{FF2B5EF4-FFF2-40B4-BE49-F238E27FC236}">
                <a16:creationId xmlns:a16="http://schemas.microsoft.com/office/drawing/2014/main" id="{0F072BE7-F42C-4098-BE08-FAA6C96880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200" b="1"/>
              <a:t>Charles Kime &amp; Thomas Kaminski</a:t>
            </a:r>
          </a:p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2200">
                <a:cs typeface="Times New Roman" panose="02020603050405020304" pitchFamily="18" charset="0"/>
                <a:hlinkClick r:id="" action="ppaction://hlinkshowjump?jump=lastslide"/>
              </a:rPr>
              <a:t>Terms of Use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1800"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052">
            <a:extLst>
              <a:ext uri="{FF2B5EF4-FFF2-40B4-BE49-F238E27FC236}">
                <a16:creationId xmlns:a16="http://schemas.microsoft.com/office/drawing/2014/main" id="{C9730694-0923-49FD-A17B-4899AB25B3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chemeClr val="hlink"/>
                </a:solidFill>
                <a:latin typeface="Helvetica" panose="020B0604020202020204" pitchFamily="34" charset="0"/>
              </a:rPr>
              <a:t>Chapter 2 – Combinational Logic Circuits</a:t>
            </a:r>
          </a:p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  <a:latin typeface="Helvetica" panose="020B0604020202020204" pitchFamily="34" charset="0"/>
              </a:rPr>
              <a:t>Part 2 – Circuit Optimization</a:t>
            </a:r>
            <a:endParaRPr lang="en-US" altLang="en-US" sz="4000" b="1">
              <a:solidFill>
                <a:schemeClr val="hlink"/>
              </a:solidFill>
              <a:latin typeface="Helvetica" panose="020B0604020202020204" pitchFamily="34" charset="0"/>
            </a:endParaRPr>
          </a:p>
        </p:txBody>
      </p:sp>
      <p:sp>
        <p:nvSpPr>
          <p:cNvPr id="4" name="Text Box 1053">
            <a:extLst>
              <a:ext uri="{FF2B5EF4-FFF2-40B4-BE49-F238E27FC236}">
                <a16:creationId xmlns:a16="http://schemas.microsoft.com/office/drawing/2014/main" id="{C898B6D3-75B5-49A3-AF66-2C73D4D632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3200" b="1"/>
              <a:t>Logic and Computer Design Fundamentals</a:t>
            </a:r>
          </a:p>
        </p:txBody>
      </p:sp>
      <p:sp>
        <p:nvSpPr>
          <p:cNvPr id="5" name="Line 1054">
            <a:extLst>
              <a:ext uri="{FF2B5EF4-FFF2-40B4-BE49-F238E27FC236}">
                <a16:creationId xmlns:a16="http://schemas.microsoft.com/office/drawing/2014/main" id="{5CC0E097-8187-440E-A05D-613C58B17EF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9695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00561-35B8-4CD3-A4C3-F3B030793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2AB5A5ED-1B3F-45C1-93B1-CDEBA75EB7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2360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7FAA6-7F7C-490F-B2A0-BC357E51C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8B2F133E-B74B-4F7E-B5E2-5DA10CAA5D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44916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1917" y="1303338"/>
            <a:ext cx="5080000" cy="5027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5117" y="1303338"/>
            <a:ext cx="5080000" cy="5027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B314A-73C1-4427-AB43-E7B66002B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654D5240-18E4-49DE-80E6-E8C8D0FDDA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2141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ECE33-37E5-44B7-8D5E-0BEAFD755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445FD85B-2F21-47DF-8239-F2D034AA3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4053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FFA50-9127-4E8D-BF67-E7245DB1C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3F29DDA6-A3CC-4A7E-8B16-8CB8314780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7696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3830F-B843-4CA7-9FB4-E04B44C1D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1ACB8DA2-ED65-4F7C-99EE-8742E866B4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19267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CCCF9-34FC-48A4-9072-EA901EA04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78E1EAC2-6750-4DB0-B4FD-30D0A8B3D3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02343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22F9B-0742-41B1-B11F-EEBF92464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3C807A0D-1E91-4F98-B811-10C01E8A17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17914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C8CA9-BF6B-41C8-A0AA-DDDA155F3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E0205179-DA1A-44C0-BB89-5F68518908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74282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0"/>
            <a:ext cx="2592917" cy="6330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1918" y="0"/>
            <a:ext cx="7579783" cy="63309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D9287-7AE1-41F2-83AD-81AF90902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48E74BFE-18B2-4A89-81BD-95DF01A6C6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80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">
            <a:extLst>
              <a:ext uri="{FF2B5EF4-FFF2-40B4-BE49-F238E27FC236}">
                <a16:creationId xmlns:a16="http://schemas.microsoft.com/office/drawing/2014/main" id="{AFC46A1D-1080-4810-85C5-99D4AEDB8C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48">
            <a:extLst>
              <a:ext uri="{FF2B5EF4-FFF2-40B4-BE49-F238E27FC236}">
                <a16:creationId xmlns:a16="http://schemas.microsoft.com/office/drawing/2014/main" id="{1E748B2B-407A-4226-9C02-034770A0AD8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Font typeface="Wingdings" panose="05000000000000000000" pitchFamily="2" charset="2"/>
              <a:buNone/>
            </a:pP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id="{0099D2E7-2DAE-423C-BE58-AE0801FFD3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83133" y="6489700"/>
            <a:ext cx="317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1600" smtClean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Chapter 2 - Part 2         </a:t>
            </a:r>
            <a:fld id="{AB0A6EDD-9C62-4472-ADD2-E0C4985B717D}" type="slidenum">
              <a:rPr lang="en-US" altLang="en-US">
                <a:cs typeface="+mn-cs"/>
              </a:rPr>
              <a:pPr>
                <a:defRPr/>
              </a:pPr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29" name="Line 51">
            <a:extLst>
              <a:ext uri="{FF2B5EF4-FFF2-40B4-BE49-F238E27FC236}">
                <a16:creationId xmlns:a16="http://schemas.microsoft.com/office/drawing/2014/main" id="{C829FC25-42B8-4A61-9EB1-26B1E0DFB7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0" name="Rectangle 52">
            <a:extLst>
              <a:ext uri="{FF2B5EF4-FFF2-40B4-BE49-F238E27FC236}">
                <a16:creationId xmlns:a16="http://schemas.microsoft.com/office/drawing/2014/main" id="{CB6379FD-FC2A-4283-BE1D-B9E4F87D6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Rectangle 54">
            <a:extLst>
              <a:ext uri="{FF2B5EF4-FFF2-40B4-BE49-F238E27FC236}">
                <a16:creationId xmlns:a16="http://schemas.microsoft.com/office/drawing/2014/main" id="{EB3A7664-BE15-40F1-8250-6D204F825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1917" y="1303338"/>
            <a:ext cx="10363200" cy="502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63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19067F91-55BB-4BD2-A162-1755C490D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AC24ED7A-EEB2-46EA-96C6-E4093DF1168F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FCA4398-8A62-4D96-8351-373A2F6F9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Overview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C3439D41-8484-4B2E-B2CD-2C9DEB7DB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/>
              <a:t>Part 1 – Gate Circuits and Boolean Equations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Binary Logic and Gates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Boolean Algebra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Standard Forms</a:t>
            </a:r>
          </a:p>
          <a:p>
            <a:pPr>
              <a:lnSpc>
                <a:spcPct val="90000"/>
              </a:lnSpc>
            </a:pPr>
            <a:r>
              <a:rPr lang="en-US" altLang="en-US" sz="2800" b="1"/>
              <a:t>Part 2 – Circuit Optimization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Two-Level Optimization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Map Manipulation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Multi-Level Circuit Optimization</a:t>
            </a:r>
          </a:p>
          <a:p>
            <a:pPr>
              <a:lnSpc>
                <a:spcPct val="90000"/>
              </a:lnSpc>
            </a:pPr>
            <a:r>
              <a:rPr lang="en-US" altLang="en-US" sz="2800" b="1"/>
              <a:t>Part 3 – Additional Gates and Circuits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Other Gate Types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Exclusive-OR Operator and Gates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High-Impedance Outputs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50401487-89D4-497B-A244-B86B92D48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04986AEC-1E29-42EA-9F70-AC8CE277F2C1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C4E574D-8CD1-449A-A4FA-CAC3A14A8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Circuit Optimization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9EEC285-E7EC-4D01-9D1D-AE10DBA18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438" y="1273176"/>
            <a:ext cx="7772400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Goal: To obtain the simplest implementation for a given function</a:t>
            </a:r>
          </a:p>
          <a:p>
            <a:pPr>
              <a:lnSpc>
                <a:spcPct val="90000"/>
              </a:lnSpc>
            </a:pPr>
            <a:r>
              <a:rPr lang="en-US" altLang="en-US" b="1"/>
              <a:t>Optimization is a more formal approach to simplification that is performed using a specific procedure or algorithm</a:t>
            </a:r>
          </a:p>
          <a:p>
            <a:pPr>
              <a:lnSpc>
                <a:spcPct val="90000"/>
              </a:lnSpc>
            </a:pPr>
            <a:r>
              <a:rPr lang="en-US" altLang="en-US" b="1"/>
              <a:t>Optimization requires a cost criterion to measure the simplicity of a circuit</a:t>
            </a:r>
          </a:p>
          <a:p>
            <a:pPr>
              <a:lnSpc>
                <a:spcPct val="90000"/>
              </a:lnSpc>
            </a:pPr>
            <a:r>
              <a:rPr lang="en-US" altLang="en-US" b="1"/>
              <a:t>Two distinct cost criteria we will use: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Literal cost (L)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Gate input cost (G)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Gate input cost with NOTs (GN)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FAC7E8B4-0001-4843-9028-5A84B5338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56676CF9-CFB2-45A9-96C9-C716FFB734D7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grpSp>
        <p:nvGrpSpPr>
          <p:cNvPr id="18435" name="Group 76">
            <a:extLst>
              <a:ext uri="{FF2B5EF4-FFF2-40B4-BE49-F238E27FC236}">
                <a16:creationId xmlns:a16="http://schemas.microsoft.com/office/drawing/2014/main" id="{6A9A6FD7-E260-426F-AC8A-F56AD08A791D}"/>
              </a:ext>
            </a:extLst>
          </p:cNvPr>
          <p:cNvGrpSpPr>
            <a:grpSpLocks/>
          </p:cNvGrpSpPr>
          <p:nvPr/>
        </p:nvGrpSpPr>
        <p:grpSpPr bwMode="auto">
          <a:xfrm>
            <a:off x="7105650" y="5464176"/>
            <a:ext cx="654050" cy="519113"/>
            <a:chOff x="3363" y="3442"/>
            <a:chExt cx="412" cy="327"/>
          </a:xfrm>
        </p:grpSpPr>
        <p:sp>
          <p:nvSpPr>
            <p:cNvPr id="18465" name="Text Box 55">
              <a:extLst>
                <a:ext uri="{FF2B5EF4-FFF2-40B4-BE49-F238E27FC236}">
                  <a16:creationId xmlns:a16="http://schemas.microsoft.com/office/drawing/2014/main" id="{662A2024-8F6B-4217-9698-E1B41FFAD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" y="344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8466" name="Line 56">
              <a:extLst>
                <a:ext uri="{FF2B5EF4-FFF2-40B4-BE49-F238E27FC236}">
                  <a16:creationId xmlns:a16="http://schemas.microsoft.com/office/drawing/2014/main" id="{566A64DB-F8DE-4047-A8AD-4744E896E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50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17A87FC-CD78-4EE7-8623-9DE92D88A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0438" y="1217613"/>
            <a:ext cx="8235950" cy="5027612"/>
          </a:xfrm>
        </p:spPr>
        <p:txBody>
          <a:bodyPr/>
          <a:lstStyle/>
          <a:p>
            <a:r>
              <a:rPr lang="en-US" altLang="en-US" b="1"/>
              <a:t>Literal – a variable or it complement</a:t>
            </a:r>
          </a:p>
          <a:p>
            <a:r>
              <a:rPr lang="en-US" altLang="en-US" b="1"/>
              <a:t>Literal cost – the number of literal   appearances in a Boolean expression          corresponding to the logic circuit      diagram</a:t>
            </a:r>
          </a:p>
          <a:p>
            <a:r>
              <a:rPr lang="en-US" altLang="en-US" b="1"/>
              <a:t>Examples:</a:t>
            </a:r>
          </a:p>
          <a:p>
            <a:pPr lvl="1"/>
            <a:r>
              <a:rPr lang="en-US" altLang="en-US" b="1"/>
              <a:t>F = BD + A   C + A                                        L = 8</a:t>
            </a:r>
          </a:p>
          <a:p>
            <a:pPr lvl="1"/>
            <a:r>
              <a:rPr lang="en-US" altLang="en-US" b="1"/>
              <a:t>F = BD + A   C + A       + AB                        L = </a:t>
            </a:r>
          </a:p>
          <a:p>
            <a:pPr lvl="1"/>
            <a:r>
              <a:rPr lang="en-US" altLang="en-US" b="1"/>
              <a:t>F = (A + B)(A + D)(B + C +    )(    +     + D) L =</a:t>
            </a:r>
          </a:p>
          <a:p>
            <a:pPr lvl="1"/>
            <a:r>
              <a:rPr lang="en-US" altLang="en-US" b="1"/>
              <a:t>Which solution is best?</a:t>
            </a: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128CE108-6073-4363-A841-88C835574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  <a:r>
              <a:rPr lang="en-US" altLang="en-US" b="1"/>
              <a:t>Literal Cost</a:t>
            </a:r>
          </a:p>
        </p:txBody>
      </p:sp>
      <p:grpSp>
        <p:nvGrpSpPr>
          <p:cNvPr id="18438" name="Group 70">
            <a:extLst>
              <a:ext uri="{FF2B5EF4-FFF2-40B4-BE49-F238E27FC236}">
                <a16:creationId xmlns:a16="http://schemas.microsoft.com/office/drawing/2014/main" id="{AD4C7DF2-44D9-4D73-838D-B9AA379CCD1E}"/>
              </a:ext>
            </a:extLst>
          </p:cNvPr>
          <p:cNvGrpSpPr>
            <a:grpSpLocks/>
          </p:cNvGrpSpPr>
          <p:nvPr/>
        </p:nvGrpSpPr>
        <p:grpSpPr bwMode="auto">
          <a:xfrm>
            <a:off x="6072188" y="4430713"/>
            <a:ext cx="654050" cy="519112"/>
            <a:chOff x="2964" y="2791"/>
            <a:chExt cx="412" cy="327"/>
          </a:xfrm>
        </p:grpSpPr>
        <p:sp>
          <p:nvSpPr>
            <p:cNvPr id="18463" name="Text Box 22">
              <a:extLst>
                <a:ext uri="{FF2B5EF4-FFF2-40B4-BE49-F238E27FC236}">
                  <a16:creationId xmlns:a16="http://schemas.microsoft.com/office/drawing/2014/main" id="{78B0832D-8F75-4D03-A8A1-A90B9A9DE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4" y="2791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8464" name="Line 23">
              <a:extLst>
                <a:ext uri="{FF2B5EF4-FFF2-40B4-BE49-F238E27FC236}">
                  <a16:creationId xmlns:a16="http://schemas.microsoft.com/office/drawing/2014/main" id="{E3800805-AFF0-42B3-8B52-6114B11F0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2853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9" name="Group 69">
            <a:extLst>
              <a:ext uri="{FF2B5EF4-FFF2-40B4-BE49-F238E27FC236}">
                <a16:creationId xmlns:a16="http://schemas.microsoft.com/office/drawing/2014/main" id="{29CAFAA5-85F8-4601-896E-22AFD87DD15F}"/>
              </a:ext>
            </a:extLst>
          </p:cNvPr>
          <p:cNvGrpSpPr>
            <a:grpSpLocks/>
          </p:cNvGrpSpPr>
          <p:nvPr/>
        </p:nvGrpSpPr>
        <p:grpSpPr bwMode="auto">
          <a:xfrm>
            <a:off x="4600575" y="4421188"/>
            <a:ext cx="654050" cy="519112"/>
            <a:chOff x="2748" y="2272"/>
            <a:chExt cx="412" cy="327"/>
          </a:xfrm>
        </p:grpSpPr>
        <p:sp>
          <p:nvSpPr>
            <p:cNvPr id="18461" name="Text Box 27">
              <a:extLst>
                <a:ext uri="{FF2B5EF4-FFF2-40B4-BE49-F238E27FC236}">
                  <a16:creationId xmlns:a16="http://schemas.microsoft.com/office/drawing/2014/main" id="{E8928D83-09BC-4CB8-B771-39ADF5E14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8" y="227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8462" name="Line 28">
              <a:extLst>
                <a:ext uri="{FF2B5EF4-FFF2-40B4-BE49-F238E27FC236}">
                  <a16:creationId xmlns:a16="http://schemas.microsoft.com/office/drawing/2014/main" id="{637DA8B1-0FC5-4891-9679-39892456BC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" y="2335"/>
              <a:ext cx="1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0" name="Group 71">
            <a:extLst>
              <a:ext uri="{FF2B5EF4-FFF2-40B4-BE49-F238E27FC236}">
                <a16:creationId xmlns:a16="http://schemas.microsoft.com/office/drawing/2014/main" id="{1CD1CFEA-3AA7-4BFE-ADAA-A3AB10C46DE8}"/>
              </a:ext>
            </a:extLst>
          </p:cNvPr>
          <p:cNvGrpSpPr>
            <a:grpSpLocks/>
          </p:cNvGrpSpPr>
          <p:nvPr/>
        </p:nvGrpSpPr>
        <p:grpSpPr bwMode="auto">
          <a:xfrm>
            <a:off x="5770563" y="4430713"/>
            <a:ext cx="654050" cy="519112"/>
            <a:chOff x="2531" y="2791"/>
            <a:chExt cx="412" cy="327"/>
          </a:xfrm>
        </p:grpSpPr>
        <p:sp>
          <p:nvSpPr>
            <p:cNvPr id="18459" name="Text Box 33">
              <a:extLst>
                <a:ext uri="{FF2B5EF4-FFF2-40B4-BE49-F238E27FC236}">
                  <a16:creationId xmlns:a16="http://schemas.microsoft.com/office/drawing/2014/main" id="{AF0B37A3-9661-45F5-B731-A6C89B3EE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1" y="2791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8460" name="Line 34">
              <a:extLst>
                <a:ext uri="{FF2B5EF4-FFF2-40B4-BE49-F238E27FC236}">
                  <a16:creationId xmlns:a16="http://schemas.microsoft.com/office/drawing/2014/main" id="{9AC3FED1-BF62-4B16-B1FF-C86A03C42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2853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1" name="Group 72">
            <a:extLst>
              <a:ext uri="{FF2B5EF4-FFF2-40B4-BE49-F238E27FC236}">
                <a16:creationId xmlns:a16="http://schemas.microsoft.com/office/drawing/2014/main" id="{20C16D7E-038E-4FD9-961F-C14D894A478F}"/>
              </a:ext>
            </a:extLst>
          </p:cNvPr>
          <p:cNvGrpSpPr>
            <a:grpSpLocks/>
          </p:cNvGrpSpPr>
          <p:nvPr/>
        </p:nvGrpSpPr>
        <p:grpSpPr bwMode="auto">
          <a:xfrm>
            <a:off x="4611688" y="4935538"/>
            <a:ext cx="654050" cy="519112"/>
            <a:chOff x="1792" y="3109"/>
            <a:chExt cx="412" cy="327"/>
          </a:xfrm>
        </p:grpSpPr>
        <p:sp>
          <p:nvSpPr>
            <p:cNvPr id="18457" name="Text Box 37">
              <a:extLst>
                <a:ext uri="{FF2B5EF4-FFF2-40B4-BE49-F238E27FC236}">
                  <a16:creationId xmlns:a16="http://schemas.microsoft.com/office/drawing/2014/main" id="{866319D2-1396-450B-9968-1616855B4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" y="3109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8458" name="Line 38">
              <a:extLst>
                <a:ext uri="{FF2B5EF4-FFF2-40B4-BE49-F238E27FC236}">
                  <a16:creationId xmlns:a16="http://schemas.microsoft.com/office/drawing/2014/main" id="{F91FC4DC-87F2-4489-930E-42C47BF18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5" y="3171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2" name="Group 74">
            <a:extLst>
              <a:ext uri="{FF2B5EF4-FFF2-40B4-BE49-F238E27FC236}">
                <a16:creationId xmlns:a16="http://schemas.microsoft.com/office/drawing/2014/main" id="{09DF97C1-FA70-4ABF-84B6-22F69BDDFDAA}"/>
              </a:ext>
            </a:extLst>
          </p:cNvPr>
          <p:cNvGrpSpPr>
            <a:grpSpLocks/>
          </p:cNvGrpSpPr>
          <p:nvPr/>
        </p:nvGrpSpPr>
        <p:grpSpPr bwMode="auto">
          <a:xfrm>
            <a:off x="5778500" y="4930776"/>
            <a:ext cx="654050" cy="519113"/>
            <a:chOff x="2527" y="3106"/>
            <a:chExt cx="412" cy="327"/>
          </a:xfrm>
        </p:grpSpPr>
        <p:sp>
          <p:nvSpPr>
            <p:cNvPr id="18455" name="Text Box 40">
              <a:extLst>
                <a:ext uri="{FF2B5EF4-FFF2-40B4-BE49-F238E27FC236}">
                  <a16:creationId xmlns:a16="http://schemas.microsoft.com/office/drawing/2014/main" id="{4190AF8A-A1BE-4872-84D3-FF19BC299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7" y="3106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8456" name="Line 41">
              <a:extLst>
                <a:ext uri="{FF2B5EF4-FFF2-40B4-BE49-F238E27FC236}">
                  <a16:creationId xmlns:a16="http://schemas.microsoft.com/office/drawing/2014/main" id="{E859181C-5E2E-4EF2-AD18-CE5C7EF55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3168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3" name="Group 73">
            <a:extLst>
              <a:ext uri="{FF2B5EF4-FFF2-40B4-BE49-F238E27FC236}">
                <a16:creationId xmlns:a16="http://schemas.microsoft.com/office/drawing/2014/main" id="{8E24BC7A-2B2B-42C6-93BF-08603554629C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4926013"/>
            <a:ext cx="654050" cy="519112"/>
            <a:chOff x="2871" y="3103"/>
            <a:chExt cx="412" cy="327"/>
          </a:xfrm>
        </p:grpSpPr>
        <p:sp>
          <p:nvSpPr>
            <p:cNvPr id="18453" name="Text Box 43">
              <a:extLst>
                <a:ext uri="{FF2B5EF4-FFF2-40B4-BE49-F238E27FC236}">
                  <a16:creationId xmlns:a16="http://schemas.microsoft.com/office/drawing/2014/main" id="{2810BC21-E987-4DBA-9A44-14B2D9228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3103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8454" name="Line 44">
              <a:extLst>
                <a:ext uri="{FF2B5EF4-FFF2-40B4-BE49-F238E27FC236}">
                  <a16:creationId xmlns:a16="http://schemas.microsoft.com/office/drawing/2014/main" id="{4BC5A217-9E5A-4161-8103-6C763EC2F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" y="317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4" name="Group 75">
            <a:extLst>
              <a:ext uri="{FF2B5EF4-FFF2-40B4-BE49-F238E27FC236}">
                <a16:creationId xmlns:a16="http://schemas.microsoft.com/office/drawing/2014/main" id="{95F75F1A-ED70-41BC-A0AB-6E1D64ACFEAB}"/>
              </a:ext>
            </a:extLst>
          </p:cNvPr>
          <p:cNvGrpSpPr>
            <a:grpSpLocks/>
          </p:cNvGrpSpPr>
          <p:nvPr/>
        </p:nvGrpSpPr>
        <p:grpSpPr bwMode="auto">
          <a:xfrm>
            <a:off x="7194550" y="4926013"/>
            <a:ext cx="654050" cy="519112"/>
            <a:chOff x="3419" y="3103"/>
            <a:chExt cx="412" cy="327"/>
          </a:xfrm>
        </p:grpSpPr>
        <p:sp>
          <p:nvSpPr>
            <p:cNvPr id="18451" name="Text Box 46">
              <a:extLst>
                <a:ext uri="{FF2B5EF4-FFF2-40B4-BE49-F238E27FC236}">
                  <a16:creationId xmlns:a16="http://schemas.microsoft.com/office/drawing/2014/main" id="{5E8876B5-E1A6-479D-9C10-9FB2B36A2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103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8452" name="Line 47">
              <a:extLst>
                <a:ext uri="{FF2B5EF4-FFF2-40B4-BE49-F238E27FC236}">
                  <a16:creationId xmlns:a16="http://schemas.microsoft.com/office/drawing/2014/main" id="{236A466F-447C-4C68-AD75-48A0477E9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3165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5" name="Group 77">
            <a:extLst>
              <a:ext uri="{FF2B5EF4-FFF2-40B4-BE49-F238E27FC236}">
                <a16:creationId xmlns:a16="http://schemas.microsoft.com/office/drawing/2014/main" id="{B695C7E2-A82D-48B8-ABF2-EE58B90B51D0}"/>
              </a:ext>
            </a:extLst>
          </p:cNvPr>
          <p:cNvGrpSpPr>
            <a:grpSpLocks/>
          </p:cNvGrpSpPr>
          <p:nvPr/>
        </p:nvGrpSpPr>
        <p:grpSpPr bwMode="auto">
          <a:xfrm>
            <a:off x="7569200" y="5464176"/>
            <a:ext cx="654050" cy="519113"/>
            <a:chOff x="3673" y="3442"/>
            <a:chExt cx="412" cy="327"/>
          </a:xfrm>
        </p:grpSpPr>
        <p:sp>
          <p:nvSpPr>
            <p:cNvPr id="18449" name="Text Box 64">
              <a:extLst>
                <a:ext uri="{FF2B5EF4-FFF2-40B4-BE49-F238E27FC236}">
                  <a16:creationId xmlns:a16="http://schemas.microsoft.com/office/drawing/2014/main" id="{7C3ABABF-DA53-4B08-A13B-4786CB7BF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344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8450" name="Line 65">
              <a:extLst>
                <a:ext uri="{FF2B5EF4-FFF2-40B4-BE49-F238E27FC236}">
                  <a16:creationId xmlns:a16="http://schemas.microsoft.com/office/drawing/2014/main" id="{6D80CAEF-8F5B-4EBB-AA4F-888AC6E57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" y="350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46" name="Group 78">
            <a:extLst>
              <a:ext uri="{FF2B5EF4-FFF2-40B4-BE49-F238E27FC236}">
                <a16:creationId xmlns:a16="http://schemas.microsoft.com/office/drawing/2014/main" id="{12F03627-A4B3-4CFF-95FE-CE361572B4FE}"/>
              </a:ext>
            </a:extLst>
          </p:cNvPr>
          <p:cNvGrpSpPr>
            <a:grpSpLocks/>
          </p:cNvGrpSpPr>
          <p:nvPr/>
        </p:nvGrpSpPr>
        <p:grpSpPr bwMode="auto">
          <a:xfrm>
            <a:off x="8251825" y="5454651"/>
            <a:ext cx="654050" cy="519113"/>
            <a:chOff x="4103" y="3436"/>
            <a:chExt cx="412" cy="327"/>
          </a:xfrm>
        </p:grpSpPr>
        <p:sp>
          <p:nvSpPr>
            <p:cNvPr id="18447" name="Text Box 67">
              <a:extLst>
                <a:ext uri="{FF2B5EF4-FFF2-40B4-BE49-F238E27FC236}">
                  <a16:creationId xmlns:a16="http://schemas.microsoft.com/office/drawing/2014/main" id="{D4321315-419F-485E-B97B-8CF8A4FB0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" y="3436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8448" name="Line 68">
              <a:extLst>
                <a:ext uri="{FF2B5EF4-FFF2-40B4-BE49-F238E27FC236}">
                  <a16:creationId xmlns:a16="http://schemas.microsoft.com/office/drawing/2014/main" id="{2ECAF032-A375-4D89-9A15-336E30C67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4" y="3498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4F284116-7FA6-4FF6-A3FE-058D86D21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E78ACB3A-D150-4176-BDA0-B05AB448DA18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D826B62-FEC1-4DE7-91FB-66509232A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  <a:r>
              <a:rPr lang="en-US" altLang="en-US" b="1"/>
              <a:t>Gate Input Cost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00DE4337-6BFD-4C46-947F-12322FFC9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8326" y="1174751"/>
            <a:ext cx="8570913" cy="5027613"/>
          </a:xfrm>
          <a:noFill/>
        </p:spPr>
        <p:txBody>
          <a:bodyPr/>
          <a:lstStyle/>
          <a:p>
            <a:r>
              <a:rPr lang="en-US" altLang="en-US" sz="2400" b="1"/>
              <a:t>Gate input costs  - the number of inputs to the gates in the implementation corresponding exactly to the given equation or equations. </a:t>
            </a:r>
            <a:r>
              <a:rPr lang="en-US" altLang="en-US" sz="2000" b="1"/>
              <a:t>(G - inverters not counted, GN - inverters counted) </a:t>
            </a:r>
          </a:p>
          <a:p>
            <a:r>
              <a:rPr lang="en-US" altLang="en-US" sz="2400" b="1"/>
              <a:t>For SOP and POS equations, it can be found from the equation(s) by finding the sum of:</a:t>
            </a:r>
          </a:p>
          <a:p>
            <a:pPr lvl="1"/>
            <a:r>
              <a:rPr lang="en-US" altLang="en-US" sz="2000" b="1"/>
              <a:t>all literal appearances</a:t>
            </a:r>
          </a:p>
          <a:p>
            <a:pPr lvl="1"/>
            <a:r>
              <a:rPr lang="en-US" altLang="en-US" sz="2000" b="1"/>
              <a:t>the number of terms excluding terms consisting only of a single literal,(G) and</a:t>
            </a:r>
          </a:p>
          <a:p>
            <a:pPr lvl="1"/>
            <a:r>
              <a:rPr lang="en-US" altLang="en-US" sz="2000" b="1"/>
              <a:t>optionally, the number of distinct complemented single literals (GN).</a:t>
            </a:r>
          </a:p>
          <a:p>
            <a:r>
              <a:rPr lang="en-US" altLang="en-US" sz="2400" b="1"/>
              <a:t>Example:</a:t>
            </a:r>
          </a:p>
          <a:p>
            <a:pPr lvl="1"/>
            <a:r>
              <a:rPr lang="en-US" altLang="en-US" sz="2400" b="1"/>
              <a:t>F = BD + A   C + A                                      G = 11, GN = 14</a:t>
            </a:r>
          </a:p>
          <a:p>
            <a:pPr lvl="1"/>
            <a:r>
              <a:rPr lang="en-US" altLang="en-US" sz="2400" b="1"/>
              <a:t>F = BD + A   C + A       + AB                      G =   , GN = </a:t>
            </a:r>
          </a:p>
          <a:p>
            <a:pPr lvl="1"/>
            <a:r>
              <a:rPr lang="en-US" altLang="en-US" sz="2400" b="1"/>
              <a:t>F = (A +   )(A + D)(B + C +    )(    +    + D) G =  , GN =</a:t>
            </a:r>
          </a:p>
          <a:p>
            <a:pPr lvl="1"/>
            <a:r>
              <a:rPr lang="en-US" altLang="en-US" sz="2400" b="1"/>
              <a:t>Which solution is best? </a:t>
            </a:r>
          </a:p>
        </p:txBody>
      </p:sp>
      <p:grpSp>
        <p:nvGrpSpPr>
          <p:cNvPr id="20485" name="Group 77">
            <a:extLst>
              <a:ext uri="{FF2B5EF4-FFF2-40B4-BE49-F238E27FC236}">
                <a16:creationId xmlns:a16="http://schemas.microsoft.com/office/drawing/2014/main" id="{38F218C5-B991-46A5-A2B1-84EB1500C5B8}"/>
              </a:ext>
            </a:extLst>
          </p:cNvPr>
          <p:cNvGrpSpPr>
            <a:grpSpLocks/>
          </p:cNvGrpSpPr>
          <p:nvPr/>
        </p:nvGrpSpPr>
        <p:grpSpPr bwMode="auto">
          <a:xfrm>
            <a:off x="5200650" y="4987925"/>
            <a:ext cx="654050" cy="457200"/>
            <a:chOff x="2442" y="3115"/>
            <a:chExt cx="412" cy="288"/>
          </a:xfrm>
        </p:grpSpPr>
        <p:sp>
          <p:nvSpPr>
            <p:cNvPr id="20516" name="Text Box 17">
              <a:extLst>
                <a:ext uri="{FF2B5EF4-FFF2-40B4-BE49-F238E27FC236}">
                  <a16:creationId xmlns:a16="http://schemas.microsoft.com/office/drawing/2014/main" id="{8BCAE946-48C3-4B5D-8010-E192B1EC3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2" y="3115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20517" name="Line 18">
              <a:extLst>
                <a:ext uri="{FF2B5EF4-FFF2-40B4-BE49-F238E27FC236}">
                  <a16:creationId xmlns:a16="http://schemas.microsoft.com/office/drawing/2014/main" id="{397F825E-263D-4C06-BC79-9D85BF984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" y="3168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86" name="Group 75">
            <a:extLst>
              <a:ext uri="{FF2B5EF4-FFF2-40B4-BE49-F238E27FC236}">
                <a16:creationId xmlns:a16="http://schemas.microsoft.com/office/drawing/2014/main" id="{FCB5CD4F-F7BB-4CC1-90C7-E31D8F14CB80}"/>
              </a:ext>
            </a:extLst>
          </p:cNvPr>
          <p:cNvGrpSpPr>
            <a:grpSpLocks/>
          </p:cNvGrpSpPr>
          <p:nvPr/>
        </p:nvGrpSpPr>
        <p:grpSpPr bwMode="auto">
          <a:xfrm>
            <a:off x="3930650" y="4983163"/>
            <a:ext cx="654050" cy="457200"/>
            <a:chOff x="1615" y="2905"/>
            <a:chExt cx="412" cy="288"/>
          </a:xfrm>
        </p:grpSpPr>
        <p:sp>
          <p:nvSpPr>
            <p:cNvPr id="20514" name="Text Box 20">
              <a:extLst>
                <a:ext uri="{FF2B5EF4-FFF2-40B4-BE49-F238E27FC236}">
                  <a16:creationId xmlns:a16="http://schemas.microsoft.com/office/drawing/2014/main" id="{38387D56-BD3F-42DD-998F-D48C0DD0A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" y="2905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0515" name="Line 21">
              <a:extLst>
                <a:ext uri="{FF2B5EF4-FFF2-40B4-BE49-F238E27FC236}">
                  <a16:creationId xmlns:a16="http://schemas.microsoft.com/office/drawing/2014/main" id="{B4DB64E3-F6DE-43A0-9624-19A265309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967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87" name="Group 76">
            <a:extLst>
              <a:ext uri="{FF2B5EF4-FFF2-40B4-BE49-F238E27FC236}">
                <a16:creationId xmlns:a16="http://schemas.microsoft.com/office/drawing/2014/main" id="{A3E79E7A-D190-4DAF-8068-7ECA119FD456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4987925"/>
            <a:ext cx="654050" cy="457200"/>
            <a:chOff x="2261" y="3115"/>
            <a:chExt cx="412" cy="288"/>
          </a:xfrm>
        </p:grpSpPr>
        <p:sp>
          <p:nvSpPr>
            <p:cNvPr id="20512" name="Text Box 23">
              <a:extLst>
                <a:ext uri="{FF2B5EF4-FFF2-40B4-BE49-F238E27FC236}">
                  <a16:creationId xmlns:a16="http://schemas.microsoft.com/office/drawing/2014/main" id="{6AD62D27-A672-4AB9-85EC-E63BD5D92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1" y="3115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0513" name="Line 24">
              <a:extLst>
                <a:ext uri="{FF2B5EF4-FFF2-40B4-BE49-F238E27FC236}">
                  <a16:creationId xmlns:a16="http://schemas.microsoft.com/office/drawing/2014/main" id="{05AF2345-B2A8-4C1B-B36C-8DA58C676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2" y="3168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88" name="Group 78">
            <a:extLst>
              <a:ext uri="{FF2B5EF4-FFF2-40B4-BE49-F238E27FC236}">
                <a16:creationId xmlns:a16="http://schemas.microsoft.com/office/drawing/2014/main" id="{EE7674D2-1A67-467C-B84E-F964AC6851D6}"/>
              </a:ext>
            </a:extLst>
          </p:cNvPr>
          <p:cNvGrpSpPr>
            <a:grpSpLocks/>
          </p:cNvGrpSpPr>
          <p:nvPr/>
        </p:nvGrpSpPr>
        <p:grpSpPr bwMode="auto">
          <a:xfrm>
            <a:off x="3925888" y="5421313"/>
            <a:ext cx="654050" cy="457200"/>
            <a:chOff x="1621" y="3388"/>
            <a:chExt cx="412" cy="288"/>
          </a:xfrm>
        </p:grpSpPr>
        <p:sp>
          <p:nvSpPr>
            <p:cNvPr id="20510" name="Text Box 26">
              <a:extLst>
                <a:ext uri="{FF2B5EF4-FFF2-40B4-BE49-F238E27FC236}">
                  <a16:creationId xmlns:a16="http://schemas.microsoft.com/office/drawing/2014/main" id="{B701D10C-AEE9-453D-BABC-D09A9B09B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3388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0511" name="Line 27">
              <a:extLst>
                <a:ext uri="{FF2B5EF4-FFF2-40B4-BE49-F238E27FC236}">
                  <a16:creationId xmlns:a16="http://schemas.microsoft.com/office/drawing/2014/main" id="{8072874C-FDAC-4CAE-AA16-4C8CA7AC6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3450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89" name="Group 79">
            <a:extLst>
              <a:ext uri="{FF2B5EF4-FFF2-40B4-BE49-F238E27FC236}">
                <a16:creationId xmlns:a16="http://schemas.microsoft.com/office/drawing/2014/main" id="{EBAC3A58-A145-4304-B1D5-61039D66ABC3}"/>
              </a:ext>
            </a:extLst>
          </p:cNvPr>
          <p:cNvGrpSpPr>
            <a:grpSpLocks/>
          </p:cNvGrpSpPr>
          <p:nvPr/>
        </p:nvGrpSpPr>
        <p:grpSpPr bwMode="auto">
          <a:xfrm>
            <a:off x="4921250" y="5416550"/>
            <a:ext cx="654050" cy="457200"/>
            <a:chOff x="2248" y="3394"/>
            <a:chExt cx="412" cy="288"/>
          </a:xfrm>
        </p:grpSpPr>
        <p:sp>
          <p:nvSpPr>
            <p:cNvPr id="20508" name="Text Box 29">
              <a:extLst>
                <a:ext uri="{FF2B5EF4-FFF2-40B4-BE49-F238E27FC236}">
                  <a16:creationId xmlns:a16="http://schemas.microsoft.com/office/drawing/2014/main" id="{C042B17A-F802-43CE-8E1F-F4E1BD9F3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" y="3394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0509" name="Line 30">
              <a:extLst>
                <a:ext uri="{FF2B5EF4-FFF2-40B4-BE49-F238E27FC236}">
                  <a16:creationId xmlns:a16="http://schemas.microsoft.com/office/drawing/2014/main" id="{7686474F-75A6-448C-B634-6D8D7F3B2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" y="3456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90" name="Group 80">
            <a:extLst>
              <a:ext uri="{FF2B5EF4-FFF2-40B4-BE49-F238E27FC236}">
                <a16:creationId xmlns:a16="http://schemas.microsoft.com/office/drawing/2014/main" id="{31D27E13-42BB-40F7-B885-502C30579D41}"/>
              </a:ext>
            </a:extLst>
          </p:cNvPr>
          <p:cNvGrpSpPr>
            <a:grpSpLocks/>
          </p:cNvGrpSpPr>
          <p:nvPr/>
        </p:nvGrpSpPr>
        <p:grpSpPr bwMode="auto">
          <a:xfrm>
            <a:off x="5195888" y="5426075"/>
            <a:ext cx="654050" cy="457200"/>
            <a:chOff x="2403" y="3391"/>
            <a:chExt cx="412" cy="288"/>
          </a:xfrm>
        </p:grpSpPr>
        <p:sp>
          <p:nvSpPr>
            <p:cNvPr id="20506" name="Text Box 32">
              <a:extLst>
                <a:ext uri="{FF2B5EF4-FFF2-40B4-BE49-F238E27FC236}">
                  <a16:creationId xmlns:a16="http://schemas.microsoft.com/office/drawing/2014/main" id="{1D56C6F2-BEA7-4BF4-9630-1984E5E92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391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20507" name="Line 33">
              <a:extLst>
                <a:ext uri="{FF2B5EF4-FFF2-40B4-BE49-F238E27FC236}">
                  <a16:creationId xmlns:a16="http://schemas.microsoft.com/office/drawing/2014/main" id="{57F457CF-7183-4AC0-AD1C-C9988B85F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453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91" name="Group 81">
            <a:extLst>
              <a:ext uri="{FF2B5EF4-FFF2-40B4-BE49-F238E27FC236}">
                <a16:creationId xmlns:a16="http://schemas.microsoft.com/office/drawing/2014/main" id="{F48E5185-91D3-4257-B35E-F85F94ACFE2E}"/>
              </a:ext>
            </a:extLst>
          </p:cNvPr>
          <p:cNvGrpSpPr>
            <a:grpSpLocks/>
          </p:cNvGrpSpPr>
          <p:nvPr/>
        </p:nvGrpSpPr>
        <p:grpSpPr bwMode="auto">
          <a:xfrm>
            <a:off x="6151563" y="5426075"/>
            <a:ext cx="654050" cy="457200"/>
            <a:chOff x="3005" y="3382"/>
            <a:chExt cx="412" cy="288"/>
          </a:xfrm>
        </p:grpSpPr>
        <p:sp>
          <p:nvSpPr>
            <p:cNvPr id="20504" name="Text Box 47">
              <a:extLst>
                <a:ext uri="{FF2B5EF4-FFF2-40B4-BE49-F238E27FC236}">
                  <a16:creationId xmlns:a16="http://schemas.microsoft.com/office/drawing/2014/main" id="{7E26F917-4F2C-4B56-9E49-68CF2E3F0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" y="3382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0505" name="Line 48">
              <a:extLst>
                <a:ext uri="{FF2B5EF4-FFF2-40B4-BE49-F238E27FC236}">
                  <a16:creationId xmlns:a16="http://schemas.microsoft.com/office/drawing/2014/main" id="{72D5FE86-BE67-4568-AB8A-97E461B76E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44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92" name="Group 85">
            <a:extLst>
              <a:ext uri="{FF2B5EF4-FFF2-40B4-BE49-F238E27FC236}">
                <a16:creationId xmlns:a16="http://schemas.microsoft.com/office/drawing/2014/main" id="{DB0D5AA2-DE8E-4ED8-91E1-FFF0E6FD68B6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5859463"/>
            <a:ext cx="654050" cy="457200"/>
            <a:chOff x="1375" y="3664"/>
            <a:chExt cx="412" cy="288"/>
          </a:xfrm>
        </p:grpSpPr>
        <p:sp>
          <p:nvSpPr>
            <p:cNvPr id="20502" name="Text Box 55">
              <a:extLst>
                <a:ext uri="{FF2B5EF4-FFF2-40B4-BE49-F238E27FC236}">
                  <a16:creationId xmlns:a16="http://schemas.microsoft.com/office/drawing/2014/main" id="{F4A4D944-3139-4422-8F50-FB0A84A2C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5" y="3664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0503" name="Line 56">
              <a:extLst>
                <a:ext uri="{FF2B5EF4-FFF2-40B4-BE49-F238E27FC236}">
                  <a16:creationId xmlns:a16="http://schemas.microsoft.com/office/drawing/2014/main" id="{0F8D0C57-472E-404E-A328-D7044D673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3726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93" name="Group 84">
            <a:extLst>
              <a:ext uri="{FF2B5EF4-FFF2-40B4-BE49-F238E27FC236}">
                <a16:creationId xmlns:a16="http://schemas.microsoft.com/office/drawing/2014/main" id="{B96C555C-329D-4F8D-80A1-818F65FC31E2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5864225"/>
            <a:ext cx="654050" cy="457200"/>
            <a:chOff x="2949" y="3658"/>
            <a:chExt cx="412" cy="288"/>
          </a:xfrm>
        </p:grpSpPr>
        <p:sp>
          <p:nvSpPr>
            <p:cNvPr id="20500" name="Text Box 66">
              <a:extLst>
                <a:ext uri="{FF2B5EF4-FFF2-40B4-BE49-F238E27FC236}">
                  <a16:creationId xmlns:a16="http://schemas.microsoft.com/office/drawing/2014/main" id="{72E1A6F5-7BE1-4A6A-BE97-F57975EC2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3658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20501" name="Line 67">
              <a:extLst>
                <a:ext uri="{FF2B5EF4-FFF2-40B4-BE49-F238E27FC236}">
                  <a16:creationId xmlns:a16="http://schemas.microsoft.com/office/drawing/2014/main" id="{9FD60AA4-CF45-4654-8461-07D57B4A1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1" y="3720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94" name="Group 83">
            <a:extLst>
              <a:ext uri="{FF2B5EF4-FFF2-40B4-BE49-F238E27FC236}">
                <a16:creationId xmlns:a16="http://schemas.microsoft.com/office/drawing/2014/main" id="{312FC785-B1D4-4743-8862-93CECF152DF5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5864225"/>
            <a:ext cx="654050" cy="457200"/>
            <a:chOff x="3214" y="3667"/>
            <a:chExt cx="412" cy="288"/>
          </a:xfrm>
        </p:grpSpPr>
        <p:sp>
          <p:nvSpPr>
            <p:cNvPr id="20498" name="Text Box 69">
              <a:extLst>
                <a:ext uri="{FF2B5EF4-FFF2-40B4-BE49-F238E27FC236}">
                  <a16:creationId xmlns:a16="http://schemas.microsoft.com/office/drawing/2014/main" id="{92ABB79F-5CF3-4D57-AEFA-2A9AFF724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4" y="3667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0499" name="Line 70">
              <a:extLst>
                <a:ext uri="{FF2B5EF4-FFF2-40B4-BE49-F238E27FC236}">
                  <a16:creationId xmlns:a16="http://schemas.microsoft.com/office/drawing/2014/main" id="{E1D51449-402D-4628-92A7-AAA216997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" y="3729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95" name="Group 82">
            <a:extLst>
              <a:ext uri="{FF2B5EF4-FFF2-40B4-BE49-F238E27FC236}">
                <a16:creationId xmlns:a16="http://schemas.microsoft.com/office/drawing/2014/main" id="{F83ECEBE-17C5-4FD9-8091-AA0DCD6A3240}"/>
              </a:ext>
            </a:extLst>
          </p:cNvPr>
          <p:cNvGrpSpPr>
            <a:grpSpLocks/>
          </p:cNvGrpSpPr>
          <p:nvPr/>
        </p:nvGrpSpPr>
        <p:grpSpPr bwMode="auto">
          <a:xfrm>
            <a:off x="6951663" y="5854700"/>
            <a:ext cx="654050" cy="457200"/>
            <a:chOff x="3536" y="3661"/>
            <a:chExt cx="412" cy="288"/>
          </a:xfrm>
        </p:grpSpPr>
        <p:sp>
          <p:nvSpPr>
            <p:cNvPr id="20496" name="Text Box 72">
              <a:extLst>
                <a:ext uri="{FF2B5EF4-FFF2-40B4-BE49-F238E27FC236}">
                  <a16:creationId xmlns:a16="http://schemas.microsoft.com/office/drawing/2014/main" id="{EB3228F2-22C3-45AC-BCA9-AF2023C8A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" y="3661"/>
              <a:ext cx="4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sz="2400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0497" name="Line 73">
              <a:extLst>
                <a:ext uri="{FF2B5EF4-FFF2-40B4-BE49-F238E27FC236}">
                  <a16:creationId xmlns:a16="http://schemas.microsoft.com/office/drawing/2014/main" id="{919F2152-177E-4809-BBB1-3D8102F69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7" y="3723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F35BCB35-406E-47D0-A289-68DF4370B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688E0AA1-8A9A-479C-A54D-43D93DD21C3F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EEA8AF8-9251-4332-95A0-508314BCF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5825" y="1276351"/>
            <a:ext cx="8102600" cy="5027613"/>
          </a:xfrm>
          <a:noFill/>
        </p:spPr>
        <p:txBody>
          <a:bodyPr/>
          <a:lstStyle/>
          <a:p>
            <a:r>
              <a:rPr lang="en-US" altLang="en-US" sz="2400" b="1"/>
              <a:t>Example 1: </a:t>
            </a:r>
          </a:p>
          <a:p>
            <a:r>
              <a:rPr lang="en-US" altLang="en-US" sz="2800" b="1"/>
              <a:t>F = A + B C +</a:t>
            </a:r>
          </a:p>
          <a:p>
            <a:endParaRPr lang="en-US" altLang="en-US" sz="2800" b="1"/>
          </a:p>
          <a:p>
            <a:endParaRPr lang="en-US" altLang="en-US" sz="2400" b="1"/>
          </a:p>
          <a:p>
            <a:endParaRPr lang="en-US" altLang="en-US" sz="2400" b="1"/>
          </a:p>
          <a:p>
            <a:endParaRPr lang="en-US" altLang="en-US" sz="2400" b="1"/>
          </a:p>
          <a:p>
            <a:endParaRPr lang="en-US" altLang="en-US" b="1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2A0D0684-629D-4859-BFE5-A4DA56A7C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  <a:r>
              <a:rPr lang="en-US" altLang="en-US" b="1"/>
              <a:t>Cost Criteria </a:t>
            </a:r>
            <a:r>
              <a:rPr lang="en-US" altLang="en-US"/>
              <a:t>(continued)</a:t>
            </a:r>
          </a:p>
        </p:txBody>
      </p:sp>
      <p:sp>
        <p:nvSpPr>
          <p:cNvPr id="22533" name="Line 70">
            <a:extLst>
              <a:ext uri="{FF2B5EF4-FFF2-40B4-BE49-F238E27FC236}">
                <a16:creationId xmlns:a16="http://schemas.microsoft.com/office/drawing/2014/main" id="{461ADF04-D724-4D81-A495-5BD8BDB5D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3726" y="5126038"/>
            <a:ext cx="64452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Ctr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534" name="Group 117">
            <a:extLst>
              <a:ext uri="{FF2B5EF4-FFF2-40B4-BE49-F238E27FC236}">
                <a16:creationId xmlns:a16="http://schemas.microsoft.com/office/drawing/2014/main" id="{69E65D45-5280-48E8-8A0D-D94E4549E6A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57588" y="2455863"/>
            <a:ext cx="4659312" cy="2100262"/>
            <a:chOff x="681" y="1283"/>
            <a:chExt cx="3453" cy="1556"/>
          </a:xfrm>
        </p:grpSpPr>
        <p:sp>
          <p:nvSpPr>
            <p:cNvPr id="22577" name="Text Box 28">
              <a:extLst>
                <a:ext uri="{FF2B5EF4-FFF2-40B4-BE49-F238E27FC236}">
                  <a16:creationId xmlns:a16="http://schemas.microsoft.com/office/drawing/2014/main" id="{A1A19C1B-2093-46D4-B218-BA75FB1CC0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1828"/>
              <a:ext cx="44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2578" name="Text Box 30">
              <a:extLst>
                <a:ext uri="{FF2B5EF4-FFF2-40B4-BE49-F238E27FC236}">
                  <a16:creationId xmlns:a16="http://schemas.microsoft.com/office/drawing/2014/main" id="{81494F1E-EA58-4C80-8CCC-58DC09E49A9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1283"/>
              <a:ext cx="466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2579" name="Text Box 31">
              <a:extLst>
                <a:ext uri="{FF2B5EF4-FFF2-40B4-BE49-F238E27FC236}">
                  <a16:creationId xmlns:a16="http://schemas.microsoft.com/office/drawing/2014/main" id="{21CC3CC8-29CF-418C-8D7B-28FEF406D6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81" y="1476"/>
              <a:ext cx="4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2580" name="AutoShape 10">
              <a:extLst>
                <a:ext uri="{FF2B5EF4-FFF2-40B4-BE49-F238E27FC236}">
                  <a16:creationId xmlns:a16="http://schemas.microsoft.com/office/drawing/2014/main" id="{68C58F4E-0F2E-4A55-A8F3-0839827552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49" y="1345"/>
              <a:ext cx="467" cy="380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2581" name="Freeform 11">
              <a:extLst>
                <a:ext uri="{FF2B5EF4-FFF2-40B4-BE49-F238E27FC236}">
                  <a16:creationId xmlns:a16="http://schemas.microsoft.com/office/drawing/2014/main" id="{6444F903-DA61-4594-8ADA-8E1541FC4B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78" y="1826"/>
              <a:ext cx="467" cy="380"/>
            </a:xfrm>
            <a:custGeom>
              <a:avLst/>
              <a:gdLst>
                <a:gd name="T0" fmla="*/ 0 w 708"/>
                <a:gd name="T1" fmla="*/ 0 h 576"/>
                <a:gd name="T2" fmla="*/ 11 w 708"/>
                <a:gd name="T3" fmla="*/ 26 h 576"/>
                <a:gd name="T4" fmla="*/ 26 w 708"/>
                <a:gd name="T5" fmla="*/ 63 h 576"/>
                <a:gd name="T6" fmla="*/ 36 w 708"/>
                <a:gd name="T7" fmla="*/ 104 h 576"/>
                <a:gd name="T8" fmla="*/ 44 w 708"/>
                <a:gd name="T9" fmla="*/ 150 h 576"/>
                <a:gd name="T10" fmla="*/ 49 w 708"/>
                <a:gd name="T11" fmla="*/ 187 h 576"/>
                <a:gd name="T12" fmla="*/ 46 w 708"/>
                <a:gd name="T13" fmla="*/ 223 h 576"/>
                <a:gd name="T14" fmla="*/ 38 w 708"/>
                <a:gd name="T15" fmla="*/ 263 h 576"/>
                <a:gd name="T16" fmla="*/ 30 w 708"/>
                <a:gd name="T17" fmla="*/ 302 h 576"/>
                <a:gd name="T18" fmla="*/ 18 w 708"/>
                <a:gd name="T19" fmla="*/ 338 h 576"/>
                <a:gd name="T20" fmla="*/ 0 w 708"/>
                <a:gd name="T21" fmla="*/ 377 h 576"/>
                <a:gd name="T22" fmla="*/ 139 w 708"/>
                <a:gd name="T23" fmla="*/ 380 h 576"/>
                <a:gd name="T24" fmla="*/ 196 w 708"/>
                <a:gd name="T25" fmla="*/ 376 h 576"/>
                <a:gd name="T26" fmla="*/ 226 w 708"/>
                <a:gd name="T27" fmla="*/ 374 h 576"/>
                <a:gd name="T28" fmla="*/ 247 w 708"/>
                <a:gd name="T29" fmla="*/ 369 h 576"/>
                <a:gd name="T30" fmla="*/ 270 w 708"/>
                <a:gd name="T31" fmla="*/ 362 h 576"/>
                <a:gd name="T32" fmla="*/ 294 w 708"/>
                <a:gd name="T33" fmla="*/ 352 h 576"/>
                <a:gd name="T34" fmla="*/ 321 w 708"/>
                <a:gd name="T35" fmla="*/ 340 h 576"/>
                <a:gd name="T36" fmla="*/ 347 w 708"/>
                <a:gd name="T37" fmla="*/ 323 h 576"/>
                <a:gd name="T38" fmla="*/ 364 w 708"/>
                <a:gd name="T39" fmla="*/ 310 h 576"/>
                <a:gd name="T40" fmla="*/ 381 w 708"/>
                <a:gd name="T41" fmla="*/ 295 h 576"/>
                <a:gd name="T42" fmla="*/ 398 w 708"/>
                <a:gd name="T43" fmla="*/ 277 h 576"/>
                <a:gd name="T44" fmla="*/ 414 w 708"/>
                <a:gd name="T45" fmla="*/ 263 h 576"/>
                <a:gd name="T46" fmla="*/ 429 w 708"/>
                <a:gd name="T47" fmla="*/ 244 h 576"/>
                <a:gd name="T48" fmla="*/ 449 w 708"/>
                <a:gd name="T49" fmla="*/ 220 h 576"/>
                <a:gd name="T50" fmla="*/ 467 w 708"/>
                <a:gd name="T51" fmla="*/ 189 h 576"/>
                <a:gd name="T52" fmla="*/ 450 w 708"/>
                <a:gd name="T53" fmla="*/ 162 h 576"/>
                <a:gd name="T54" fmla="*/ 434 w 708"/>
                <a:gd name="T55" fmla="*/ 139 h 576"/>
                <a:gd name="T56" fmla="*/ 421 w 708"/>
                <a:gd name="T57" fmla="*/ 122 h 576"/>
                <a:gd name="T58" fmla="*/ 406 w 708"/>
                <a:gd name="T59" fmla="*/ 106 h 576"/>
                <a:gd name="T60" fmla="*/ 390 w 708"/>
                <a:gd name="T61" fmla="*/ 91 h 576"/>
                <a:gd name="T62" fmla="*/ 377 w 708"/>
                <a:gd name="T63" fmla="*/ 79 h 576"/>
                <a:gd name="T64" fmla="*/ 364 w 708"/>
                <a:gd name="T65" fmla="*/ 68 h 576"/>
                <a:gd name="T66" fmla="*/ 348 w 708"/>
                <a:gd name="T67" fmla="*/ 56 h 576"/>
                <a:gd name="T68" fmla="*/ 334 w 708"/>
                <a:gd name="T69" fmla="*/ 48 h 576"/>
                <a:gd name="T70" fmla="*/ 317 w 708"/>
                <a:gd name="T71" fmla="*/ 38 h 576"/>
                <a:gd name="T72" fmla="*/ 297 w 708"/>
                <a:gd name="T73" fmla="*/ 28 h 576"/>
                <a:gd name="T74" fmla="*/ 274 w 708"/>
                <a:gd name="T75" fmla="*/ 19 h 576"/>
                <a:gd name="T76" fmla="*/ 254 w 708"/>
                <a:gd name="T77" fmla="*/ 13 h 576"/>
                <a:gd name="T78" fmla="*/ 231 w 708"/>
                <a:gd name="T79" fmla="*/ 7 h 576"/>
                <a:gd name="T80" fmla="*/ 206 w 708"/>
                <a:gd name="T81" fmla="*/ 3 h 576"/>
                <a:gd name="T82" fmla="*/ 183 w 708"/>
                <a:gd name="T83" fmla="*/ 1 h 576"/>
                <a:gd name="T84" fmla="*/ 167 w 708"/>
                <a:gd name="T85" fmla="*/ 1 h 576"/>
                <a:gd name="T86" fmla="*/ 150 w 708"/>
                <a:gd name="T87" fmla="*/ 0 h 576"/>
                <a:gd name="T88" fmla="*/ 0 w 708"/>
                <a:gd name="T89" fmla="*/ 0 h 5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2582" name="Group 12">
              <a:extLst>
                <a:ext uri="{FF2B5EF4-FFF2-40B4-BE49-F238E27FC236}">
                  <a16:creationId xmlns:a16="http://schemas.microsoft.com/office/drawing/2014/main" id="{8827560C-DB4E-4BA6-BFA9-9D322C8C0E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17" y="2522"/>
              <a:ext cx="317" cy="317"/>
              <a:chOff x="1968" y="1507"/>
              <a:chExt cx="480" cy="480"/>
            </a:xfrm>
          </p:grpSpPr>
          <p:sp>
            <p:nvSpPr>
              <p:cNvPr id="22610" name="AutoShape 13">
                <a:extLst>
                  <a:ext uri="{FF2B5EF4-FFF2-40B4-BE49-F238E27FC236}">
                    <a16:creationId xmlns:a16="http://schemas.microsoft.com/office/drawing/2014/main" id="{4AF0DCA3-61AF-4228-84A1-69546240DA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11" name="Oval 14">
                <a:extLst>
                  <a:ext uri="{FF2B5EF4-FFF2-40B4-BE49-F238E27FC236}">
                    <a16:creationId xmlns:a16="http://schemas.microsoft.com/office/drawing/2014/main" id="{AC27C816-2171-4EEF-A43C-DB2EA13869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2583" name="AutoShape 17">
              <a:extLst>
                <a:ext uri="{FF2B5EF4-FFF2-40B4-BE49-F238E27FC236}">
                  <a16:creationId xmlns:a16="http://schemas.microsoft.com/office/drawing/2014/main" id="{6520646B-7C45-4104-9165-09D9423C74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49" y="2212"/>
              <a:ext cx="467" cy="380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grpSp>
          <p:nvGrpSpPr>
            <p:cNvPr id="22584" name="Group 18">
              <a:extLst>
                <a:ext uri="{FF2B5EF4-FFF2-40B4-BE49-F238E27FC236}">
                  <a16:creationId xmlns:a16="http://schemas.microsoft.com/office/drawing/2014/main" id="{3D0AC791-F5CD-41A5-9BBD-884AB8EDD1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8" y="2134"/>
              <a:ext cx="317" cy="317"/>
              <a:chOff x="1968" y="1507"/>
              <a:chExt cx="480" cy="480"/>
            </a:xfrm>
          </p:grpSpPr>
          <p:sp>
            <p:nvSpPr>
              <p:cNvPr id="22608" name="AutoShape 19">
                <a:extLst>
                  <a:ext uri="{FF2B5EF4-FFF2-40B4-BE49-F238E27FC236}">
                    <a16:creationId xmlns:a16="http://schemas.microsoft.com/office/drawing/2014/main" id="{2F613123-B4AC-49B5-8F01-CF026B8770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609" name="Oval 20">
                <a:extLst>
                  <a:ext uri="{FF2B5EF4-FFF2-40B4-BE49-F238E27FC236}">
                    <a16:creationId xmlns:a16="http://schemas.microsoft.com/office/drawing/2014/main" id="{D7167342-8597-45B4-ADF0-B0D39AA863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2585" name="Line 24">
              <a:extLst>
                <a:ext uri="{FF2B5EF4-FFF2-40B4-BE49-F238E27FC236}">
                  <a16:creationId xmlns:a16="http://schemas.microsoft.com/office/drawing/2014/main" id="{FFE783A5-190A-4845-A6B8-44EC6AE175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5" y="1428"/>
              <a:ext cx="12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6" name="Line 26">
              <a:extLst>
                <a:ext uri="{FF2B5EF4-FFF2-40B4-BE49-F238E27FC236}">
                  <a16:creationId xmlns:a16="http://schemas.microsoft.com/office/drawing/2014/main" id="{9D392C2A-8495-4C17-9B6A-1D55CCE241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8" y="1646"/>
              <a:ext cx="12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7" name="Text Box 29">
              <a:extLst>
                <a:ext uri="{FF2B5EF4-FFF2-40B4-BE49-F238E27FC236}">
                  <a16:creationId xmlns:a16="http://schemas.microsoft.com/office/drawing/2014/main" id="{4B05A0BF-14D7-4C06-BBCC-9C004DCA54F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94" y="1833"/>
              <a:ext cx="440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22588" name="Line 35">
              <a:extLst>
                <a:ext uri="{FF2B5EF4-FFF2-40B4-BE49-F238E27FC236}">
                  <a16:creationId xmlns:a16="http://schemas.microsoft.com/office/drawing/2014/main" id="{E55C6E22-B1D0-4F20-8B1C-E5283319F7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631" y="2297"/>
              <a:ext cx="7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9" name="Line 41">
              <a:extLst>
                <a:ext uri="{FF2B5EF4-FFF2-40B4-BE49-F238E27FC236}">
                  <a16:creationId xmlns:a16="http://schemas.microsoft.com/office/drawing/2014/main" id="{8352E7A2-3DCD-4114-AA07-6CCD963F63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18" y="2304"/>
              <a:ext cx="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90" name="Line 42">
              <a:extLst>
                <a:ext uri="{FF2B5EF4-FFF2-40B4-BE49-F238E27FC236}">
                  <a16:creationId xmlns:a16="http://schemas.microsoft.com/office/drawing/2014/main" id="{818D50A8-DE45-4E51-805E-DEDF46D83A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23" y="1428"/>
              <a:ext cx="2" cy="8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2591" name="Group 47">
              <a:extLst>
                <a:ext uri="{FF2B5EF4-FFF2-40B4-BE49-F238E27FC236}">
                  <a16:creationId xmlns:a16="http://schemas.microsoft.com/office/drawing/2014/main" id="{390E334C-F311-4E63-BF79-511CBD1561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27" y="2102"/>
              <a:ext cx="387" cy="300"/>
              <a:chOff x="1006" y="2469"/>
              <a:chExt cx="731" cy="326"/>
            </a:xfrm>
          </p:grpSpPr>
          <p:sp>
            <p:nvSpPr>
              <p:cNvPr id="22605" name="Line 48">
                <a:extLst>
                  <a:ext uri="{FF2B5EF4-FFF2-40B4-BE49-F238E27FC236}">
                    <a16:creationId xmlns:a16="http://schemas.microsoft.com/office/drawing/2014/main" id="{E44000E9-6A57-4F4A-A7EB-7B14428CE6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6" y="2794"/>
                <a:ext cx="2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6" name="Line 49">
                <a:extLst>
                  <a:ext uri="{FF2B5EF4-FFF2-40B4-BE49-F238E27FC236}">
                    <a16:creationId xmlns:a16="http://schemas.microsoft.com/office/drawing/2014/main" id="{D3107539-6EA5-4C94-978D-95F8B277001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04" y="2469"/>
                <a:ext cx="9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7" name="Line 50">
                <a:extLst>
                  <a:ext uri="{FF2B5EF4-FFF2-40B4-BE49-F238E27FC236}">
                    <a16:creationId xmlns:a16="http://schemas.microsoft.com/office/drawing/2014/main" id="{C1A8B246-253B-4721-B843-CF8B6A887C0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21" y="2476"/>
                <a:ext cx="5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2592" name="Line 51">
              <a:extLst>
                <a:ext uri="{FF2B5EF4-FFF2-40B4-BE49-F238E27FC236}">
                  <a16:creationId xmlns:a16="http://schemas.microsoft.com/office/drawing/2014/main" id="{BF01C91B-5C64-41EC-AB34-CBC570571B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29" y="2004"/>
              <a:ext cx="2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2593" name="Group 52">
              <a:extLst>
                <a:ext uri="{FF2B5EF4-FFF2-40B4-BE49-F238E27FC236}">
                  <a16:creationId xmlns:a16="http://schemas.microsoft.com/office/drawing/2014/main" id="{D82CBDA9-7F6D-413A-915F-34C5CDB87C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flipV="1">
              <a:off x="2824" y="1523"/>
              <a:ext cx="387" cy="403"/>
              <a:chOff x="1006" y="2469"/>
              <a:chExt cx="731" cy="326"/>
            </a:xfrm>
          </p:grpSpPr>
          <p:sp>
            <p:nvSpPr>
              <p:cNvPr id="22602" name="Line 53">
                <a:extLst>
                  <a:ext uri="{FF2B5EF4-FFF2-40B4-BE49-F238E27FC236}">
                    <a16:creationId xmlns:a16="http://schemas.microsoft.com/office/drawing/2014/main" id="{10528BEF-D378-4449-BEEE-D1115E6EE23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6" y="2794"/>
                <a:ext cx="2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3" name="Line 54">
                <a:extLst>
                  <a:ext uri="{FF2B5EF4-FFF2-40B4-BE49-F238E27FC236}">
                    <a16:creationId xmlns:a16="http://schemas.microsoft.com/office/drawing/2014/main" id="{755FBE75-10DE-4D68-BF87-A1202C475B1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04" y="2469"/>
                <a:ext cx="9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4" name="Line 55">
                <a:extLst>
                  <a:ext uri="{FF2B5EF4-FFF2-40B4-BE49-F238E27FC236}">
                    <a16:creationId xmlns:a16="http://schemas.microsoft.com/office/drawing/2014/main" id="{C79361F9-575F-4927-988D-ABF0784F925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21" y="2476"/>
                <a:ext cx="5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2594" name="Line 60">
              <a:extLst>
                <a:ext uri="{FF2B5EF4-FFF2-40B4-BE49-F238E27FC236}">
                  <a16:creationId xmlns:a16="http://schemas.microsoft.com/office/drawing/2014/main" id="{DF9F5B03-FBB2-4DAF-8A84-DDCD01D2C1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69" y="2014"/>
              <a:ext cx="1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95" name="Oval 61">
              <a:extLst>
                <a:ext uri="{FF2B5EF4-FFF2-40B4-BE49-F238E27FC236}">
                  <a16:creationId xmlns:a16="http://schemas.microsoft.com/office/drawing/2014/main" id="{7A3A628F-A503-4B0C-81BE-6F689D8111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94" y="140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2596" name="Line 62">
              <a:extLst>
                <a:ext uri="{FF2B5EF4-FFF2-40B4-BE49-F238E27FC236}">
                  <a16:creationId xmlns:a16="http://schemas.microsoft.com/office/drawing/2014/main" id="{06BE3552-6CE9-4EBD-9A4F-96DCBE73A8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58" y="1627"/>
              <a:ext cx="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97" name="Oval 64">
              <a:extLst>
                <a:ext uri="{FF2B5EF4-FFF2-40B4-BE49-F238E27FC236}">
                  <a16:creationId xmlns:a16="http://schemas.microsoft.com/office/drawing/2014/main" id="{AC8019F0-641E-4A99-A060-34AA48A0A6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8" y="161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2598" name="Line 69">
              <a:extLst>
                <a:ext uri="{FF2B5EF4-FFF2-40B4-BE49-F238E27FC236}">
                  <a16:creationId xmlns:a16="http://schemas.microsoft.com/office/drawing/2014/main" id="{374FFF31-F012-4FEB-ADF9-5F3BBFF3D4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41" y="2667"/>
              <a:ext cx="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99" name="Line 72">
              <a:extLst>
                <a:ext uri="{FF2B5EF4-FFF2-40B4-BE49-F238E27FC236}">
                  <a16:creationId xmlns:a16="http://schemas.microsoft.com/office/drawing/2014/main" id="{83864DC9-5ADB-4DCB-9E2C-194175F422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39" y="2680"/>
              <a:ext cx="4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600" name="Line 73">
              <a:extLst>
                <a:ext uri="{FF2B5EF4-FFF2-40B4-BE49-F238E27FC236}">
                  <a16:creationId xmlns:a16="http://schemas.microsoft.com/office/drawing/2014/main" id="{DBE60472-3BAB-42D1-BED3-EF1631793F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101" y="2490"/>
              <a:ext cx="1" cy="1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601" name="Line 75">
              <a:extLst>
                <a:ext uri="{FF2B5EF4-FFF2-40B4-BE49-F238E27FC236}">
                  <a16:creationId xmlns:a16="http://schemas.microsoft.com/office/drawing/2014/main" id="{E7E7E399-A9EC-4C44-9C19-01A7FA9843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92" y="2495"/>
              <a:ext cx="2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5" name="Group 118">
            <a:extLst>
              <a:ext uri="{FF2B5EF4-FFF2-40B4-BE49-F238E27FC236}">
                <a16:creationId xmlns:a16="http://schemas.microsoft.com/office/drawing/2014/main" id="{54FF5506-D533-4C16-9BF0-0F6F00809BDF}"/>
              </a:ext>
            </a:extLst>
          </p:cNvPr>
          <p:cNvGrpSpPr>
            <a:grpSpLocks/>
          </p:cNvGrpSpPr>
          <p:nvPr/>
        </p:nvGrpSpPr>
        <p:grpSpPr bwMode="auto">
          <a:xfrm>
            <a:off x="4584700" y="1728788"/>
            <a:ext cx="654050" cy="519112"/>
            <a:chOff x="2248" y="3394"/>
            <a:chExt cx="412" cy="327"/>
          </a:xfrm>
        </p:grpSpPr>
        <p:sp>
          <p:nvSpPr>
            <p:cNvPr id="22575" name="Text Box 119">
              <a:extLst>
                <a:ext uri="{FF2B5EF4-FFF2-40B4-BE49-F238E27FC236}">
                  <a16:creationId xmlns:a16="http://schemas.microsoft.com/office/drawing/2014/main" id="{B9004C00-4C6F-4755-A501-D25522898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" y="3394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2576" name="Line 120">
              <a:extLst>
                <a:ext uri="{FF2B5EF4-FFF2-40B4-BE49-F238E27FC236}">
                  <a16:creationId xmlns:a16="http://schemas.microsoft.com/office/drawing/2014/main" id="{2D550005-A16F-499B-BD97-94432CDB7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" y="3456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6" name="Group 121">
            <a:extLst>
              <a:ext uri="{FF2B5EF4-FFF2-40B4-BE49-F238E27FC236}">
                <a16:creationId xmlns:a16="http://schemas.microsoft.com/office/drawing/2014/main" id="{5959C0C0-5023-413D-9B99-3C782C2E7807}"/>
              </a:ext>
            </a:extLst>
          </p:cNvPr>
          <p:cNvGrpSpPr>
            <a:grpSpLocks/>
          </p:cNvGrpSpPr>
          <p:nvPr/>
        </p:nvGrpSpPr>
        <p:grpSpPr bwMode="auto">
          <a:xfrm>
            <a:off x="4900613" y="1724026"/>
            <a:ext cx="654050" cy="519113"/>
            <a:chOff x="3005" y="3382"/>
            <a:chExt cx="412" cy="327"/>
          </a:xfrm>
        </p:grpSpPr>
        <p:sp>
          <p:nvSpPr>
            <p:cNvPr id="22573" name="Text Box 122">
              <a:extLst>
                <a:ext uri="{FF2B5EF4-FFF2-40B4-BE49-F238E27FC236}">
                  <a16:creationId xmlns:a16="http://schemas.microsoft.com/office/drawing/2014/main" id="{072B1715-7566-42CD-8C79-491060930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" y="338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2574" name="Line 123">
              <a:extLst>
                <a:ext uri="{FF2B5EF4-FFF2-40B4-BE49-F238E27FC236}">
                  <a16:creationId xmlns:a16="http://schemas.microsoft.com/office/drawing/2014/main" id="{144569EF-7A8B-4E5C-B8B8-A8DC7D9C2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44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8259" name="Group 163">
            <a:extLst>
              <a:ext uri="{FF2B5EF4-FFF2-40B4-BE49-F238E27FC236}">
                <a16:creationId xmlns:a16="http://schemas.microsoft.com/office/drawing/2014/main" id="{7AFC5F16-A133-4906-A92A-43AC52BB2CF3}"/>
              </a:ext>
            </a:extLst>
          </p:cNvPr>
          <p:cNvGrpSpPr>
            <a:grpSpLocks/>
          </p:cNvGrpSpPr>
          <p:nvPr/>
        </p:nvGrpSpPr>
        <p:grpSpPr bwMode="auto">
          <a:xfrm>
            <a:off x="2249488" y="1355726"/>
            <a:ext cx="7299324" cy="3960813"/>
            <a:chOff x="457" y="854"/>
            <a:chExt cx="4598" cy="2495"/>
          </a:xfrm>
        </p:grpSpPr>
        <p:grpSp>
          <p:nvGrpSpPr>
            <p:cNvPr id="22558" name="Group 130">
              <a:extLst>
                <a:ext uri="{FF2B5EF4-FFF2-40B4-BE49-F238E27FC236}">
                  <a16:creationId xmlns:a16="http://schemas.microsoft.com/office/drawing/2014/main" id="{45E5C149-0084-48A3-8A58-F1D17621ED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40" y="1455"/>
              <a:ext cx="818" cy="1354"/>
              <a:chOff x="4396" y="693"/>
              <a:chExt cx="962" cy="1593"/>
            </a:xfrm>
          </p:grpSpPr>
          <p:sp>
            <p:nvSpPr>
              <p:cNvPr id="22568" name="Oval 99">
                <a:extLst>
                  <a:ext uri="{FF2B5EF4-FFF2-40B4-BE49-F238E27FC236}">
                    <a16:creationId xmlns:a16="http://schemas.microsoft.com/office/drawing/2014/main" id="{5B08C4C8-A70A-4608-B8A7-F6B5C0D518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68" y="1253"/>
                <a:ext cx="90" cy="545"/>
              </a:xfrm>
              <a:prstGeom prst="ellipse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69" name="Oval 100">
                <a:extLst>
                  <a:ext uri="{FF2B5EF4-FFF2-40B4-BE49-F238E27FC236}">
                    <a16:creationId xmlns:a16="http://schemas.microsoft.com/office/drawing/2014/main" id="{37B53D45-A27D-4570-BEC1-81EBA5A250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96" y="693"/>
                <a:ext cx="90" cy="545"/>
              </a:xfrm>
              <a:prstGeom prst="ellipse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0" name="Oval 101">
                <a:extLst>
                  <a:ext uri="{FF2B5EF4-FFF2-40B4-BE49-F238E27FC236}">
                    <a16:creationId xmlns:a16="http://schemas.microsoft.com/office/drawing/2014/main" id="{273426BB-AAE9-40AB-98E5-810C3FB671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04" y="893"/>
                <a:ext cx="90" cy="545"/>
              </a:xfrm>
              <a:prstGeom prst="ellipse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1" name="Oval 102">
                <a:extLst>
                  <a:ext uri="{FF2B5EF4-FFF2-40B4-BE49-F238E27FC236}">
                    <a16:creationId xmlns:a16="http://schemas.microsoft.com/office/drawing/2014/main" id="{A7D5E404-BD42-4229-8023-26C6FE0070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96" y="1549"/>
                <a:ext cx="90" cy="545"/>
              </a:xfrm>
              <a:prstGeom prst="ellipse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2" name="Oval 103">
                <a:extLst>
                  <a:ext uri="{FF2B5EF4-FFF2-40B4-BE49-F238E27FC236}">
                    <a16:creationId xmlns:a16="http://schemas.microsoft.com/office/drawing/2014/main" id="{532B3ECB-5EA2-46B7-98CF-A30174FC98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96" y="1741"/>
                <a:ext cx="90" cy="545"/>
              </a:xfrm>
              <a:prstGeom prst="ellipse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559" name="Group 152">
              <a:extLst>
                <a:ext uri="{FF2B5EF4-FFF2-40B4-BE49-F238E27FC236}">
                  <a16:creationId xmlns:a16="http://schemas.microsoft.com/office/drawing/2014/main" id="{20F405CD-CF6A-48A1-8423-7AD5C1311F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4" y="854"/>
              <a:ext cx="1847" cy="471"/>
              <a:chOff x="1092" y="878"/>
              <a:chExt cx="1847" cy="471"/>
            </a:xfrm>
          </p:grpSpPr>
          <p:grpSp>
            <p:nvGrpSpPr>
              <p:cNvPr id="22561" name="Group 144">
                <a:extLst>
                  <a:ext uri="{FF2B5EF4-FFF2-40B4-BE49-F238E27FC236}">
                    <a16:creationId xmlns:a16="http://schemas.microsoft.com/office/drawing/2014/main" id="{EBFB0E18-F3C7-4A6C-8A19-8F11E1E3E3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2" y="878"/>
                <a:ext cx="1306" cy="471"/>
                <a:chOff x="1092" y="878"/>
                <a:chExt cx="1306" cy="471"/>
              </a:xfrm>
            </p:grpSpPr>
            <p:sp>
              <p:nvSpPr>
                <p:cNvPr id="22563" name="Oval 129">
                  <a:extLst>
                    <a:ext uri="{FF2B5EF4-FFF2-40B4-BE49-F238E27FC236}">
                      <a16:creationId xmlns:a16="http://schemas.microsoft.com/office/drawing/2014/main" id="{C2EEB4B1-2BB2-4B6B-9489-CD6C553DD7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2" y="886"/>
                  <a:ext cx="90" cy="463"/>
                </a:xfrm>
                <a:prstGeom prst="ellipse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564" name="Oval 135">
                  <a:extLst>
                    <a:ext uri="{FF2B5EF4-FFF2-40B4-BE49-F238E27FC236}">
                      <a16:creationId xmlns:a16="http://schemas.microsoft.com/office/drawing/2014/main" id="{E09C288B-125E-4E18-9C64-53096D051E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8" y="886"/>
                  <a:ext cx="90" cy="463"/>
                </a:xfrm>
                <a:prstGeom prst="ellipse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565" name="Oval 136">
                  <a:extLst>
                    <a:ext uri="{FF2B5EF4-FFF2-40B4-BE49-F238E27FC236}">
                      <a16:creationId xmlns:a16="http://schemas.microsoft.com/office/drawing/2014/main" id="{5F6D5244-1B9E-404F-BBDA-F5A9FB207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4" y="886"/>
                  <a:ext cx="90" cy="463"/>
                </a:xfrm>
                <a:prstGeom prst="ellipse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566" name="Oval 137">
                  <a:extLst>
                    <a:ext uri="{FF2B5EF4-FFF2-40B4-BE49-F238E27FC236}">
                      <a16:creationId xmlns:a16="http://schemas.microsoft.com/office/drawing/2014/main" id="{6B8B6F21-76F8-451B-90DD-8638F0F361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2" y="878"/>
                  <a:ext cx="90" cy="463"/>
                </a:xfrm>
                <a:prstGeom prst="ellipse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567" name="Oval 138">
                  <a:extLst>
                    <a:ext uri="{FF2B5EF4-FFF2-40B4-BE49-F238E27FC236}">
                      <a16:creationId xmlns:a16="http://schemas.microsoft.com/office/drawing/2014/main" id="{2B15F442-45E7-41EC-979E-9DEBC87A7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8" y="878"/>
                  <a:ext cx="90" cy="463"/>
                </a:xfrm>
                <a:prstGeom prst="ellipse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2562" name="Text Box 147">
                <a:extLst>
                  <a:ext uri="{FF2B5EF4-FFF2-40B4-BE49-F238E27FC236}">
                    <a16:creationId xmlns:a16="http://schemas.microsoft.com/office/drawing/2014/main" id="{25EF5B1A-5DB1-41D1-8AFD-02C875309C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986"/>
                <a:ext cx="49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Ctr="1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r>
                  <a:rPr lang="en-US" altLang="en-US" b="1">
                    <a:solidFill>
                      <a:srgbClr val="000000"/>
                    </a:solidFill>
                  </a:rPr>
                  <a:t>L = </a:t>
                </a:r>
                <a:r>
                  <a:rPr lang="en-US" altLang="en-US" b="1">
                    <a:solidFill>
                      <a:srgbClr val="009999"/>
                    </a:solidFill>
                  </a:rPr>
                  <a:t>5</a:t>
                </a:r>
              </a:p>
            </p:txBody>
          </p:sp>
        </p:grpSp>
        <p:sp>
          <p:nvSpPr>
            <p:cNvPr id="22560" name="Text Box 154">
              <a:extLst>
                <a:ext uri="{FF2B5EF4-FFF2-40B4-BE49-F238E27FC236}">
                  <a16:creationId xmlns:a16="http://schemas.microsoft.com/office/drawing/2014/main" id="{5ED0991E-72A1-429C-A504-6FAB5F2F5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" y="2826"/>
              <a:ext cx="459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2400" b="1">
                  <a:solidFill>
                    <a:srgbClr val="000000"/>
                  </a:solidFill>
                </a:rPr>
                <a:t>  L (literal count) counts the AND inputs and the single</a:t>
              </a:r>
              <a:br>
                <a:rPr lang="en-US" altLang="en-US" sz="2400" b="1">
                  <a:solidFill>
                    <a:srgbClr val="000000"/>
                  </a:solidFill>
                </a:rPr>
              </a:br>
              <a:r>
                <a:rPr lang="en-US" altLang="en-US" sz="2400" b="1">
                  <a:solidFill>
                    <a:srgbClr val="000000"/>
                  </a:solidFill>
                </a:rPr>
                <a:t>    literal OR input.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88260" name="Group 164">
            <a:extLst>
              <a:ext uri="{FF2B5EF4-FFF2-40B4-BE49-F238E27FC236}">
                <a16:creationId xmlns:a16="http://schemas.microsoft.com/office/drawing/2014/main" id="{289A18F1-4F04-4021-837E-DBAEBE094D4D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08175"/>
            <a:ext cx="8851900" cy="3767138"/>
            <a:chOff x="48" y="1202"/>
            <a:chExt cx="5576" cy="2373"/>
          </a:xfrm>
        </p:grpSpPr>
        <p:grpSp>
          <p:nvGrpSpPr>
            <p:cNvPr id="22549" name="Group 132">
              <a:extLst>
                <a:ext uri="{FF2B5EF4-FFF2-40B4-BE49-F238E27FC236}">
                  <a16:creationId xmlns:a16="http://schemas.microsoft.com/office/drawing/2014/main" id="{C5BACBDE-E641-4629-B237-31CD4F2B7B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1914"/>
              <a:ext cx="64" cy="506"/>
              <a:chOff x="3456" y="3312"/>
              <a:chExt cx="75" cy="596"/>
            </a:xfrm>
          </p:grpSpPr>
          <p:sp>
            <p:nvSpPr>
              <p:cNvPr id="22556" name="Rectangle 104">
                <a:extLst>
                  <a:ext uri="{FF2B5EF4-FFF2-40B4-BE49-F238E27FC236}">
                    <a16:creationId xmlns:a16="http://schemas.microsoft.com/office/drawing/2014/main" id="{343D16D9-1CC8-47AB-B10F-945D24BBBB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56" y="3312"/>
                <a:ext cx="75" cy="3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57" name="Rectangle 105">
                <a:extLst>
                  <a:ext uri="{FF2B5EF4-FFF2-40B4-BE49-F238E27FC236}">
                    <a16:creationId xmlns:a16="http://schemas.microsoft.com/office/drawing/2014/main" id="{462254E8-DCFA-4540-AAC8-8CAA0A7850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56" y="3520"/>
                <a:ext cx="75" cy="3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550" name="Group 150">
              <a:extLst>
                <a:ext uri="{FF2B5EF4-FFF2-40B4-BE49-F238E27FC236}">
                  <a16:creationId xmlns:a16="http://schemas.microsoft.com/office/drawing/2014/main" id="{D0B82A69-630E-404D-8E46-0E40EB0A8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6" y="1202"/>
              <a:ext cx="2158" cy="350"/>
              <a:chOff x="1616" y="1258"/>
              <a:chExt cx="2158" cy="350"/>
            </a:xfrm>
          </p:grpSpPr>
          <p:grpSp>
            <p:nvGrpSpPr>
              <p:cNvPr id="22552" name="Group 145">
                <a:extLst>
                  <a:ext uri="{FF2B5EF4-FFF2-40B4-BE49-F238E27FC236}">
                    <a16:creationId xmlns:a16="http://schemas.microsoft.com/office/drawing/2014/main" id="{FC2EC10F-27E0-4DE4-95A0-56227F887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16" y="1278"/>
                <a:ext cx="651" cy="330"/>
                <a:chOff x="1616" y="1278"/>
                <a:chExt cx="651" cy="330"/>
              </a:xfrm>
            </p:grpSpPr>
            <p:sp>
              <p:nvSpPr>
                <p:cNvPr id="22554" name="Rectangle 131">
                  <a:extLst>
                    <a:ext uri="{FF2B5EF4-FFF2-40B4-BE49-F238E27FC236}">
                      <a16:creationId xmlns:a16="http://schemas.microsoft.com/office/drawing/2014/main" id="{E1C3B8C5-F8BF-4846-9567-93E5249FCC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6" y="1278"/>
                  <a:ext cx="75" cy="33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555" name="Rectangle 140">
                  <a:extLst>
                    <a:ext uri="{FF2B5EF4-FFF2-40B4-BE49-F238E27FC236}">
                      <a16:creationId xmlns:a16="http://schemas.microsoft.com/office/drawing/2014/main" id="{A4D29103-A300-419D-BBDF-8500C109D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2" y="1278"/>
                  <a:ext cx="75" cy="33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2553" name="Text Box 149">
                <a:extLst>
                  <a:ext uri="{FF2B5EF4-FFF2-40B4-BE49-F238E27FC236}">
                    <a16:creationId xmlns:a16="http://schemas.microsoft.com/office/drawing/2014/main" id="{E0DB3610-AEBF-40AA-BC99-CC8848F47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1" y="1258"/>
                <a:ext cx="132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Ctr="1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r>
                  <a:rPr lang="en-US" altLang="en-US" b="1">
                    <a:solidFill>
                      <a:srgbClr val="000000"/>
                    </a:solidFill>
                  </a:rPr>
                  <a:t>G =</a:t>
                </a:r>
                <a:r>
                  <a:rPr lang="en-US" altLang="en-US" b="1">
                    <a:solidFill>
                      <a:srgbClr val="3333CC"/>
                    </a:solidFill>
                  </a:rPr>
                  <a:t> </a:t>
                </a:r>
                <a:r>
                  <a:rPr lang="en-US" altLang="en-US" b="1">
                    <a:solidFill>
                      <a:srgbClr val="009999"/>
                    </a:solidFill>
                  </a:rPr>
                  <a:t>L</a:t>
                </a:r>
                <a:r>
                  <a:rPr lang="en-US" altLang="en-US" b="1">
                    <a:solidFill>
                      <a:srgbClr val="3333CC"/>
                    </a:solidFill>
                  </a:rPr>
                  <a:t> </a:t>
                </a:r>
                <a:r>
                  <a:rPr lang="en-US" altLang="en-US" b="1">
                    <a:solidFill>
                      <a:srgbClr val="000000"/>
                    </a:solidFill>
                  </a:rPr>
                  <a:t>+</a:t>
                </a:r>
                <a:r>
                  <a:rPr lang="en-US" altLang="en-US" b="1">
                    <a:solidFill>
                      <a:srgbClr val="3333CC"/>
                    </a:solidFill>
                  </a:rPr>
                  <a:t> 2 </a:t>
                </a:r>
                <a:r>
                  <a:rPr lang="en-US" altLang="en-US" b="1">
                    <a:solidFill>
                      <a:srgbClr val="000000"/>
                    </a:solidFill>
                  </a:rPr>
                  <a:t>=  7</a:t>
                </a:r>
              </a:p>
            </p:txBody>
          </p:sp>
        </p:grpSp>
        <p:sp>
          <p:nvSpPr>
            <p:cNvPr id="22551" name="Text Box 159">
              <a:extLst>
                <a:ext uri="{FF2B5EF4-FFF2-40B4-BE49-F238E27FC236}">
                  <a16:creationId xmlns:a16="http://schemas.microsoft.com/office/drawing/2014/main" id="{78FFCBE0-CDC7-4805-84A4-47657E5A8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3248"/>
              <a:ext cx="5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2400" b="1">
                  <a:solidFill>
                    <a:srgbClr val="000000"/>
                  </a:solidFill>
                </a:rPr>
                <a:t>  G (gate input count) adds the remaining OR gate inputs</a:t>
              </a:r>
              <a:r>
                <a:rPr lang="en-US" altLang="en-US">
                  <a:solidFill>
                    <a:srgbClr val="000000"/>
                  </a:solidFill>
                </a:rPr>
                <a:t> </a:t>
              </a:r>
            </a:p>
          </p:txBody>
        </p:sp>
      </p:grpSp>
      <p:grpSp>
        <p:nvGrpSpPr>
          <p:cNvPr id="388262" name="Group 166">
            <a:extLst>
              <a:ext uri="{FF2B5EF4-FFF2-40B4-BE49-F238E27FC236}">
                <a16:creationId xmlns:a16="http://schemas.microsoft.com/office/drawing/2014/main" id="{2BB573B1-88A2-49A7-955D-00D58916AFAC}"/>
              </a:ext>
            </a:extLst>
          </p:cNvPr>
          <p:cNvGrpSpPr>
            <a:grpSpLocks/>
          </p:cNvGrpSpPr>
          <p:nvPr/>
        </p:nvGrpSpPr>
        <p:grpSpPr bwMode="auto">
          <a:xfrm>
            <a:off x="1917700" y="992189"/>
            <a:ext cx="8432800" cy="5116513"/>
            <a:chOff x="248" y="625"/>
            <a:chExt cx="5312" cy="3223"/>
          </a:xfrm>
        </p:grpSpPr>
        <p:grpSp>
          <p:nvGrpSpPr>
            <p:cNvPr id="22540" name="Group 143">
              <a:extLst>
                <a:ext uri="{FF2B5EF4-FFF2-40B4-BE49-F238E27FC236}">
                  <a16:creationId xmlns:a16="http://schemas.microsoft.com/office/drawing/2014/main" id="{01E13B45-55E5-4561-9B5E-9C22B8544F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52" y="2104"/>
              <a:ext cx="94" cy="967"/>
              <a:chOff x="1948" y="2270"/>
              <a:chExt cx="110" cy="1139"/>
            </a:xfrm>
          </p:grpSpPr>
          <p:sp>
            <p:nvSpPr>
              <p:cNvPr id="22547" name="AutoShape 106">
                <a:extLst>
                  <a:ext uri="{FF2B5EF4-FFF2-40B4-BE49-F238E27FC236}">
                    <a16:creationId xmlns:a16="http://schemas.microsoft.com/office/drawing/2014/main" id="{A79A6D0D-3320-4475-90B6-FCB94BA7B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V="1">
                <a:off x="1948" y="2638"/>
                <a:ext cx="110" cy="771"/>
              </a:xfrm>
              <a:prstGeom prst="triangle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48" name="AutoShape 107">
                <a:extLst>
                  <a:ext uri="{FF2B5EF4-FFF2-40B4-BE49-F238E27FC236}">
                    <a16:creationId xmlns:a16="http://schemas.microsoft.com/office/drawing/2014/main" id="{44B0E841-697D-4F3C-9ADD-974AA305E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V="1">
                <a:off x="1948" y="2270"/>
                <a:ext cx="110" cy="771"/>
              </a:xfrm>
              <a:prstGeom prst="triangle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541" name="Group 153">
              <a:extLst>
                <a:ext uri="{FF2B5EF4-FFF2-40B4-BE49-F238E27FC236}">
                  <a16:creationId xmlns:a16="http://schemas.microsoft.com/office/drawing/2014/main" id="{782F0EF6-4594-4AF6-9039-99166BB08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2" y="625"/>
              <a:ext cx="1829" cy="655"/>
              <a:chOff x="2080" y="657"/>
              <a:chExt cx="1829" cy="655"/>
            </a:xfrm>
          </p:grpSpPr>
          <p:grpSp>
            <p:nvGrpSpPr>
              <p:cNvPr id="22543" name="Group 146">
                <a:extLst>
                  <a:ext uri="{FF2B5EF4-FFF2-40B4-BE49-F238E27FC236}">
                    <a16:creationId xmlns:a16="http://schemas.microsoft.com/office/drawing/2014/main" id="{78C69208-BB23-4FDF-8531-F9D31A460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0" y="657"/>
                <a:ext cx="326" cy="655"/>
                <a:chOff x="2080" y="657"/>
                <a:chExt cx="326" cy="655"/>
              </a:xfrm>
            </p:grpSpPr>
            <p:sp>
              <p:nvSpPr>
                <p:cNvPr id="22545" name="AutoShape 133">
                  <a:extLst>
                    <a:ext uri="{FF2B5EF4-FFF2-40B4-BE49-F238E27FC236}">
                      <a16:creationId xmlns:a16="http://schemas.microsoft.com/office/drawing/2014/main" id="{93D42FF9-C871-4ACE-A1CC-998EDCEEE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080" y="657"/>
                  <a:ext cx="110" cy="655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546" name="AutoShape 142">
                  <a:extLst>
                    <a:ext uri="{FF2B5EF4-FFF2-40B4-BE49-F238E27FC236}">
                      <a16:creationId xmlns:a16="http://schemas.microsoft.com/office/drawing/2014/main" id="{144C076D-D7BB-4599-95E6-E117DBA28D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296" y="657"/>
                  <a:ext cx="110" cy="655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="ctr">
                  <a:spAutoFit/>
                </a:bodyPr>
                <a:lstStyle>
                  <a:lvl1pPr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009999"/>
                    </a:buCl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0" fontAlgn="base" hangingPunct="0">
                    <a:spcAft>
                      <a:spcPct val="0"/>
                    </a:spcAft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2544" name="Text Box 151">
                <a:extLst>
                  <a:ext uri="{FF2B5EF4-FFF2-40B4-BE49-F238E27FC236}">
                    <a16:creationId xmlns:a16="http://schemas.microsoft.com/office/drawing/2014/main" id="{7B5FA10D-19B3-43C2-A3F9-61861B8648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1" y="786"/>
                <a:ext cx="146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Ctr="1">
                <a:spAutoFit/>
              </a:bodyPr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r>
                  <a:rPr lang="en-US" altLang="en-US" b="1">
                    <a:solidFill>
                      <a:srgbClr val="000000"/>
                    </a:solidFill>
                  </a:rPr>
                  <a:t>GN = G + 2 = 9</a:t>
                </a:r>
              </a:p>
            </p:txBody>
          </p:sp>
        </p:grpSp>
        <p:sp>
          <p:nvSpPr>
            <p:cNvPr id="22542" name="Text Box 161">
              <a:extLst>
                <a:ext uri="{FF2B5EF4-FFF2-40B4-BE49-F238E27FC236}">
                  <a16:creationId xmlns:a16="http://schemas.microsoft.com/office/drawing/2014/main" id="{2060DB63-9B75-46D2-8F76-7931B04A5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" y="3560"/>
              <a:ext cx="5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2400" b="1">
                  <a:solidFill>
                    <a:srgbClr val="000000"/>
                  </a:solidFill>
                </a:rPr>
                <a:t>  GN(gate input count with NOTs) adds the inverter inputs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8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8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BE23F33E-241D-4D94-BC2A-B19C97EA0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9420E3B5-739D-4F69-960C-F0C79378B67B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7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1F8CF71-2BD2-4CA7-B615-056F2D01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3725" y="1244601"/>
            <a:ext cx="8102600" cy="5027613"/>
          </a:xfrm>
          <a:noFill/>
        </p:spPr>
        <p:txBody>
          <a:bodyPr/>
          <a:lstStyle/>
          <a:p>
            <a:r>
              <a:rPr lang="en-US" altLang="en-US" sz="2400" b="1"/>
              <a:t>Example 2: </a:t>
            </a:r>
          </a:p>
          <a:p>
            <a:r>
              <a:rPr lang="en-US" altLang="en-US" sz="2800" b="1"/>
              <a:t>F = A B C +</a:t>
            </a:r>
          </a:p>
          <a:p>
            <a:r>
              <a:rPr lang="en-US" altLang="en-US" sz="2800" b="1"/>
              <a:t>L =  6  G = 8 GN = 11</a:t>
            </a:r>
          </a:p>
          <a:p>
            <a:r>
              <a:rPr lang="en-US" altLang="en-US" sz="2800" b="1"/>
              <a:t>F = (A +    )(    + C)(    + B)</a:t>
            </a:r>
          </a:p>
          <a:p>
            <a:r>
              <a:rPr lang="en-US" altLang="en-US" sz="2800" b="1"/>
              <a:t>L = 6  G = 9 GN = 12</a:t>
            </a:r>
          </a:p>
          <a:p>
            <a:r>
              <a:rPr lang="en-US" altLang="en-US" sz="2400" b="1" u="sng"/>
              <a:t>Same</a:t>
            </a:r>
            <a:r>
              <a:rPr lang="en-US" altLang="en-US" sz="2400" b="1"/>
              <a:t> function and </a:t>
            </a:r>
            <a:r>
              <a:rPr lang="en-US" altLang="en-US" sz="2400" b="1" u="sng"/>
              <a:t>same</a:t>
            </a:r>
            <a:br>
              <a:rPr lang="en-US" altLang="en-US" sz="2400" b="1"/>
            </a:br>
            <a:r>
              <a:rPr lang="en-US" altLang="en-US" sz="2400" b="1"/>
              <a:t>literal cost</a:t>
            </a:r>
          </a:p>
          <a:p>
            <a:r>
              <a:rPr lang="en-US" altLang="en-US" sz="2400" b="1"/>
              <a:t>But first circuit has </a:t>
            </a:r>
            <a:r>
              <a:rPr lang="en-US" altLang="en-US" sz="2400" b="1" u="sng"/>
              <a:t>better</a:t>
            </a:r>
            <a:br>
              <a:rPr lang="en-US" altLang="en-US" sz="2400" b="1"/>
            </a:br>
            <a:r>
              <a:rPr lang="en-US" altLang="en-US" sz="2400" b="1"/>
              <a:t>gate input count and </a:t>
            </a:r>
            <a:r>
              <a:rPr lang="en-US" altLang="en-US" sz="2400" b="1" u="sng"/>
              <a:t>better</a:t>
            </a:r>
            <a:br>
              <a:rPr lang="en-US" altLang="en-US" sz="2400" b="1"/>
            </a:br>
            <a:r>
              <a:rPr lang="en-US" altLang="en-US" sz="2400" b="1"/>
              <a:t>gate input count with NOTs</a:t>
            </a:r>
          </a:p>
          <a:p>
            <a:r>
              <a:rPr lang="en-US" altLang="en-US" sz="2400" b="1"/>
              <a:t>Select it!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b="1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41CF5AD-972F-4F55-B0DE-4602F8234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  <a:r>
              <a:rPr lang="en-US" altLang="en-US" b="1"/>
              <a:t>Cost Criteria </a:t>
            </a:r>
            <a:r>
              <a:rPr lang="en-US" altLang="en-US"/>
              <a:t>(continued)</a:t>
            </a:r>
          </a:p>
        </p:txBody>
      </p:sp>
      <p:sp>
        <p:nvSpPr>
          <p:cNvPr id="23557" name="Line 4">
            <a:extLst>
              <a:ext uri="{FF2B5EF4-FFF2-40B4-BE49-F238E27FC236}">
                <a16:creationId xmlns:a16="http://schemas.microsoft.com/office/drawing/2014/main" id="{EC04142E-D622-4BF1-B07F-E461F690B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3726" y="5126038"/>
            <a:ext cx="64452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Ctr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558" name="Group 180">
            <a:extLst>
              <a:ext uri="{FF2B5EF4-FFF2-40B4-BE49-F238E27FC236}">
                <a16:creationId xmlns:a16="http://schemas.microsoft.com/office/drawing/2014/main" id="{95F42303-AABF-427C-BD86-235A7BB021F1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1695451"/>
            <a:ext cx="654050" cy="519113"/>
            <a:chOff x="1712" y="1068"/>
            <a:chExt cx="412" cy="327"/>
          </a:xfrm>
        </p:grpSpPr>
        <p:sp>
          <p:nvSpPr>
            <p:cNvPr id="23674" name="Text Box 43">
              <a:extLst>
                <a:ext uri="{FF2B5EF4-FFF2-40B4-BE49-F238E27FC236}">
                  <a16:creationId xmlns:a16="http://schemas.microsoft.com/office/drawing/2014/main" id="{75E7FED4-36A9-4BE4-A26C-B3FA378C9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" y="1068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3675" name="Line 44">
              <a:extLst>
                <a:ext uri="{FF2B5EF4-FFF2-40B4-BE49-F238E27FC236}">
                  <a16:creationId xmlns:a16="http://schemas.microsoft.com/office/drawing/2014/main" id="{8A6A5B9F-BC0D-43AD-8660-B6102C4F7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1121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9" name="Group 45">
            <a:extLst>
              <a:ext uri="{FF2B5EF4-FFF2-40B4-BE49-F238E27FC236}">
                <a16:creationId xmlns:a16="http://schemas.microsoft.com/office/drawing/2014/main" id="{F14DE94E-469B-4704-AAE0-7F4CB092D4A8}"/>
              </a:ext>
            </a:extLst>
          </p:cNvPr>
          <p:cNvGrpSpPr>
            <a:grpSpLocks/>
          </p:cNvGrpSpPr>
          <p:nvPr/>
        </p:nvGrpSpPr>
        <p:grpSpPr bwMode="auto">
          <a:xfrm>
            <a:off x="4533900" y="1690688"/>
            <a:ext cx="654050" cy="519112"/>
            <a:chOff x="3005" y="3382"/>
            <a:chExt cx="412" cy="327"/>
          </a:xfrm>
        </p:grpSpPr>
        <p:sp>
          <p:nvSpPr>
            <p:cNvPr id="23672" name="Text Box 46">
              <a:extLst>
                <a:ext uri="{FF2B5EF4-FFF2-40B4-BE49-F238E27FC236}">
                  <a16:creationId xmlns:a16="http://schemas.microsoft.com/office/drawing/2014/main" id="{A2BB03E0-6F6E-472C-AAD7-4C689435D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" y="338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3673" name="Line 47">
              <a:extLst>
                <a:ext uri="{FF2B5EF4-FFF2-40B4-BE49-F238E27FC236}">
                  <a16:creationId xmlns:a16="http://schemas.microsoft.com/office/drawing/2014/main" id="{DAE20392-99E0-4EAB-80BC-2BEBDD7E7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44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0" name="Group 84">
            <a:extLst>
              <a:ext uri="{FF2B5EF4-FFF2-40B4-BE49-F238E27FC236}">
                <a16:creationId xmlns:a16="http://schemas.microsoft.com/office/drawing/2014/main" id="{8EE54CF0-B4AB-42D6-A271-E0A7A5BC1D47}"/>
              </a:ext>
            </a:extLst>
          </p:cNvPr>
          <p:cNvGrpSpPr>
            <a:grpSpLocks/>
          </p:cNvGrpSpPr>
          <p:nvPr/>
        </p:nvGrpSpPr>
        <p:grpSpPr bwMode="auto">
          <a:xfrm>
            <a:off x="5129213" y="2720976"/>
            <a:ext cx="654050" cy="519113"/>
            <a:chOff x="3005" y="3382"/>
            <a:chExt cx="412" cy="327"/>
          </a:xfrm>
        </p:grpSpPr>
        <p:sp>
          <p:nvSpPr>
            <p:cNvPr id="23670" name="Text Box 85">
              <a:extLst>
                <a:ext uri="{FF2B5EF4-FFF2-40B4-BE49-F238E27FC236}">
                  <a16:creationId xmlns:a16="http://schemas.microsoft.com/office/drawing/2014/main" id="{B159172F-381E-4594-8092-58BF0AA5E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" y="338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3671" name="Line 86">
              <a:extLst>
                <a:ext uri="{FF2B5EF4-FFF2-40B4-BE49-F238E27FC236}">
                  <a16:creationId xmlns:a16="http://schemas.microsoft.com/office/drawing/2014/main" id="{76C91B91-16E3-4029-BA2E-CD976752B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44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1" name="Group 103">
            <a:extLst>
              <a:ext uri="{FF2B5EF4-FFF2-40B4-BE49-F238E27FC236}">
                <a16:creationId xmlns:a16="http://schemas.microsoft.com/office/drawing/2014/main" id="{91C94297-2746-467C-B74A-1FFE3DA7CFB5}"/>
              </a:ext>
            </a:extLst>
          </p:cNvPr>
          <p:cNvGrpSpPr>
            <a:grpSpLocks/>
          </p:cNvGrpSpPr>
          <p:nvPr/>
        </p:nvGrpSpPr>
        <p:grpSpPr bwMode="auto">
          <a:xfrm>
            <a:off x="5830888" y="1158875"/>
            <a:ext cx="4646612" cy="2876550"/>
            <a:chOff x="873" y="1410"/>
            <a:chExt cx="2927" cy="1812"/>
          </a:xfrm>
        </p:grpSpPr>
        <p:sp>
          <p:nvSpPr>
            <p:cNvPr id="23626" name="Text Box 7">
              <a:extLst>
                <a:ext uri="{FF2B5EF4-FFF2-40B4-BE49-F238E27FC236}">
                  <a16:creationId xmlns:a16="http://schemas.microsoft.com/office/drawing/2014/main" id="{9D701CBB-8D86-45F4-8DAC-B572BA38893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08" y="1410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3627" name="Text Box 8">
              <a:extLst>
                <a:ext uri="{FF2B5EF4-FFF2-40B4-BE49-F238E27FC236}">
                  <a16:creationId xmlns:a16="http://schemas.microsoft.com/office/drawing/2014/main" id="{486CFB70-A8F0-47A2-A016-185D5AF809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92" y="1595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3628" name="Text Box 9">
              <a:extLst>
                <a:ext uri="{FF2B5EF4-FFF2-40B4-BE49-F238E27FC236}">
                  <a16:creationId xmlns:a16="http://schemas.microsoft.com/office/drawing/2014/main" id="{B9804738-25FC-4165-822A-77DFDAD21D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73" y="1791"/>
              <a:ext cx="4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3629" name="AutoShape 10">
              <a:extLst>
                <a:ext uri="{FF2B5EF4-FFF2-40B4-BE49-F238E27FC236}">
                  <a16:creationId xmlns:a16="http://schemas.microsoft.com/office/drawing/2014/main" id="{67F3E507-FFA6-4ED2-BB48-BAB8597982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83" y="1600"/>
              <a:ext cx="397" cy="323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3630" name="Freeform 11">
              <a:extLst>
                <a:ext uri="{FF2B5EF4-FFF2-40B4-BE49-F238E27FC236}">
                  <a16:creationId xmlns:a16="http://schemas.microsoft.com/office/drawing/2014/main" id="{DFD7EBBD-FC27-4E6B-8F54-4C44EE1B6D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87" y="2009"/>
              <a:ext cx="397" cy="323"/>
            </a:xfrm>
            <a:custGeom>
              <a:avLst/>
              <a:gdLst>
                <a:gd name="T0" fmla="*/ 0 w 708"/>
                <a:gd name="T1" fmla="*/ 0 h 576"/>
                <a:gd name="T2" fmla="*/ 10 w 708"/>
                <a:gd name="T3" fmla="*/ 22 h 576"/>
                <a:gd name="T4" fmla="*/ 22 w 708"/>
                <a:gd name="T5" fmla="*/ 53 h 576"/>
                <a:gd name="T6" fmla="*/ 30 w 708"/>
                <a:gd name="T7" fmla="*/ 88 h 576"/>
                <a:gd name="T8" fmla="*/ 37 w 708"/>
                <a:gd name="T9" fmla="*/ 127 h 576"/>
                <a:gd name="T10" fmla="*/ 41 w 708"/>
                <a:gd name="T11" fmla="*/ 159 h 576"/>
                <a:gd name="T12" fmla="*/ 39 w 708"/>
                <a:gd name="T13" fmla="*/ 190 h 576"/>
                <a:gd name="T14" fmla="*/ 33 w 708"/>
                <a:gd name="T15" fmla="*/ 224 h 576"/>
                <a:gd name="T16" fmla="*/ 25 w 708"/>
                <a:gd name="T17" fmla="*/ 257 h 576"/>
                <a:gd name="T18" fmla="*/ 16 w 708"/>
                <a:gd name="T19" fmla="*/ 287 h 576"/>
                <a:gd name="T20" fmla="*/ 0 w 708"/>
                <a:gd name="T21" fmla="*/ 321 h 576"/>
                <a:gd name="T22" fmla="*/ 118 w 708"/>
                <a:gd name="T23" fmla="*/ 323 h 576"/>
                <a:gd name="T24" fmla="*/ 167 w 708"/>
                <a:gd name="T25" fmla="*/ 320 h 576"/>
                <a:gd name="T26" fmla="*/ 192 w 708"/>
                <a:gd name="T27" fmla="*/ 318 h 576"/>
                <a:gd name="T28" fmla="*/ 210 w 708"/>
                <a:gd name="T29" fmla="*/ 313 h 576"/>
                <a:gd name="T30" fmla="*/ 229 w 708"/>
                <a:gd name="T31" fmla="*/ 308 h 576"/>
                <a:gd name="T32" fmla="*/ 250 w 708"/>
                <a:gd name="T33" fmla="*/ 299 h 576"/>
                <a:gd name="T34" fmla="*/ 273 w 708"/>
                <a:gd name="T35" fmla="*/ 289 h 576"/>
                <a:gd name="T36" fmla="*/ 295 w 708"/>
                <a:gd name="T37" fmla="*/ 275 h 576"/>
                <a:gd name="T38" fmla="*/ 310 w 708"/>
                <a:gd name="T39" fmla="*/ 264 h 576"/>
                <a:gd name="T40" fmla="*/ 324 w 708"/>
                <a:gd name="T41" fmla="*/ 251 h 576"/>
                <a:gd name="T42" fmla="*/ 339 w 708"/>
                <a:gd name="T43" fmla="*/ 236 h 576"/>
                <a:gd name="T44" fmla="*/ 352 w 708"/>
                <a:gd name="T45" fmla="*/ 223 h 576"/>
                <a:gd name="T46" fmla="*/ 365 w 708"/>
                <a:gd name="T47" fmla="*/ 207 h 576"/>
                <a:gd name="T48" fmla="*/ 381 w 708"/>
                <a:gd name="T49" fmla="*/ 187 h 576"/>
                <a:gd name="T50" fmla="*/ 397 w 708"/>
                <a:gd name="T51" fmla="*/ 160 h 576"/>
                <a:gd name="T52" fmla="*/ 382 w 708"/>
                <a:gd name="T53" fmla="*/ 137 h 576"/>
                <a:gd name="T54" fmla="*/ 369 w 708"/>
                <a:gd name="T55" fmla="*/ 118 h 576"/>
                <a:gd name="T56" fmla="*/ 358 w 708"/>
                <a:gd name="T57" fmla="*/ 104 h 576"/>
                <a:gd name="T58" fmla="*/ 345 w 708"/>
                <a:gd name="T59" fmla="*/ 90 h 576"/>
                <a:gd name="T60" fmla="*/ 332 w 708"/>
                <a:gd name="T61" fmla="*/ 77 h 576"/>
                <a:gd name="T62" fmla="*/ 321 w 708"/>
                <a:gd name="T63" fmla="*/ 67 h 576"/>
                <a:gd name="T64" fmla="*/ 310 w 708"/>
                <a:gd name="T65" fmla="*/ 58 h 576"/>
                <a:gd name="T66" fmla="*/ 296 w 708"/>
                <a:gd name="T67" fmla="*/ 48 h 576"/>
                <a:gd name="T68" fmla="*/ 284 w 708"/>
                <a:gd name="T69" fmla="*/ 40 h 576"/>
                <a:gd name="T70" fmla="*/ 269 w 708"/>
                <a:gd name="T71" fmla="*/ 33 h 576"/>
                <a:gd name="T72" fmla="*/ 253 w 708"/>
                <a:gd name="T73" fmla="*/ 24 h 576"/>
                <a:gd name="T74" fmla="*/ 233 w 708"/>
                <a:gd name="T75" fmla="*/ 16 h 576"/>
                <a:gd name="T76" fmla="*/ 216 w 708"/>
                <a:gd name="T77" fmla="*/ 11 h 576"/>
                <a:gd name="T78" fmla="*/ 196 w 708"/>
                <a:gd name="T79" fmla="*/ 6 h 576"/>
                <a:gd name="T80" fmla="*/ 176 w 708"/>
                <a:gd name="T81" fmla="*/ 3 h 576"/>
                <a:gd name="T82" fmla="*/ 156 w 708"/>
                <a:gd name="T83" fmla="*/ 1 h 576"/>
                <a:gd name="T84" fmla="*/ 142 w 708"/>
                <a:gd name="T85" fmla="*/ 1 h 576"/>
                <a:gd name="T86" fmla="*/ 127 w 708"/>
                <a:gd name="T87" fmla="*/ 0 h 576"/>
                <a:gd name="T88" fmla="*/ 0 w 708"/>
                <a:gd name="T89" fmla="*/ 0 h 5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3631" name="Group 12">
              <a:extLst>
                <a:ext uri="{FF2B5EF4-FFF2-40B4-BE49-F238E27FC236}">
                  <a16:creationId xmlns:a16="http://schemas.microsoft.com/office/drawing/2014/main" id="{5BD654D4-5078-478C-B423-69FCB2C4E4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4" y="2600"/>
              <a:ext cx="269" cy="270"/>
              <a:chOff x="1968" y="1507"/>
              <a:chExt cx="480" cy="480"/>
            </a:xfrm>
          </p:grpSpPr>
          <p:sp>
            <p:nvSpPr>
              <p:cNvPr id="23668" name="AutoShape 13">
                <a:extLst>
                  <a:ext uri="{FF2B5EF4-FFF2-40B4-BE49-F238E27FC236}">
                    <a16:creationId xmlns:a16="http://schemas.microsoft.com/office/drawing/2014/main" id="{7B509647-7557-4D4B-8EAD-5A783E374F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69" name="Oval 14">
                <a:extLst>
                  <a:ext uri="{FF2B5EF4-FFF2-40B4-BE49-F238E27FC236}">
                    <a16:creationId xmlns:a16="http://schemas.microsoft.com/office/drawing/2014/main" id="{96535927-579D-46DA-BF1C-9D8363AFA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632" name="AutoShape 15">
              <a:extLst>
                <a:ext uri="{FF2B5EF4-FFF2-40B4-BE49-F238E27FC236}">
                  <a16:creationId xmlns:a16="http://schemas.microsoft.com/office/drawing/2014/main" id="{6A73AAFF-F3A5-4090-BC18-9C96DB556F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83" y="2337"/>
              <a:ext cx="397" cy="323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grpSp>
          <p:nvGrpSpPr>
            <p:cNvPr id="23633" name="Group 16">
              <a:extLst>
                <a:ext uri="{FF2B5EF4-FFF2-40B4-BE49-F238E27FC236}">
                  <a16:creationId xmlns:a16="http://schemas.microsoft.com/office/drawing/2014/main" id="{800108CA-901F-4FEB-8750-8EB06ADC52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86" y="2271"/>
              <a:ext cx="269" cy="269"/>
              <a:chOff x="1968" y="1507"/>
              <a:chExt cx="480" cy="480"/>
            </a:xfrm>
          </p:grpSpPr>
          <p:sp>
            <p:nvSpPr>
              <p:cNvPr id="23666" name="AutoShape 17">
                <a:extLst>
                  <a:ext uri="{FF2B5EF4-FFF2-40B4-BE49-F238E27FC236}">
                    <a16:creationId xmlns:a16="http://schemas.microsoft.com/office/drawing/2014/main" id="{5B089F55-0E90-439F-85C2-4551F3184E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67" name="Oval 18">
                <a:extLst>
                  <a:ext uri="{FF2B5EF4-FFF2-40B4-BE49-F238E27FC236}">
                    <a16:creationId xmlns:a16="http://schemas.microsoft.com/office/drawing/2014/main" id="{B42DF14C-6AA8-42D4-940F-62B9B199B5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634" name="Line 19">
              <a:extLst>
                <a:ext uri="{FF2B5EF4-FFF2-40B4-BE49-F238E27FC236}">
                  <a16:creationId xmlns:a16="http://schemas.microsoft.com/office/drawing/2014/main" id="{4FE84B9F-D6A4-47A8-B4A2-6FA03CF08B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83" y="1654"/>
              <a:ext cx="10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35" name="Line 20">
              <a:extLst>
                <a:ext uri="{FF2B5EF4-FFF2-40B4-BE49-F238E27FC236}">
                  <a16:creationId xmlns:a16="http://schemas.microsoft.com/office/drawing/2014/main" id="{0C308D8B-B162-42A1-906A-C66ADF9C08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85" y="1872"/>
              <a:ext cx="10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36" name="Text Box 21">
              <a:extLst>
                <a:ext uri="{FF2B5EF4-FFF2-40B4-BE49-F238E27FC236}">
                  <a16:creationId xmlns:a16="http://schemas.microsoft.com/office/drawing/2014/main" id="{0866CA85-A7A7-43B9-BEF8-A33E58480CD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26" y="2015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23637" name="Line 22">
              <a:extLst>
                <a:ext uri="{FF2B5EF4-FFF2-40B4-BE49-F238E27FC236}">
                  <a16:creationId xmlns:a16="http://schemas.microsoft.com/office/drawing/2014/main" id="{330B76DF-398A-4735-A0CC-8C976701C5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752" y="2409"/>
              <a:ext cx="5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38" name="Line 23">
              <a:extLst>
                <a:ext uri="{FF2B5EF4-FFF2-40B4-BE49-F238E27FC236}">
                  <a16:creationId xmlns:a16="http://schemas.microsoft.com/office/drawing/2014/main" id="{735EC0C7-200F-4EA0-A338-EB6C19A086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09" y="2415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39" name="Line 24">
              <a:extLst>
                <a:ext uri="{FF2B5EF4-FFF2-40B4-BE49-F238E27FC236}">
                  <a16:creationId xmlns:a16="http://schemas.microsoft.com/office/drawing/2014/main" id="{B5DA667A-C181-4FE6-9A8A-1FA98E936B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14" y="1670"/>
              <a:ext cx="1" cy="7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3640" name="Group 25">
              <a:extLst>
                <a:ext uri="{FF2B5EF4-FFF2-40B4-BE49-F238E27FC236}">
                  <a16:creationId xmlns:a16="http://schemas.microsoft.com/office/drawing/2014/main" id="{24536C51-F226-4BC1-94BD-CD92C84DA7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689" y="2243"/>
              <a:ext cx="329" cy="255"/>
              <a:chOff x="1006" y="2469"/>
              <a:chExt cx="731" cy="326"/>
            </a:xfrm>
          </p:grpSpPr>
          <p:sp>
            <p:nvSpPr>
              <p:cNvPr id="23663" name="Line 26">
                <a:extLst>
                  <a:ext uri="{FF2B5EF4-FFF2-40B4-BE49-F238E27FC236}">
                    <a16:creationId xmlns:a16="http://schemas.microsoft.com/office/drawing/2014/main" id="{84FA5455-0B20-4462-A9BD-DA26B045F6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6" y="2794"/>
                <a:ext cx="2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4" name="Line 27">
                <a:extLst>
                  <a:ext uri="{FF2B5EF4-FFF2-40B4-BE49-F238E27FC236}">
                    <a16:creationId xmlns:a16="http://schemas.microsoft.com/office/drawing/2014/main" id="{D12447F9-3070-489C-8438-75FF8D3C90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04" y="2469"/>
                <a:ext cx="9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5" name="Line 28">
                <a:extLst>
                  <a:ext uri="{FF2B5EF4-FFF2-40B4-BE49-F238E27FC236}">
                    <a16:creationId xmlns:a16="http://schemas.microsoft.com/office/drawing/2014/main" id="{23C8F83F-1A0F-4D33-B940-D71669A679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21" y="2476"/>
                <a:ext cx="5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41" name="Group 30">
              <a:extLst>
                <a:ext uri="{FF2B5EF4-FFF2-40B4-BE49-F238E27FC236}">
                  <a16:creationId xmlns:a16="http://schemas.microsoft.com/office/drawing/2014/main" id="{832E644D-221E-4006-BCA4-3B87826E28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flipV="1">
              <a:off x="2687" y="1751"/>
              <a:ext cx="328" cy="343"/>
              <a:chOff x="1006" y="2469"/>
              <a:chExt cx="731" cy="326"/>
            </a:xfrm>
          </p:grpSpPr>
          <p:sp>
            <p:nvSpPr>
              <p:cNvPr id="23660" name="Line 31">
                <a:extLst>
                  <a:ext uri="{FF2B5EF4-FFF2-40B4-BE49-F238E27FC236}">
                    <a16:creationId xmlns:a16="http://schemas.microsoft.com/office/drawing/2014/main" id="{49A21E38-356A-4F2D-B086-6F138EF1E7F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6" y="2794"/>
                <a:ext cx="2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1" name="Line 32">
                <a:extLst>
                  <a:ext uri="{FF2B5EF4-FFF2-40B4-BE49-F238E27FC236}">
                    <a16:creationId xmlns:a16="http://schemas.microsoft.com/office/drawing/2014/main" id="{F0A6605A-B0B6-42CC-AF54-C96C85FB040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04" y="2469"/>
                <a:ext cx="9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2" name="Line 33">
                <a:extLst>
                  <a:ext uri="{FF2B5EF4-FFF2-40B4-BE49-F238E27FC236}">
                    <a16:creationId xmlns:a16="http://schemas.microsoft.com/office/drawing/2014/main" id="{FF1919AD-484C-4C75-9538-B31D015E9C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21" y="2476"/>
                <a:ext cx="5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642" name="Line 34">
              <a:extLst>
                <a:ext uri="{FF2B5EF4-FFF2-40B4-BE49-F238E27FC236}">
                  <a16:creationId xmlns:a16="http://schemas.microsoft.com/office/drawing/2014/main" id="{A1BE2F72-7877-41B4-8DC8-BB0A8147E4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05" y="2169"/>
              <a:ext cx="1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43" name="Oval 35">
              <a:extLst>
                <a:ext uri="{FF2B5EF4-FFF2-40B4-BE49-F238E27FC236}">
                  <a16:creationId xmlns:a16="http://schemas.microsoft.com/office/drawing/2014/main" id="{F4275007-4CB0-4880-8021-9CDF8FAD2A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89" y="1632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3644" name="Line 36">
              <a:extLst>
                <a:ext uri="{FF2B5EF4-FFF2-40B4-BE49-F238E27FC236}">
                  <a16:creationId xmlns:a16="http://schemas.microsoft.com/office/drawing/2014/main" id="{1EF2C80D-EC2B-4DFA-98F3-627D046940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8" y="1751"/>
              <a:ext cx="0" cy="9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45" name="Oval 37">
              <a:extLst>
                <a:ext uri="{FF2B5EF4-FFF2-40B4-BE49-F238E27FC236}">
                  <a16:creationId xmlns:a16="http://schemas.microsoft.com/office/drawing/2014/main" id="{3595DE22-C041-4FAF-9F78-EBDC435F148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3" y="1736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3646" name="Line 38">
              <a:extLst>
                <a:ext uri="{FF2B5EF4-FFF2-40B4-BE49-F238E27FC236}">
                  <a16:creationId xmlns:a16="http://schemas.microsoft.com/office/drawing/2014/main" id="{0F954B7E-F82F-4FEC-B5D7-8595AE62F5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44" y="2724"/>
              <a:ext cx="1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47" name="Line 39">
              <a:extLst>
                <a:ext uri="{FF2B5EF4-FFF2-40B4-BE49-F238E27FC236}">
                  <a16:creationId xmlns:a16="http://schemas.microsoft.com/office/drawing/2014/main" id="{F91A5D4D-9EF8-4F37-B947-D0ECAF97E0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1" y="2735"/>
              <a:ext cx="3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48" name="Line 40">
              <a:extLst>
                <a:ext uri="{FF2B5EF4-FFF2-40B4-BE49-F238E27FC236}">
                  <a16:creationId xmlns:a16="http://schemas.microsoft.com/office/drawing/2014/main" id="{E46A725F-A2CA-4176-BE3E-E5D0EA6C7A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072" y="2493"/>
              <a:ext cx="1" cy="2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49" name="Line 41">
              <a:extLst>
                <a:ext uri="{FF2B5EF4-FFF2-40B4-BE49-F238E27FC236}">
                  <a16:creationId xmlns:a16="http://schemas.microsoft.com/office/drawing/2014/main" id="{F341567E-082E-423C-AC40-495B46AF97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506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0" name="Line 87">
              <a:extLst>
                <a:ext uri="{FF2B5EF4-FFF2-40B4-BE49-F238E27FC236}">
                  <a16:creationId xmlns:a16="http://schemas.microsoft.com/office/drawing/2014/main" id="{02CBA305-CF65-430C-8914-248C343D81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83" y="1758"/>
              <a:ext cx="10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1" name="Line 92">
              <a:extLst>
                <a:ext uri="{FF2B5EF4-FFF2-40B4-BE49-F238E27FC236}">
                  <a16:creationId xmlns:a16="http://schemas.microsoft.com/office/drawing/2014/main" id="{4F613D04-6BF9-4665-910A-2B74DA1D27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43" y="3079"/>
              <a:ext cx="4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2" name="Line 93">
              <a:extLst>
                <a:ext uri="{FF2B5EF4-FFF2-40B4-BE49-F238E27FC236}">
                  <a16:creationId xmlns:a16="http://schemas.microsoft.com/office/drawing/2014/main" id="{5AE13547-B3EE-44B4-AB12-E62719667B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168" y="2589"/>
              <a:ext cx="2" cy="4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3" name="Line 94">
              <a:extLst>
                <a:ext uri="{FF2B5EF4-FFF2-40B4-BE49-F238E27FC236}">
                  <a16:creationId xmlns:a16="http://schemas.microsoft.com/office/drawing/2014/main" id="{D070715A-7915-4F4C-92DF-12C68D77AC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60" y="2602"/>
              <a:ext cx="1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3654" name="Group 96">
              <a:extLst>
                <a:ext uri="{FF2B5EF4-FFF2-40B4-BE49-F238E27FC236}">
                  <a16:creationId xmlns:a16="http://schemas.microsoft.com/office/drawing/2014/main" id="{C4426C20-2E9F-4AD0-BA8D-A519005095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4" y="2952"/>
              <a:ext cx="269" cy="270"/>
              <a:chOff x="1968" y="1507"/>
              <a:chExt cx="480" cy="480"/>
            </a:xfrm>
          </p:grpSpPr>
          <p:sp>
            <p:nvSpPr>
              <p:cNvPr id="23658" name="AutoShape 97">
                <a:extLst>
                  <a:ext uri="{FF2B5EF4-FFF2-40B4-BE49-F238E27FC236}">
                    <a16:creationId xmlns:a16="http://schemas.microsoft.com/office/drawing/2014/main" id="{93D5ED6C-7D26-40EC-90BC-9533FA5800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59" name="Oval 98">
                <a:extLst>
                  <a:ext uri="{FF2B5EF4-FFF2-40B4-BE49-F238E27FC236}">
                    <a16:creationId xmlns:a16="http://schemas.microsoft.com/office/drawing/2014/main" id="{B078B465-7989-43CF-809B-606E34D6CF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655" name="Line 99">
              <a:extLst>
                <a:ext uri="{FF2B5EF4-FFF2-40B4-BE49-F238E27FC236}">
                  <a16:creationId xmlns:a16="http://schemas.microsoft.com/office/drawing/2014/main" id="{05853695-67FE-430C-AA33-01FF627C7E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02" y="1855"/>
              <a:ext cx="0" cy="12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6" name="Line 100">
              <a:extLst>
                <a:ext uri="{FF2B5EF4-FFF2-40B4-BE49-F238E27FC236}">
                  <a16:creationId xmlns:a16="http://schemas.microsoft.com/office/drawing/2014/main" id="{3C903503-ED4D-4AA2-9B7B-0FCE719B75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88" y="3076"/>
              <a:ext cx="2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57" name="Oval 101">
              <a:extLst>
                <a:ext uri="{FF2B5EF4-FFF2-40B4-BE49-F238E27FC236}">
                  <a16:creationId xmlns:a16="http://schemas.microsoft.com/office/drawing/2014/main" id="{6DCC6D38-D31C-48AF-9B88-FB8AA85C8C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7" y="1848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3562" name="Group 104">
            <a:extLst>
              <a:ext uri="{FF2B5EF4-FFF2-40B4-BE49-F238E27FC236}">
                <a16:creationId xmlns:a16="http://schemas.microsoft.com/office/drawing/2014/main" id="{8EEE8F9A-0F72-497E-9226-D91B05A6E81E}"/>
              </a:ext>
            </a:extLst>
          </p:cNvPr>
          <p:cNvGrpSpPr>
            <a:grpSpLocks/>
          </p:cNvGrpSpPr>
          <p:nvPr/>
        </p:nvGrpSpPr>
        <p:grpSpPr bwMode="auto">
          <a:xfrm>
            <a:off x="3490913" y="2720976"/>
            <a:ext cx="654050" cy="519113"/>
            <a:chOff x="3005" y="3382"/>
            <a:chExt cx="412" cy="327"/>
          </a:xfrm>
        </p:grpSpPr>
        <p:sp>
          <p:nvSpPr>
            <p:cNvPr id="23624" name="Text Box 105">
              <a:extLst>
                <a:ext uri="{FF2B5EF4-FFF2-40B4-BE49-F238E27FC236}">
                  <a16:creationId xmlns:a16="http://schemas.microsoft.com/office/drawing/2014/main" id="{77E53851-F35E-4AD0-9EDD-A331B2C73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5" y="3382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3625" name="Line 106">
              <a:extLst>
                <a:ext uri="{FF2B5EF4-FFF2-40B4-BE49-F238E27FC236}">
                  <a16:creationId xmlns:a16="http://schemas.microsoft.com/office/drawing/2014/main" id="{6EFAD16F-89C1-4FAE-BD83-348204073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3444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3" name="Group 107">
            <a:extLst>
              <a:ext uri="{FF2B5EF4-FFF2-40B4-BE49-F238E27FC236}">
                <a16:creationId xmlns:a16="http://schemas.microsoft.com/office/drawing/2014/main" id="{83FEE9CE-727A-4916-BB7D-C0487A602880}"/>
              </a:ext>
            </a:extLst>
          </p:cNvPr>
          <p:cNvGrpSpPr>
            <a:grpSpLocks/>
          </p:cNvGrpSpPr>
          <p:nvPr/>
        </p:nvGrpSpPr>
        <p:grpSpPr bwMode="auto">
          <a:xfrm>
            <a:off x="3975100" y="2725738"/>
            <a:ext cx="654050" cy="519112"/>
            <a:chOff x="2248" y="3394"/>
            <a:chExt cx="412" cy="327"/>
          </a:xfrm>
        </p:grpSpPr>
        <p:sp>
          <p:nvSpPr>
            <p:cNvPr id="23622" name="Text Box 108">
              <a:extLst>
                <a:ext uri="{FF2B5EF4-FFF2-40B4-BE49-F238E27FC236}">
                  <a16:creationId xmlns:a16="http://schemas.microsoft.com/office/drawing/2014/main" id="{005F59B9-0A3F-4CB9-8A25-C359E1015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8" y="3394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3623" name="Line 109">
              <a:extLst>
                <a:ext uri="{FF2B5EF4-FFF2-40B4-BE49-F238E27FC236}">
                  <a16:creationId xmlns:a16="http://schemas.microsoft.com/office/drawing/2014/main" id="{3FBFE68B-DB3B-4EDB-912D-E14F13349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" y="3456"/>
              <a:ext cx="1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4" name="Group 172">
            <a:extLst>
              <a:ext uri="{FF2B5EF4-FFF2-40B4-BE49-F238E27FC236}">
                <a16:creationId xmlns:a16="http://schemas.microsoft.com/office/drawing/2014/main" id="{238CC6A8-E87B-4C68-B630-17896E97BB1D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3786188"/>
            <a:ext cx="4621212" cy="2876550"/>
            <a:chOff x="2705" y="2508"/>
            <a:chExt cx="2911" cy="1812"/>
          </a:xfrm>
        </p:grpSpPr>
        <p:sp>
          <p:nvSpPr>
            <p:cNvPr id="23570" name="Text Box 125">
              <a:extLst>
                <a:ext uri="{FF2B5EF4-FFF2-40B4-BE49-F238E27FC236}">
                  <a16:creationId xmlns:a16="http://schemas.microsoft.com/office/drawing/2014/main" id="{F3372ED4-5557-43D3-8E94-C25B4D50851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42" y="3097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23571" name="Line 145">
              <a:extLst>
                <a:ext uri="{FF2B5EF4-FFF2-40B4-BE49-F238E27FC236}">
                  <a16:creationId xmlns:a16="http://schemas.microsoft.com/office/drawing/2014/main" id="{104AFDBE-0A19-4951-B33C-9622252D08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015" y="2848"/>
              <a:ext cx="7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2" name="Text Box 111">
              <a:extLst>
                <a:ext uri="{FF2B5EF4-FFF2-40B4-BE49-F238E27FC236}">
                  <a16:creationId xmlns:a16="http://schemas.microsoft.com/office/drawing/2014/main" id="{590E0894-A53C-44F0-970B-B6B2DCCE37C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40" y="2508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3573" name="Text Box 112">
              <a:extLst>
                <a:ext uri="{FF2B5EF4-FFF2-40B4-BE49-F238E27FC236}">
                  <a16:creationId xmlns:a16="http://schemas.microsoft.com/office/drawing/2014/main" id="{3DEA11D6-9F20-45A1-A915-105C7E301A1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24" y="2693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3574" name="Text Box 113">
              <a:extLst>
                <a:ext uri="{FF2B5EF4-FFF2-40B4-BE49-F238E27FC236}">
                  <a16:creationId xmlns:a16="http://schemas.microsoft.com/office/drawing/2014/main" id="{A96EB476-FDCB-422E-8A68-22C04BB04EF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05" y="2889"/>
              <a:ext cx="4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3575" name="Freeform 115">
              <a:extLst>
                <a:ext uri="{FF2B5EF4-FFF2-40B4-BE49-F238E27FC236}">
                  <a16:creationId xmlns:a16="http://schemas.microsoft.com/office/drawing/2014/main" id="{56B23D8E-9FA8-4A23-AF5B-67D9F4B40D2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35" y="3507"/>
              <a:ext cx="397" cy="323"/>
            </a:xfrm>
            <a:custGeom>
              <a:avLst/>
              <a:gdLst>
                <a:gd name="T0" fmla="*/ 0 w 708"/>
                <a:gd name="T1" fmla="*/ 0 h 576"/>
                <a:gd name="T2" fmla="*/ 10 w 708"/>
                <a:gd name="T3" fmla="*/ 22 h 576"/>
                <a:gd name="T4" fmla="*/ 22 w 708"/>
                <a:gd name="T5" fmla="*/ 53 h 576"/>
                <a:gd name="T6" fmla="*/ 30 w 708"/>
                <a:gd name="T7" fmla="*/ 88 h 576"/>
                <a:gd name="T8" fmla="*/ 37 w 708"/>
                <a:gd name="T9" fmla="*/ 127 h 576"/>
                <a:gd name="T10" fmla="*/ 41 w 708"/>
                <a:gd name="T11" fmla="*/ 159 h 576"/>
                <a:gd name="T12" fmla="*/ 39 w 708"/>
                <a:gd name="T13" fmla="*/ 190 h 576"/>
                <a:gd name="T14" fmla="*/ 33 w 708"/>
                <a:gd name="T15" fmla="*/ 224 h 576"/>
                <a:gd name="T16" fmla="*/ 25 w 708"/>
                <a:gd name="T17" fmla="*/ 257 h 576"/>
                <a:gd name="T18" fmla="*/ 16 w 708"/>
                <a:gd name="T19" fmla="*/ 287 h 576"/>
                <a:gd name="T20" fmla="*/ 0 w 708"/>
                <a:gd name="T21" fmla="*/ 321 h 576"/>
                <a:gd name="T22" fmla="*/ 118 w 708"/>
                <a:gd name="T23" fmla="*/ 323 h 576"/>
                <a:gd name="T24" fmla="*/ 167 w 708"/>
                <a:gd name="T25" fmla="*/ 320 h 576"/>
                <a:gd name="T26" fmla="*/ 192 w 708"/>
                <a:gd name="T27" fmla="*/ 318 h 576"/>
                <a:gd name="T28" fmla="*/ 210 w 708"/>
                <a:gd name="T29" fmla="*/ 313 h 576"/>
                <a:gd name="T30" fmla="*/ 229 w 708"/>
                <a:gd name="T31" fmla="*/ 308 h 576"/>
                <a:gd name="T32" fmla="*/ 250 w 708"/>
                <a:gd name="T33" fmla="*/ 299 h 576"/>
                <a:gd name="T34" fmla="*/ 273 w 708"/>
                <a:gd name="T35" fmla="*/ 289 h 576"/>
                <a:gd name="T36" fmla="*/ 295 w 708"/>
                <a:gd name="T37" fmla="*/ 275 h 576"/>
                <a:gd name="T38" fmla="*/ 310 w 708"/>
                <a:gd name="T39" fmla="*/ 264 h 576"/>
                <a:gd name="T40" fmla="*/ 324 w 708"/>
                <a:gd name="T41" fmla="*/ 251 h 576"/>
                <a:gd name="T42" fmla="*/ 339 w 708"/>
                <a:gd name="T43" fmla="*/ 236 h 576"/>
                <a:gd name="T44" fmla="*/ 352 w 708"/>
                <a:gd name="T45" fmla="*/ 223 h 576"/>
                <a:gd name="T46" fmla="*/ 365 w 708"/>
                <a:gd name="T47" fmla="*/ 207 h 576"/>
                <a:gd name="T48" fmla="*/ 381 w 708"/>
                <a:gd name="T49" fmla="*/ 187 h 576"/>
                <a:gd name="T50" fmla="*/ 397 w 708"/>
                <a:gd name="T51" fmla="*/ 160 h 576"/>
                <a:gd name="T52" fmla="*/ 382 w 708"/>
                <a:gd name="T53" fmla="*/ 137 h 576"/>
                <a:gd name="T54" fmla="*/ 369 w 708"/>
                <a:gd name="T55" fmla="*/ 118 h 576"/>
                <a:gd name="T56" fmla="*/ 358 w 708"/>
                <a:gd name="T57" fmla="*/ 104 h 576"/>
                <a:gd name="T58" fmla="*/ 345 w 708"/>
                <a:gd name="T59" fmla="*/ 90 h 576"/>
                <a:gd name="T60" fmla="*/ 332 w 708"/>
                <a:gd name="T61" fmla="*/ 77 h 576"/>
                <a:gd name="T62" fmla="*/ 321 w 708"/>
                <a:gd name="T63" fmla="*/ 67 h 576"/>
                <a:gd name="T64" fmla="*/ 310 w 708"/>
                <a:gd name="T65" fmla="*/ 58 h 576"/>
                <a:gd name="T66" fmla="*/ 296 w 708"/>
                <a:gd name="T67" fmla="*/ 48 h 576"/>
                <a:gd name="T68" fmla="*/ 284 w 708"/>
                <a:gd name="T69" fmla="*/ 40 h 576"/>
                <a:gd name="T70" fmla="*/ 269 w 708"/>
                <a:gd name="T71" fmla="*/ 33 h 576"/>
                <a:gd name="T72" fmla="*/ 253 w 708"/>
                <a:gd name="T73" fmla="*/ 24 h 576"/>
                <a:gd name="T74" fmla="*/ 233 w 708"/>
                <a:gd name="T75" fmla="*/ 16 h 576"/>
                <a:gd name="T76" fmla="*/ 216 w 708"/>
                <a:gd name="T77" fmla="*/ 11 h 576"/>
                <a:gd name="T78" fmla="*/ 196 w 708"/>
                <a:gd name="T79" fmla="*/ 6 h 576"/>
                <a:gd name="T80" fmla="*/ 176 w 708"/>
                <a:gd name="T81" fmla="*/ 3 h 576"/>
                <a:gd name="T82" fmla="*/ 156 w 708"/>
                <a:gd name="T83" fmla="*/ 1 h 576"/>
                <a:gd name="T84" fmla="*/ 142 w 708"/>
                <a:gd name="T85" fmla="*/ 1 h 576"/>
                <a:gd name="T86" fmla="*/ 127 w 708"/>
                <a:gd name="T87" fmla="*/ 0 h 576"/>
                <a:gd name="T88" fmla="*/ 0 w 708"/>
                <a:gd name="T89" fmla="*/ 0 h 5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3576" name="Group 116">
              <a:extLst>
                <a:ext uri="{FF2B5EF4-FFF2-40B4-BE49-F238E27FC236}">
                  <a16:creationId xmlns:a16="http://schemas.microsoft.com/office/drawing/2014/main" id="{DAF590A1-0EDD-4CA0-8276-2064D76841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6" y="3698"/>
              <a:ext cx="269" cy="270"/>
              <a:chOff x="1968" y="1507"/>
              <a:chExt cx="480" cy="480"/>
            </a:xfrm>
          </p:grpSpPr>
          <p:sp>
            <p:nvSpPr>
              <p:cNvPr id="23620" name="AutoShape 117">
                <a:extLst>
                  <a:ext uri="{FF2B5EF4-FFF2-40B4-BE49-F238E27FC236}">
                    <a16:creationId xmlns:a16="http://schemas.microsoft.com/office/drawing/2014/main" id="{707B8FB8-A7B4-4A40-93D6-14D3E5381B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21" name="Oval 118">
                <a:extLst>
                  <a:ext uri="{FF2B5EF4-FFF2-40B4-BE49-F238E27FC236}">
                    <a16:creationId xmlns:a16="http://schemas.microsoft.com/office/drawing/2014/main" id="{E9C35A8F-EEF5-4AA7-8165-76F8663D17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577" name="AutoShape 119">
              <a:extLst>
                <a:ext uri="{FF2B5EF4-FFF2-40B4-BE49-F238E27FC236}">
                  <a16:creationId xmlns:a16="http://schemas.microsoft.com/office/drawing/2014/main" id="{BB9B97AF-21DC-4355-9529-0B49E08772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51" y="3099"/>
              <a:ext cx="397" cy="323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grpSp>
          <p:nvGrpSpPr>
            <p:cNvPr id="23578" name="Group 120">
              <a:extLst>
                <a:ext uri="{FF2B5EF4-FFF2-40B4-BE49-F238E27FC236}">
                  <a16:creationId xmlns:a16="http://schemas.microsoft.com/office/drawing/2014/main" id="{56C3AD0E-64F9-441E-9AC4-87890358ED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8" y="3369"/>
              <a:ext cx="269" cy="269"/>
              <a:chOff x="1968" y="1507"/>
              <a:chExt cx="480" cy="480"/>
            </a:xfrm>
          </p:grpSpPr>
          <p:sp>
            <p:nvSpPr>
              <p:cNvPr id="23618" name="AutoShape 121">
                <a:extLst>
                  <a:ext uri="{FF2B5EF4-FFF2-40B4-BE49-F238E27FC236}">
                    <a16:creationId xmlns:a16="http://schemas.microsoft.com/office/drawing/2014/main" id="{6790565A-F3BB-4862-B464-7A7C2B23A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19" name="Oval 122">
                <a:extLst>
                  <a:ext uri="{FF2B5EF4-FFF2-40B4-BE49-F238E27FC236}">
                    <a16:creationId xmlns:a16="http://schemas.microsoft.com/office/drawing/2014/main" id="{269162E9-3F7D-4B7C-B760-517CA2020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579" name="Line 123">
              <a:extLst>
                <a:ext uri="{FF2B5EF4-FFF2-40B4-BE49-F238E27FC236}">
                  <a16:creationId xmlns:a16="http://schemas.microsoft.com/office/drawing/2014/main" id="{5D3BE01E-9A92-40B0-B855-8506597F69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015" y="2752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0" name="Line 124">
              <a:extLst>
                <a:ext uri="{FF2B5EF4-FFF2-40B4-BE49-F238E27FC236}">
                  <a16:creationId xmlns:a16="http://schemas.microsoft.com/office/drawing/2014/main" id="{B431F208-73E2-427A-B082-5942E01772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017" y="2962"/>
              <a:ext cx="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1" name="Line 126">
              <a:extLst>
                <a:ext uri="{FF2B5EF4-FFF2-40B4-BE49-F238E27FC236}">
                  <a16:creationId xmlns:a16="http://schemas.microsoft.com/office/drawing/2014/main" id="{7280A439-21A2-4F11-9871-5742909242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632" y="3339"/>
              <a:ext cx="5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2" name="Line 127">
              <a:extLst>
                <a:ext uri="{FF2B5EF4-FFF2-40B4-BE49-F238E27FC236}">
                  <a16:creationId xmlns:a16="http://schemas.microsoft.com/office/drawing/2014/main" id="{853BC227-9BB7-4671-99AF-204DA80226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41" y="3513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3" name="Line 128">
              <a:extLst>
                <a:ext uri="{FF2B5EF4-FFF2-40B4-BE49-F238E27FC236}">
                  <a16:creationId xmlns:a16="http://schemas.microsoft.com/office/drawing/2014/main" id="{E816E071-2F48-4225-81C2-1449D2E333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46" y="2768"/>
              <a:ext cx="1" cy="7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3584" name="Group 129">
              <a:extLst>
                <a:ext uri="{FF2B5EF4-FFF2-40B4-BE49-F238E27FC236}">
                  <a16:creationId xmlns:a16="http://schemas.microsoft.com/office/drawing/2014/main" id="{ED03A4BF-74E7-4F94-8570-CBA00194D2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521" y="3341"/>
              <a:ext cx="329" cy="335"/>
              <a:chOff x="1006" y="2469"/>
              <a:chExt cx="731" cy="326"/>
            </a:xfrm>
          </p:grpSpPr>
          <p:sp>
            <p:nvSpPr>
              <p:cNvPr id="23615" name="Line 130">
                <a:extLst>
                  <a:ext uri="{FF2B5EF4-FFF2-40B4-BE49-F238E27FC236}">
                    <a16:creationId xmlns:a16="http://schemas.microsoft.com/office/drawing/2014/main" id="{D522721A-DDB0-4AB7-8C9A-7D53500BCCD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6" y="2794"/>
                <a:ext cx="2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6" name="Line 131">
                <a:extLst>
                  <a:ext uri="{FF2B5EF4-FFF2-40B4-BE49-F238E27FC236}">
                    <a16:creationId xmlns:a16="http://schemas.microsoft.com/office/drawing/2014/main" id="{BC5926CE-7D3D-4DC9-8AB8-1A9CAE3775A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04" y="2469"/>
                <a:ext cx="9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7" name="Line 132">
                <a:extLst>
                  <a:ext uri="{FF2B5EF4-FFF2-40B4-BE49-F238E27FC236}">
                    <a16:creationId xmlns:a16="http://schemas.microsoft.com/office/drawing/2014/main" id="{EC832CE5-7406-45C8-B9D8-BE2C4DD4E72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21" y="2476"/>
                <a:ext cx="5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585" name="Group 133">
              <a:extLst>
                <a:ext uri="{FF2B5EF4-FFF2-40B4-BE49-F238E27FC236}">
                  <a16:creationId xmlns:a16="http://schemas.microsoft.com/office/drawing/2014/main" id="{E3C9E97E-E490-4F44-9F54-6475D0BE91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flipV="1">
              <a:off x="4519" y="2849"/>
              <a:ext cx="328" cy="343"/>
              <a:chOff x="1006" y="2469"/>
              <a:chExt cx="731" cy="326"/>
            </a:xfrm>
          </p:grpSpPr>
          <p:sp>
            <p:nvSpPr>
              <p:cNvPr id="23612" name="Line 134">
                <a:extLst>
                  <a:ext uri="{FF2B5EF4-FFF2-40B4-BE49-F238E27FC236}">
                    <a16:creationId xmlns:a16="http://schemas.microsoft.com/office/drawing/2014/main" id="{97FA70AD-B371-4D03-9C84-2AB792318D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06" y="2794"/>
                <a:ext cx="2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3" name="Line 135">
                <a:extLst>
                  <a:ext uri="{FF2B5EF4-FFF2-40B4-BE49-F238E27FC236}">
                    <a16:creationId xmlns:a16="http://schemas.microsoft.com/office/drawing/2014/main" id="{2FBF94D0-3B64-46C5-9D80-83D29703C0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04" y="2469"/>
                <a:ext cx="9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4" name="Line 136">
                <a:extLst>
                  <a:ext uri="{FF2B5EF4-FFF2-40B4-BE49-F238E27FC236}">
                    <a16:creationId xmlns:a16="http://schemas.microsoft.com/office/drawing/2014/main" id="{FCE11F8C-58A1-4CF3-B5F5-90F40773879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21" y="2476"/>
                <a:ext cx="5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Ctr="1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86" name="Line 137">
              <a:extLst>
                <a:ext uri="{FF2B5EF4-FFF2-40B4-BE49-F238E27FC236}">
                  <a16:creationId xmlns:a16="http://schemas.microsoft.com/office/drawing/2014/main" id="{08E878DB-1347-46D2-A953-67693CCF10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37" y="3267"/>
              <a:ext cx="1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7" name="Oval 138">
              <a:extLst>
                <a:ext uri="{FF2B5EF4-FFF2-40B4-BE49-F238E27FC236}">
                  <a16:creationId xmlns:a16="http://schemas.microsoft.com/office/drawing/2014/main" id="{C0CAC408-09B5-459E-8657-F754EF180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21" y="2730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3588" name="Line 139">
              <a:extLst>
                <a:ext uri="{FF2B5EF4-FFF2-40B4-BE49-F238E27FC236}">
                  <a16:creationId xmlns:a16="http://schemas.microsoft.com/office/drawing/2014/main" id="{BE234132-AD22-4095-B54B-97A659A6C0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90" y="2849"/>
              <a:ext cx="0" cy="9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9" name="Line 141">
              <a:extLst>
                <a:ext uri="{FF2B5EF4-FFF2-40B4-BE49-F238E27FC236}">
                  <a16:creationId xmlns:a16="http://schemas.microsoft.com/office/drawing/2014/main" id="{2CD28A9F-501E-4670-9CB0-79486D5C9F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76" y="3822"/>
              <a:ext cx="1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0" name="Line 142">
              <a:extLst>
                <a:ext uri="{FF2B5EF4-FFF2-40B4-BE49-F238E27FC236}">
                  <a16:creationId xmlns:a16="http://schemas.microsoft.com/office/drawing/2014/main" id="{54DD9B89-F011-4461-A0A2-0D207E1231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3" y="3833"/>
              <a:ext cx="3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1" name="Line 143">
              <a:extLst>
                <a:ext uri="{FF2B5EF4-FFF2-40B4-BE49-F238E27FC236}">
                  <a16:creationId xmlns:a16="http://schemas.microsoft.com/office/drawing/2014/main" id="{F2223133-21CC-48E6-9C1A-1C0A3718EB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902" y="3167"/>
              <a:ext cx="3" cy="6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2" name="Line 144">
              <a:extLst>
                <a:ext uri="{FF2B5EF4-FFF2-40B4-BE49-F238E27FC236}">
                  <a16:creationId xmlns:a16="http://schemas.microsoft.com/office/drawing/2014/main" id="{45732FF2-8713-48F9-8B41-24917CFC84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04" y="3164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3" name="Line 146">
              <a:extLst>
                <a:ext uri="{FF2B5EF4-FFF2-40B4-BE49-F238E27FC236}">
                  <a16:creationId xmlns:a16="http://schemas.microsoft.com/office/drawing/2014/main" id="{58391F09-6030-4A5B-8952-A0F3922D89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75" y="4177"/>
              <a:ext cx="4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4" name="Line 147">
              <a:extLst>
                <a:ext uri="{FF2B5EF4-FFF2-40B4-BE49-F238E27FC236}">
                  <a16:creationId xmlns:a16="http://schemas.microsoft.com/office/drawing/2014/main" id="{6C316413-1E68-47DD-BB7F-5F68D945AD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997" y="2927"/>
              <a:ext cx="5" cy="12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3595" name="Group 149">
              <a:extLst>
                <a:ext uri="{FF2B5EF4-FFF2-40B4-BE49-F238E27FC236}">
                  <a16:creationId xmlns:a16="http://schemas.microsoft.com/office/drawing/2014/main" id="{411ABD4F-79D2-4C3B-83B5-7C48E0F60F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6" y="4050"/>
              <a:ext cx="269" cy="270"/>
              <a:chOff x="1968" y="1507"/>
              <a:chExt cx="480" cy="480"/>
            </a:xfrm>
          </p:grpSpPr>
          <p:sp>
            <p:nvSpPr>
              <p:cNvPr id="23610" name="AutoShape 150">
                <a:extLst>
                  <a:ext uri="{FF2B5EF4-FFF2-40B4-BE49-F238E27FC236}">
                    <a16:creationId xmlns:a16="http://schemas.microsoft.com/office/drawing/2014/main" id="{8869061F-7946-49CA-9DB9-AA9DA9566E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920" y="1555"/>
                <a:ext cx="480" cy="384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11" name="Oval 151">
                <a:extLst>
                  <a:ext uri="{FF2B5EF4-FFF2-40B4-BE49-F238E27FC236}">
                    <a16:creationId xmlns:a16="http://schemas.microsoft.com/office/drawing/2014/main" id="{1B458EF6-FFD8-4A0C-97B4-6715F6D089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2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9999"/>
                  </a:buCl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0" fontAlgn="base" hangingPunct="0"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596" name="Line 152">
              <a:extLst>
                <a:ext uri="{FF2B5EF4-FFF2-40B4-BE49-F238E27FC236}">
                  <a16:creationId xmlns:a16="http://schemas.microsoft.com/office/drawing/2014/main" id="{09BE8A54-B7CC-4B86-8D42-A8A6F5AB36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26" y="2961"/>
              <a:ext cx="0" cy="1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7" name="Line 153">
              <a:extLst>
                <a:ext uri="{FF2B5EF4-FFF2-40B4-BE49-F238E27FC236}">
                  <a16:creationId xmlns:a16="http://schemas.microsoft.com/office/drawing/2014/main" id="{4E8B5B50-9BFA-4A7B-BE4A-519CB179AD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20" y="4174"/>
              <a:ext cx="2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8" name="Freeform 155">
              <a:extLst>
                <a:ext uri="{FF2B5EF4-FFF2-40B4-BE49-F238E27FC236}">
                  <a16:creationId xmlns:a16="http://schemas.microsoft.com/office/drawing/2014/main" id="{0499A161-28B1-43C2-A98A-63A1B0C24D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35" y="2683"/>
              <a:ext cx="397" cy="323"/>
            </a:xfrm>
            <a:custGeom>
              <a:avLst/>
              <a:gdLst>
                <a:gd name="T0" fmla="*/ 0 w 708"/>
                <a:gd name="T1" fmla="*/ 0 h 576"/>
                <a:gd name="T2" fmla="*/ 10 w 708"/>
                <a:gd name="T3" fmla="*/ 22 h 576"/>
                <a:gd name="T4" fmla="*/ 22 w 708"/>
                <a:gd name="T5" fmla="*/ 53 h 576"/>
                <a:gd name="T6" fmla="*/ 30 w 708"/>
                <a:gd name="T7" fmla="*/ 88 h 576"/>
                <a:gd name="T8" fmla="*/ 37 w 708"/>
                <a:gd name="T9" fmla="*/ 127 h 576"/>
                <a:gd name="T10" fmla="*/ 41 w 708"/>
                <a:gd name="T11" fmla="*/ 159 h 576"/>
                <a:gd name="T12" fmla="*/ 39 w 708"/>
                <a:gd name="T13" fmla="*/ 190 h 576"/>
                <a:gd name="T14" fmla="*/ 33 w 708"/>
                <a:gd name="T15" fmla="*/ 224 h 576"/>
                <a:gd name="T16" fmla="*/ 25 w 708"/>
                <a:gd name="T17" fmla="*/ 257 h 576"/>
                <a:gd name="T18" fmla="*/ 16 w 708"/>
                <a:gd name="T19" fmla="*/ 287 h 576"/>
                <a:gd name="T20" fmla="*/ 0 w 708"/>
                <a:gd name="T21" fmla="*/ 321 h 576"/>
                <a:gd name="T22" fmla="*/ 118 w 708"/>
                <a:gd name="T23" fmla="*/ 323 h 576"/>
                <a:gd name="T24" fmla="*/ 167 w 708"/>
                <a:gd name="T25" fmla="*/ 320 h 576"/>
                <a:gd name="T26" fmla="*/ 192 w 708"/>
                <a:gd name="T27" fmla="*/ 318 h 576"/>
                <a:gd name="T28" fmla="*/ 210 w 708"/>
                <a:gd name="T29" fmla="*/ 313 h 576"/>
                <a:gd name="T30" fmla="*/ 229 w 708"/>
                <a:gd name="T31" fmla="*/ 308 h 576"/>
                <a:gd name="T32" fmla="*/ 250 w 708"/>
                <a:gd name="T33" fmla="*/ 299 h 576"/>
                <a:gd name="T34" fmla="*/ 273 w 708"/>
                <a:gd name="T35" fmla="*/ 289 h 576"/>
                <a:gd name="T36" fmla="*/ 295 w 708"/>
                <a:gd name="T37" fmla="*/ 275 h 576"/>
                <a:gd name="T38" fmla="*/ 310 w 708"/>
                <a:gd name="T39" fmla="*/ 264 h 576"/>
                <a:gd name="T40" fmla="*/ 324 w 708"/>
                <a:gd name="T41" fmla="*/ 251 h 576"/>
                <a:gd name="T42" fmla="*/ 339 w 708"/>
                <a:gd name="T43" fmla="*/ 236 h 576"/>
                <a:gd name="T44" fmla="*/ 352 w 708"/>
                <a:gd name="T45" fmla="*/ 223 h 576"/>
                <a:gd name="T46" fmla="*/ 365 w 708"/>
                <a:gd name="T47" fmla="*/ 207 h 576"/>
                <a:gd name="T48" fmla="*/ 381 w 708"/>
                <a:gd name="T49" fmla="*/ 187 h 576"/>
                <a:gd name="T50" fmla="*/ 397 w 708"/>
                <a:gd name="T51" fmla="*/ 160 h 576"/>
                <a:gd name="T52" fmla="*/ 382 w 708"/>
                <a:gd name="T53" fmla="*/ 137 h 576"/>
                <a:gd name="T54" fmla="*/ 369 w 708"/>
                <a:gd name="T55" fmla="*/ 118 h 576"/>
                <a:gd name="T56" fmla="*/ 358 w 708"/>
                <a:gd name="T57" fmla="*/ 104 h 576"/>
                <a:gd name="T58" fmla="*/ 345 w 708"/>
                <a:gd name="T59" fmla="*/ 90 h 576"/>
                <a:gd name="T60" fmla="*/ 332 w 708"/>
                <a:gd name="T61" fmla="*/ 77 h 576"/>
                <a:gd name="T62" fmla="*/ 321 w 708"/>
                <a:gd name="T63" fmla="*/ 67 h 576"/>
                <a:gd name="T64" fmla="*/ 310 w 708"/>
                <a:gd name="T65" fmla="*/ 58 h 576"/>
                <a:gd name="T66" fmla="*/ 296 w 708"/>
                <a:gd name="T67" fmla="*/ 48 h 576"/>
                <a:gd name="T68" fmla="*/ 284 w 708"/>
                <a:gd name="T69" fmla="*/ 40 h 576"/>
                <a:gd name="T70" fmla="*/ 269 w 708"/>
                <a:gd name="T71" fmla="*/ 33 h 576"/>
                <a:gd name="T72" fmla="*/ 253 w 708"/>
                <a:gd name="T73" fmla="*/ 24 h 576"/>
                <a:gd name="T74" fmla="*/ 233 w 708"/>
                <a:gd name="T75" fmla="*/ 16 h 576"/>
                <a:gd name="T76" fmla="*/ 216 w 708"/>
                <a:gd name="T77" fmla="*/ 11 h 576"/>
                <a:gd name="T78" fmla="*/ 196 w 708"/>
                <a:gd name="T79" fmla="*/ 6 h 576"/>
                <a:gd name="T80" fmla="*/ 176 w 708"/>
                <a:gd name="T81" fmla="*/ 3 h 576"/>
                <a:gd name="T82" fmla="*/ 156 w 708"/>
                <a:gd name="T83" fmla="*/ 1 h 576"/>
                <a:gd name="T84" fmla="*/ 142 w 708"/>
                <a:gd name="T85" fmla="*/ 1 h 576"/>
                <a:gd name="T86" fmla="*/ 127 w 708"/>
                <a:gd name="T87" fmla="*/ 0 h 576"/>
                <a:gd name="T88" fmla="*/ 0 w 708"/>
                <a:gd name="T89" fmla="*/ 0 h 5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99" name="Freeform 157">
              <a:extLst>
                <a:ext uri="{FF2B5EF4-FFF2-40B4-BE49-F238E27FC236}">
                  <a16:creationId xmlns:a16="http://schemas.microsoft.com/office/drawing/2014/main" id="{B3BEFE28-672C-4D8D-A6E2-11EA5D427C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35" y="3099"/>
              <a:ext cx="397" cy="323"/>
            </a:xfrm>
            <a:custGeom>
              <a:avLst/>
              <a:gdLst>
                <a:gd name="T0" fmla="*/ 0 w 708"/>
                <a:gd name="T1" fmla="*/ 0 h 576"/>
                <a:gd name="T2" fmla="*/ 10 w 708"/>
                <a:gd name="T3" fmla="*/ 22 h 576"/>
                <a:gd name="T4" fmla="*/ 22 w 708"/>
                <a:gd name="T5" fmla="*/ 53 h 576"/>
                <a:gd name="T6" fmla="*/ 30 w 708"/>
                <a:gd name="T7" fmla="*/ 88 h 576"/>
                <a:gd name="T8" fmla="*/ 37 w 708"/>
                <a:gd name="T9" fmla="*/ 127 h 576"/>
                <a:gd name="T10" fmla="*/ 41 w 708"/>
                <a:gd name="T11" fmla="*/ 159 h 576"/>
                <a:gd name="T12" fmla="*/ 39 w 708"/>
                <a:gd name="T13" fmla="*/ 190 h 576"/>
                <a:gd name="T14" fmla="*/ 33 w 708"/>
                <a:gd name="T15" fmla="*/ 224 h 576"/>
                <a:gd name="T16" fmla="*/ 25 w 708"/>
                <a:gd name="T17" fmla="*/ 257 h 576"/>
                <a:gd name="T18" fmla="*/ 16 w 708"/>
                <a:gd name="T19" fmla="*/ 287 h 576"/>
                <a:gd name="T20" fmla="*/ 0 w 708"/>
                <a:gd name="T21" fmla="*/ 321 h 576"/>
                <a:gd name="T22" fmla="*/ 118 w 708"/>
                <a:gd name="T23" fmla="*/ 323 h 576"/>
                <a:gd name="T24" fmla="*/ 167 w 708"/>
                <a:gd name="T25" fmla="*/ 320 h 576"/>
                <a:gd name="T26" fmla="*/ 192 w 708"/>
                <a:gd name="T27" fmla="*/ 318 h 576"/>
                <a:gd name="T28" fmla="*/ 210 w 708"/>
                <a:gd name="T29" fmla="*/ 313 h 576"/>
                <a:gd name="T30" fmla="*/ 229 w 708"/>
                <a:gd name="T31" fmla="*/ 308 h 576"/>
                <a:gd name="T32" fmla="*/ 250 w 708"/>
                <a:gd name="T33" fmla="*/ 299 h 576"/>
                <a:gd name="T34" fmla="*/ 273 w 708"/>
                <a:gd name="T35" fmla="*/ 289 h 576"/>
                <a:gd name="T36" fmla="*/ 295 w 708"/>
                <a:gd name="T37" fmla="*/ 275 h 576"/>
                <a:gd name="T38" fmla="*/ 310 w 708"/>
                <a:gd name="T39" fmla="*/ 264 h 576"/>
                <a:gd name="T40" fmla="*/ 324 w 708"/>
                <a:gd name="T41" fmla="*/ 251 h 576"/>
                <a:gd name="T42" fmla="*/ 339 w 708"/>
                <a:gd name="T43" fmla="*/ 236 h 576"/>
                <a:gd name="T44" fmla="*/ 352 w 708"/>
                <a:gd name="T45" fmla="*/ 223 h 576"/>
                <a:gd name="T46" fmla="*/ 365 w 708"/>
                <a:gd name="T47" fmla="*/ 207 h 576"/>
                <a:gd name="T48" fmla="*/ 381 w 708"/>
                <a:gd name="T49" fmla="*/ 187 h 576"/>
                <a:gd name="T50" fmla="*/ 397 w 708"/>
                <a:gd name="T51" fmla="*/ 160 h 576"/>
                <a:gd name="T52" fmla="*/ 382 w 708"/>
                <a:gd name="T53" fmla="*/ 137 h 576"/>
                <a:gd name="T54" fmla="*/ 369 w 708"/>
                <a:gd name="T55" fmla="*/ 118 h 576"/>
                <a:gd name="T56" fmla="*/ 358 w 708"/>
                <a:gd name="T57" fmla="*/ 104 h 576"/>
                <a:gd name="T58" fmla="*/ 345 w 708"/>
                <a:gd name="T59" fmla="*/ 90 h 576"/>
                <a:gd name="T60" fmla="*/ 332 w 708"/>
                <a:gd name="T61" fmla="*/ 77 h 576"/>
                <a:gd name="T62" fmla="*/ 321 w 708"/>
                <a:gd name="T63" fmla="*/ 67 h 576"/>
                <a:gd name="T64" fmla="*/ 310 w 708"/>
                <a:gd name="T65" fmla="*/ 58 h 576"/>
                <a:gd name="T66" fmla="*/ 296 w 708"/>
                <a:gd name="T67" fmla="*/ 48 h 576"/>
                <a:gd name="T68" fmla="*/ 284 w 708"/>
                <a:gd name="T69" fmla="*/ 40 h 576"/>
                <a:gd name="T70" fmla="*/ 269 w 708"/>
                <a:gd name="T71" fmla="*/ 33 h 576"/>
                <a:gd name="T72" fmla="*/ 253 w 708"/>
                <a:gd name="T73" fmla="*/ 24 h 576"/>
                <a:gd name="T74" fmla="*/ 233 w 708"/>
                <a:gd name="T75" fmla="*/ 16 h 576"/>
                <a:gd name="T76" fmla="*/ 216 w 708"/>
                <a:gd name="T77" fmla="*/ 11 h 576"/>
                <a:gd name="T78" fmla="*/ 196 w 708"/>
                <a:gd name="T79" fmla="*/ 6 h 576"/>
                <a:gd name="T80" fmla="*/ 176 w 708"/>
                <a:gd name="T81" fmla="*/ 3 h 576"/>
                <a:gd name="T82" fmla="*/ 156 w 708"/>
                <a:gd name="T83" fmla="*/ 1 h 576"/>
                <a:gd name="T84" fmla="*/ 142 w 708"/>
                <a:gd name="T85" fmla="*/ 1 h 576"/>
                <a:gd name="T86" fmla="*/ 127 w 708"/>
                <a:gd name="T87" fmla="*/ 0 h 576"/>
                <a:gd name="T88" fmla="*/ 0 w 708"/>
                <a:gd name="T89" fmla="*/ 0 h 5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0" name="Line 158">
              <a:extLst>
                <a:ext uri="{FF2B5EF4-FFF2-40B4-BE49-F238E27FC236}">
                  <a16:creationId xmlns:a16="http://schemas.microsoft.com/office/drawing/2014/main" id="{854496F7-7014-41F1-BFF4-FF51C8B84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8" y="3264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1" name="Line 160">
              <a:extLst>
                <a:ext uri="{FF2B5EF4-FFF2-40B4-BE49-F238E27FC236}">
                  <a16:creationId xmlns:a16="http://schemas.microsoft.com/office/drawing/2014/main" id="{F19937D8-7608-4F98-927E-63A3121DA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0" y="2928"/>
              <a:ext cx="1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2" name="Line 161">
              <a:extLst>
                <a:ext uri="{FF2B5EF4-FFF2-40B4-BE49-F238E27FC236}">
                  <a16:creationId xmlns:a16="http://schemas.microsoft.com/office/drawing/2014/main" id="{F84F3D6A-10FD-49E9-832A-361AC321E2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638" y="2951"/>
              <a:ext cx="2" cy="3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3" name="Line 162">
              <a:extLst>
                <a:ext uri="{FF2B5EF4-FFF2-40B4-BE49-F238E27FC236}">
                  <a16:creationId xmlns:a16="http://schemas.microsoft.com/office/drawing/2014/main" id="{4CE72427-1692-4576-BDAC-64843C67F3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640" y="3579"/>
              <a:ext cx="5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4" name="Line 164">
              <a:extLst>
                <a:ext uri="{FF2B5EF4-FFF2-40B4-BE49-F238E27FC236}">
                  <a16:creationId xmlns:a16="http://schemas.microsoft.com/office/drawing/2014/main" id="{3F46C6FE-BDD1-4588-A9C3-1F4E3DD5EE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641" y="3495"/>
              <a:ext cx="0" cy="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5" name="Line 165">
              <a:extLst>
                <a:ext uri="{FF2B5EF4-FFF2-40B4-BE49-F238E27FC236}">
                  <a16:creationId xmlns:a16="http://schemas.microsoft.com/office/drawing/2014/main" id="{9D6CE408-F78B-44FA-BEB6-920A406243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4" y="3500"/>
              <a:ext cx="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6" name="Oval 166">
              <a:extLst>
                <a:ext uri="{FF2B5EF4-FFF2-40B4-BE49-F238E27FC236}">
                  <a16:creationId xmlns:a16="http://schemas.microsoft.com/office/drawing/2014/main" id="{BC253FBF-1A70-40D0-A015-23718B563D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65" y="2834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3607" name="Oval 167">
              <a:extLst>
                <a:ext uri="{FF2B5EF4-FFF2-40B4-BE49-F238E27FC236}">
                  <a16:creationId xmlns:a16="http://schemas.microsoft.com/office/drawing/2014/main" id="{19DFF3D8-BF89-4F36-9ED9-793E439262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01" y="2938"/>
              <a:ext cx="41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3608" name="Line 169">
              <a:extLst>
                <a:ext uri="{FF2B5EF4-FFF2-40B4-BE49-F238E27FC236}">
                  <a16:creationId xmlns:a16="http://schemas.microsoft.com/office/drawing/2014/main" id="{133CAE30-152D-4E5D-A35B-93079C0E33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20" y="3747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09" name="Line 170">
              <a:extLst>
                <a:ext uri="{FF2B5EF4-FFF2-40B4-BE49-F238E27FC236}">
                  <a16:creationId xmlns:a16="http://schemas.microsoft.com/office/drawing/2014/main" id="{C553DE6A-AA9B-4D73-A01C-A5DB6CDEA6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726" y="2839"/>
              <a:ext cx="4" cy="9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565" name="Line 174">
            <a:extLst>
              <a:ext uri="{FF2B5EF4-FFF2-40B4-BE49-F238E27FC236}">
                <a16:creationId xmlns:a16="http://schemas.microsoft.com/office/drawing/2014/main" id="{120E7526-51DF-4E3C-BCCC-F0B2A9C78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5551" y="1931988"/>
            <a:ext cx="2627313" cy="4635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Ctr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6" name="Line 176">
            <a:extLst>
              <a:ext uri="{FF2B5EF4-FFF2-40B4-BE49-F238E27FC236}">
                <a16:creationId xmlns:a16="http://schemas.microsoft.com/office/drawing/2014/main" id="{8BCB0296-79B7-469D-A58B-59C190F87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1" y="2965451"/>
            <a:ext cx="1249363" cy="200501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Ctr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567" name="Group 182">
            <a:extLst>
              <a:ext uri="{FF2B5EF4-FFF2-40B4-BE49-F238E27FC236}">
                <a16:creationId xmlns:a16="http://schemas.microsoft.com/office/drawing/2014/main" id="{0D9374BE-696C-4481-960B-3847605AAE2D}"/>
              </a:ext>
            </a:extLst>
          </p:cNvPr>
          <p:cNvGrpSpPr>
            <a:grpSpLocks/>
          </p:cNvGrpSpPr>
          <p:nvPr/>
        </p:nvGrpSpPr>
        <p:grpSpPr bwMode="auto">
          <a:xfrm>
            <a:off x="3967163" y="1697038"/>
            <a:ext cx="654050" cy="519112"/>
            <a:chOff x="1539" y="1069"/>
            <a:chExt cx="412" cy="327"/>
          </a:xfrm>
        </p:grpSpPr>
        <p:sp>
          <p:nvSpPr>
            <p:cNvPr id="23568" name="Text Box 178">
              <a:extLst>
                <a:ext uri="{FF2B5EF4-FFF2-40B4-BE49-F238E27FC236}">
                  <a16:creationId xmlns:a16="http://schemas.microsoft.com/office/drawing/2014/main" id="{B5CA8B73-0F77-43FD-ADF6-C2FF8DD0D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" y="1069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3569" name="Line 179">
              <a:extLst>
                <a:ext uri="{FF2B5EF4-FFF2-40B4-BE49-F238E27FC236}">
                  <a16:creationId xmlns:a16="http://schemas.microsoft.com/office/drawing/2014/main" id="{F10AC415-5B33-4993-90AA-416549B75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1126"/>
              <a:ext cx="123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Ctr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38800888-B65C-4BB1-B2B0-2E56723E5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9AB34763-8CFB-4EB0-8F35-0F2627776504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8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23EBD16-10DE-4085-99D0-629E1592B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9964" y="1"/>
            <a:ext cx="8093075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Boolean Function Optimization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8DD5B2F-1A42-49B5-80CE-31AE7674D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27139"/>
            <a:ext cx="7772400" cy="5195887"/>
          </a:xfrm>
        </p:spPr>
        <p:txBody>
          <a:bodyPr/>
          <a:lstStyle/>
          <a:p>
            <a:r>
              <a:rPr lang="en-US" altLang="en-US" sz="2600" b="1"/>
              <a:t>Minimizing the gate input (or literal) cost of a (a set of) Boolean equation(s) reduces circuit cost.</a:t>
            </a:r>
          </a:p>
          <a:p>
            <a:r>
              <a:rPr lang="en-US" altLang="en-US" sz="2600" b="1"/>
              <a:t>We choose gate input cost.</a:t>
            </a:r>
          </a:p>
          <a:p>
            <a:r>
              <a:rPr lang="en-US" altLang="en-US" sz="2600" b="1"/>
              <a:t>Boolean Algebra and graphical techniques are tools to minimize cost criteria values.</a:t>
            </a:r>
          </a:p>
          <a:p>
            <a:r>
              <a:rPr lang="en-US" altLang="en-US" sz="2600" b="1"/>
              <a:t>Some important questions:</a:t>
            </a:r>
          </a:p>
          <a:p>
            <a:pPr lvl="1"/>
            <a:r>
              <a:rPr lang="en-US" altLang="en-US" sz="2200" b="1"/>
              <a:t>When do we stop trying to reduce the cost?</a:t>
            </a:r>
          </a:p>
          <a:p>
            <a:pPr lvl="1"/>
            <a:r>
              <a:rPr lang="en-US" altLang="en-US" sz="2200" b="1"/>
              <a:t>Do we know when we have a minimum cost?</a:t>
            </a:r>
          </a:p>
          <a:p>
            <a:r>
              <a:rPr lang="en-US" altLang="en-US" sz="2600" b="1"/>
              <a:t>Treat  optimum or near-optimum cost functions</a:t>
            </a:r>
            <a:br>
              <a:rPr lang="en-US" altLang="en-US" sz="2600" b="1"/>
            </a:br>
            <a:r>
              <a:rPr lang="en-US" altLang="en-US" sz="2600" b="1"/>
              <a:t>for two-level (SOP and POS) circuits first.</a:t>
            </a:r>
          </a:p>
          <a:p>
            <a:r>
              <a:rPr lang="en-US" altLang="en-US" sz="2600" b="1"/>
              <a:t>Introduce a graphical technique using Karnaugh maps (K-maps, for short)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5720" rIns="0" bIns="45720" numCol="1" anchor="t" anchorCtr="1" compatLnSpc="1">
        <a:prstTxWarp prst="textNoShape">
          <a:avLst/>
        </a:prstTxWarp>
        <a:spAutoFit/>
      </a:bodyPr>
      <a:lstStyle>
        <a:defPPr marL="742950" marR="0" indent="-28575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99"/>
          </a:buClr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5720" rIns="0" bIns="45720" numCol="1" anchor="t" anchorCtr="1" compatLnSpc="1">
        <a:prstTxWarp prst="textNoShape">
          <a:avLst/>
        </a:prstTxWarp>
        <a:spAutoFit/>
      </a:bodyPr>
      <a:lstStyle>
        <a:defPPr marL="742950" marR="0" indent="-28575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99"/>
          </a:buClr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Widescreen</PresentationFormat>
  <Paragraphs>128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Helvetica</vt:lpstr>
      <vt:lpstr>Times New Roman</vt:lpstr>
      <vt:lpstr>Wingdings</vt:lpstr>
      <vt:lpstr>Default Design</vt:lpstr>
      <vt:lpstr>PowerPoint Presentation</vt:lpstr>
      <vt:lpstr>Overview</vt:lpstr>
      <vt:lpstr>Circuit Optimization</vt:lpstr>
      <vt:lpstr> Literal Cost</vt:lpstr>
      <vt:lpstr> Gate Input Cost</vt:lpstr>
      <vt:lpstr> Cost Criteria (continued)</vt:lpstr>
      <vt:lpstr> Cost Criteria (continued)</vt:lpstr>
      <vt:lpstr>Boolean Function Optimization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Sultan Daud Khan</dc:creator>
  <cp:lastModifiedBy>Sultan Daud Khan</cp:lastModifiedBy>
  <cp:revision>1</cp:revision>
  <dcterms:created xsi:type="dcterms:W3CDTF">2020-05-13T12:09:02Z</dcterms:created>
  <dcterms:modified xsi:type="dcterms:W3CDTF">2020-05-13T12:09:14Z</dcterms:modified>
</cp:coreProperties>
</file>