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9" r:id="rId3"/>
    <p:sldId id="300" r:id="rId4"/>
    <p:sldId id="301" r:id="rId5"/>
    <p:sldId id="302" r:id="rId6"/>
    <p:sldId id="303" r:id="rId7"/>
    <p:sldId id="30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3" d="100"/>
          <a:sy n="83" d="100"/>
        </p:scale>
        <p:origin x="59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3E25-75B4-47DF-9609-44A10A80F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73D4A-27DD-4C1B-8801-4321F82FD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EDE7B-C3BE-4774-8B02-98A80A4E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370F5-0433-4C6C-A24D-BE74C097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A4C1B-6425-4022-8D3F-91AE498B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731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0931-3DA2-43E7-8D58-1F7F2B33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3D1AF-E1D3-46C6-90C9-BAE8F2A2E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FEB25-8F57-4971-9602-4910090D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04FD4-F9D6-4929-A0FA-AFA12FC5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B2D48-AE4E-46E9-B270-DA98D8E7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637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A213-F82D-478B-8C25-2237502A8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B11CA-39B9-4A5C-A9D3-C113F5EEE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664FE-C4B2-472B-89C4-F2DB607E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29474-4F79-4157-9B4A-F3F951F6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8D229-CD86-460C-BB1D-A714C287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98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D38E-0471-4479-BB6C-C27C7FC0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1CC0D-0EBD-4321-A9DF-02FAD231D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52E9E-8382-4E3F-AAF2-DE2830DA1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B476-416A-4BFA-B70C-93C36B56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1B95F-7267-430A-8600-901AD67E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0AB93-34DE-4D6C-9A25-DDECFF8D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66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93F9-B076-43C1-B9A2-09D633468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1BF9C-BAEF-4FBE-8CFD-5C4D71DC9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84D7B-3B81-42AC-92F8-55894A1D9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D0560-A57B-48E4-BE2A-C14334C39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8F296-BF47-43F1-9B39-11C087F7E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A8EEA-7764-40A0-B829-3DE8C192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7EE7F-C1C6-4998-BB6A-28CC49F8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16F8BB-17F3-44AD-B60B-BDE5C75B0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45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9D25-CC29-4EFD-A898-F18489AD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3ECB5-96AE-461C-A6FD-2B1AB92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A1F0E-F807-41EB-988C-9FC45E45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70BDB-D263-4D01-BA8C-8E299B09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22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DAFC2-5A0C-4446-A4D5-33BE4D05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9716CB-A4BA-4D82-A8A8-ACF7FC60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84231-6A72-4785-8F39-47A0CB8A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98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D414-B81D-4A13-B828-EC6F4335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E49F-4F08-48F7-AB64-1F5D0D51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5E8C5-B01E-45FF-98EA-CAB8E27D1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AD2CE-7959-43C2-88F7-317F785D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FBFF4-F238-4475-B363-2C1C4335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802E4-D429-4248-B7C4-06FCB611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97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B359-6CD9-4DFB-A95A-775B93F1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16FDD-88C9-4661-8048-2181A2D7C5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34502-422C-47C9-8F89-2B8AE3564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3FB8B-4067-4467-82A1-A4B572A1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3465B-69FE-4644-AFF9-E5A952C6D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D2D52-1F1F-4976-BBF9-54EAC821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0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6DAE-2B67-4BC4-B7A7-444AA8F5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D5C75-48D5-4559-8B19-123983FF4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53277-8064-4BF8-84C1-E406E7E8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695DF-22DB-4954-AAA1-20CEDB14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FB5E0-8731-4DC5-8242-97A8D935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21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EE63D-2BDC-41EF-B6C8-4D257FDAC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1CF35-8120-4F45-8460-E4C8DAB08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3C201-C1FC-44E2-A7D4-BBE1082B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741C0-8582-4924-B69B-C0B61D1B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D6AA-24AA-4BDB-87DF-3A514479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577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51">
            <a:extLst>
              <a:ext uri="{FF2B5EF4-FFF2-40B4-BE49-F238E27FC236}">
                <a16:creationId xmlns:a16="http://schemas.microsoft.com/office/drawing/2014/main" id="{DF0C208A-D23A-4A29-AD9C-08B617D3A1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200" b="1"/>
              <a:t>Charles Kime &amp; Thomas Kaminski</a:t>
            </a:r>
          </a:p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© 2004 Pearson Education, Inc.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2200">
                <a:cs typeface="Times New Roman" panose="02020603050405020304" pitchFamily="18" charset="0"/>
                <a:hlinkClick r:id="" action="ppaction://hlinkshowjump?jump=lastslide"/>
              </a:rPr>
              <a:t>Terms of Use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1800"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052">
            <a:extLst>
              <a:ext uri="{FF2B5EF4-FFF2-40B4-BE49-F238E27FC236}">
                <a16:creationId xmlns:a16="http://schemas.microsoft.com/office/drawing/2014/main" id="{54F69419-8F33-4445-A9DA-DA7D07A3AC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chemeClr val="hlink"/>
                </a:solidFill>
                <a:latin typeface="Helvetica" panose="020B0604020202020204" pitchFamily="34" charset="0"/>
              </a:rPr>
              <a:t>Chapter 2 – Combinational Logic Circuits</a:t>
            </a:r>
          </a:p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hlink"/>
                </a:solidFill>
                <a:latin typeface="Helvetica" panose="020B0604020202020204" pitchFamily="34" charset="0"/>
              </a:rPr>
              <a:t>Part 2 – Circuit Optimization</a:t>
            </a:r>
            <a:endParaRPr lang="en-US" altLang="en-US" sz="4000" b="1">
              <a:solidFill>
                <a:schemeClr val="hlink"/>
              </a:solidFill>
              <a:latin typeface="Helvetica" panose="020B0604020202020204" pitchFamily="34" charset="0"/>
            </a:endParaRPr>
          </a:p>
        </p:txBody>
      </p:sp>
      <p:sp>
        <p:nvSpPr>
          <p:cNvPr id="4" name="Text Box 1053">
            <a:extLst>
              <a:ext uri="{FF2B5EF4-FFF2-40B4-BE49-F238E27FC236}">
                <a16:creationId xmlns:a16="http://schemas.microsoft.com/office/drawing/2014/main" id="{C5F5D2DF-B538-4C32-B1C3-EE0F3EADD6C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3200" b="1"/>
              <a:t>Logic and Computer Design Fundamentals</a:t>
            </a:r>
          </a:p>
        </p:txBody>
      </p:sp>
      <p:sp>
        <p:nvSpPr>
          <p:cNvPr id="5" name="Line 1054">
            <a:extLst>
              <a:ext uri="{FF2B5EF4-FFF2-40B4-BE49-F238E27FC236}">
                <a16:creationId xmlns:a16="http://schemas.microsoft.com/office/drawing/2014/main" id="{A175E042-0DC0-4483-A35E-4B9405AF111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42475803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A98EB-1231-4673-838A-6FD925808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EBEB7459-6587-436B-A74A-89D22764A3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19358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C3ED9-DDC4-4C68-9FA9-860DADB2D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14000251-C9DC-45D9-A1D5-3B47D3346B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785654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1917" y="1303338"/>
            <a:ext cx="5080000" cy="5027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5117" y="1303338"/>
            <a:ext cx="5080000" cy="5027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73023-27C6-4952-8AC9-87F42D4A3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F569F07A-E262-4476-9FC1-62A6020793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88970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0056F-8DD3-42AB-B44A-9278F7AC9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F17DF6CD-D178-4BCC-865C-8F8221EF06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258464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D22F0-75A1-464F-B8EE-2053923D0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EA57E120-61D3-42AD-BDEE-D988FA140A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360199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9B5867-A78C-4108-B686-39B82B97A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8E3842A7-A383-4BD0-9C0A-B12892807B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32048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F265D-A38A-4046-ABCF-57A68A030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A5542BE7-599E-4B02-9CC7-261A676468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1888025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5034A-A401-48CE-B485-C79D6B53A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792A2B2B-3277-4650-BA4D-ECF5DA83DF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58100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8A35-2C75-4F99-82DE-7063ABFDA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22FF12F0-4F42-4E93-AEF1-FA840FCFE8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7694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0"/>
            <a:ext cx="2592917" cy="6330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1918" y="0"/>
            <a:ext cx="7579783" cy="63309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4EB87-3FCD-4CAD-80E7-F5A0317C5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1F3DA248-EF08-4ACA-97CB-2B2981DCC2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298137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284D7-8A36-4540-AD88-6208CADC1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0601E-EF62-4D57-A9D5-A95B587C1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53399-F31B-4063-8E8F-810F4D67E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4250A-77B9-4FA7-B8BC-E9470F320D0A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6E98E-E1F7-4755-84C1-3AC529218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562F5-08E0-4EC8-A44B-080C66BC9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7CF91-7397-49E7-A3D4-0EC4032C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27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7" descr="C:\Documents and Settings\Charles R Kime\My Documents\Texts\Website\PowerPoint_Slides\Work_Area\Chapter_01\watermark.jpg">
            <a:extLst>
              <a:ext uri="{FF2B5EF4-FFF2-40B4-BE49-F238E27FC236}">
                <a16:creationId xmlns:a16="http://schemas.microsoft.com/office/drawing/2014/main" id="{46FCB52D-A7B7-477E-ACFB-3E010A5837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48">
            <a:extLst>
              <a:ext uri="{FF2B5EF4-FFF2-40B4-BE49-F238E27FC236}">
                <a16:creationId xmlns:a16="http://schemas.microsoft.com/office/drawing/2014/main" id="{165304A2-57F2-4DFF-BCF0-57F7F57903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Font typeface="Wingdings" panose="05000000000000000000" pitchFamily="2" charset="2"/>
              <a:buNone/>
            </a:pPr>
            <a:endParaRPr lang="en-US" altLang="en-US" sz="2800" b="1">
              <a:solidFill>
                <a:schemeClr val="accent2"/>
              </a:solidFill>
            </a:endParaRPr>
          </a:p>
        </p:txBody>
      </p:sp>
      <p:sp>
        <p:nvSpPr>
          <p:cNvPr id="1074" name="Rectangle 50">
            <a:extLst>
              <a:ext uri="{FF2B5EF4-FFF2-40B4-BE49-F238E27FC236}">
                <a16:creationId xmlns:a16="http://schemas.microsoft.com/office/drawing/2014/main" id="{A643867C-402A-485A-A12B-8F21D74C18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83133" y="6489700"/>
            <a:ext cx="317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cs typeface="Times New Roman" panose="02020603050405020304" pitchFamily="18" charset="0"/>
              </a:defRPr>
            </a:lvl1pPr>
          </a:lstStyle>
          <a:p>
            <a:r>
              <a:rPr lang="en-US" altLang="en-US"/>
              <a:t>Chapter 2 - Part 2         </a:t>
            </a:r>
            <a:fld id="{315CF5BB-6FD2-41BE-A96A-D925FBCC06C3}" type="slidenum">
              <a:rPr lang="en-US" altLang="en-US">
                <a:cs typeface="+mn-cs"/>
              </a:rPr>
              <a:pPr/>
              <a:t>‹#›</a:t>
            </a:fld>
            <a:endParaRPr lang="en-US" altLang="en-US">
              <a:cs typeface="+mn-cs"/>
            </a:endParaRPr>
          </a:p>
        </p:txBody>
      </p:sp>
      <p:sp>
        <p:nvSpPr>
          <p:cNvPr id="1029" name="Line 51">
            <a:extLst>
              <a:ext uri="{FF2B5EF4-FFF2-40B4-BE49-F238E27FC236}">
                <a16:creationId xmlns:a16="http://schemas.microsoft.com/office/drawing/2014/main" id="{7F41B747-B841-404A-A9EE-C9F87D7C885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/>
          </a:p>
        </p:txBody>
      </p:sp>
      <p:sp>
        <p:nvSpPr>
          <p:cNvPr id="1030" name="Rectangle 52">
            <a:extLst>
              <a:ext uri="{FF2B5EF4-FFF2-40B4-BE49-F238E27FC236}">
                <a16:creationId xmlns:a16="http://schemas.microsoft.com/office/drawing/2014/main" id="{3FCB5002-3877-49B0-A52E-C131B9AC8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Rectangle 54">
            <a:extLst>
              <a:ext uri="{FF2B5EF4-FFF2-40B4-BE49-F238E27FC236}">
                <a16:creationId xmlns:a16="http://schemas.microsoft.com/office/drawing/2014/main" id="{4F8ECDFC-4B76-40E2-B171-5176BEBFF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1917" y="1303338"/>
            <a:ext cx="10363200" cy="502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519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id="{F7C360EF-4B21-43D3-B23C-C65E068E6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071858CA-54D7-4FA6-8556-AADA9450163F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1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0A0DD63F-4F40-45AF-B878-61559B23E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Karnaugh Maps (K-map)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2D4805F-0975-446C-AC69-B25B3BBF0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325564"/>
            <a:ext cx="8108950" cy="51958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 dirty="0">
                <a:cs typeface="Times New Roman" panose="02020603050405020304" pitchFamily="18" charset="0"/>
              </a:rPr>
              <a:t>A K-map is a collection of squares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cs typeface="Times New Roman" panose="02020603050405020304" pitchFamily="18" charset="0"/>
              </a:rPr>
              <a:t>The collection of squares is a graphical representation of a Boolean function</a:t>
            </a:r>
          </a:p>
          <a:p>
            <a:pPr lvl="1">
              <a:lnSpc>
                <a:spcPct val="90000"/>
              </a:lnSpc>
              <a:buSzPct val="125000"/>
            </a:pPr>
            <a:r>
              <a:rPr lang="en-US" altLang="en-US" sz="2400" b="1" dirty="0">
                <a:cs typeface="Times New Roman" panose="02020603050405020304" pitchFamily="18" charset="0"/>
              </a:rPr>
              <a:t>Each square represents a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minterm</a:t>
            </a:r>
            <a:endParaRPr lang="en-US" altLang="en-US" sz="2400" b="1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SzPct val="125000"/>
            </a:pPr>
            <a:r>
              <a:rPr lang="en-US" altLang="en-US" sz="2400" b="1" dirty="0">
                <a:cs typeface="Times New Roman" panose="02020603050405020304" pitchFamily="18" charset="0"/>
              </a:rPr>
              <a:t>Adjacent squares differ in the value of one variable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cs typeface="Times New Roman" panose="02020603050405020304" pitchFamily="18" charset="0"/>
              </a:rPr>
              <a:t>The K-map can be viewed as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A reorganized version of the truth table</a:t>
            </a:r>
          </a:p>
        </p:txBody>
      </p:sp>
    </p:spTree>
    <p:custDataLst>
      <p:tags r:id="rId1"/>
    </p:custDataLst>
  </p:cSld>
  <p:clrMapOvr>
    <a:masterClrMapping/>
  </p:clrMapOvr>
  <p:transition advTm="45082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49216DFB-9AD0-44ED-8E80-30DAE392D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23570F2F-6A8E-4FDB-8550-A959AA2D7C2C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2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C07FCE5-60FA-4EF5-92CF-D3F737AC8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r>
              <a:rPr lang="en-US" altLang="en-US" b="1"/>
              <a:t>Some Uses of K-Maps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8DA7D88-655A-4EBC-9940-3D091101E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438" y="1322388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Provide a means for: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Finding optimum or near optimum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SOP and POS standard forms, and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Visualizing concepts related to manipulating Boolean expressions, and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Demonstrating concepts used by computer-aided design programs to simplify large circuits</a:t>
            </a:r>
          </a:p>
        </p:txBody>
      </p:sp>
    </p:spTree>
    <p:custDataLst>
      <p:tags r:id="rId1"/>
    </p:custDataLst>
  </p:cSld>
  <p:clrMapOvr>
    <a:masterClrMapping/>
  </p:clrMapOvr>
  <p:transition advTm="1713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6E700488-73DF-43F6-B2EA-CD596E9DD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1F52D944-3C19-401A-8FF8-F50C57B233BF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3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F29606D-E2A9-47B8-A09E-8B5BDDE89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Two Variable Maps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23671AA-45BE-4BCE-A90B-42E14CCE3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1550" y="1249364"/>
            <a:ext cx="7772400" cy="519588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746125" algn="l"/>
              </a:tabLst>
            </a:pPr>
            <a:r>
              <a:rPr lang="en-US" altLang="en-US" sz="2800" b="1" dirty="0"/>
              <a:t>A 2-variable Karnaugh Map:</a:t>
            </a:r>
          </a:p>
          <a:p>
            <a:pPr lvl="1">
              <a:lnSpc>
                <a:spcPct val="90000"/>
              </a:lnSpc>
              <a:buSzPct val="125000"/>
              <a:tabLst>
                <a:tab pos="746125" algn="l"/>
              </a:tabLst>
            </a:pPr>
            <a:r>
              <a:rPr lang="en-US" altLang="en-US" b="1" dirty="0">
                <a:cs typeface="Times New Roman" panose="02020603050405020304" pitchFamily="18" charset="0"/>
              </a:rPr>
              <a:t>Note that </a:t>
            </a:r>
            <a:r>
              <a:rPr lang="en-US" altLang="en-US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b="1" dirty="0">
                <a:cs typeface="Times New Roman" panose="02020603050405020304" pitchFamily="18" charset="0"/>
              </a:rPr>
              <a:t> m0 and</a:t>
            </a:r>
          </a:p>
          <a:p>
            <a:pPr lvl="1">
              <a:lnSpc>
                <a:spcPct val="90000"/>
              </a:lnSpc>
              <a:buSzPct val="125000"/>
              <a:buNone/>
              <a:tabLst>
                <a:tab pos="746125" algn="l"/>
              </a:tabLst>
            </a:pPr>
            <a:r>
              <a:rPr lang="en-US" altLang="en-US" b="1" dirty="0">
                <a:cs typeface="Times New Roman" panose="02020603050405020304" pitchFamily="18" charset="0"/>
              </a:rPr>
              <a:t>	</a:t>
            </a:r>
            <a:r>
              <a:rPr lang="en-US" altLang="en-US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b="1" dirty="0">
                <a:cs typeface="Times New Roman" panose="02020603050405020304" pitchFamily="18" charset="0"/>
              </a:rPr>
              <a:t> m1 are “adjacent”</a:t>
            </a:r>
          </a:p>
          <a:p>
            <a:pPr lvl="1">
              <a:lnSpc>
                <a:spcPct val="90000"/>
              </a:lnSpc>
              <a:buSzPct val="125000"/>
              <a:buNone/>
              <a:tabLst>
                <a:tab pos="746125" algn="l"/>
              </a:tabLst>
            </a:pPr>
            <a:r>
              <a:rPr lang="en-US" altLang="en-US" b="1" dirty="0">
                <a:cs typeface="Times New Roman" panose="02020603050405020304" pitchFamily="18" charset="0"/>
              </a:rPr>
              <a:t>	and differ in the value of the</a:t>
            </a:r>
          </a:p>
          <a:p>
            <a:pPr lvl="1">
              <a:lnSpc>
                <a:spcPct val="90000"/>
              </a:lnSpc>
              <a:buSzPct val="125000"/>
              <a:buNone/>
              <a:tabLst>
                <a:tab pos="746125" algn="l"/>
              </a:tabLst>
            </a:pPr>
            <a:r>
              <a:rPr lang="en-US" altLang="en-US" b="1" dirty="0">
                <a:cs typeface="Times New Roman" panose="02020603050405020304" pitchFamily="18" charset="0"/>
              </a:rPr>
              <a:t>	variable y</a:t>
            </a:r>
          </a:p>
          <a:p>
            <a:pPr lvl="1">
              <a:lnSpc>
                <a:spcPct val="90000"/>
              </a:lnSpc>
              <a:buSzPct val="125000"/>
              <a:tabLst>
                <a:tab pos="746125" algn="l"/>
              </a:tabLst>
            </a:pPr>
            <a:r>
              <a:rPr lang="en-US" altLang="en-US" b="1" dirty="0">
                <a:cs typeface="Times New Roman" panose="02020603050405020304" pitchFamily="18" charset="0"/>
              </a:rPr>
              <a:t>Similarly, </a:t>
            </a:r>
            <a:r>
              <a:rPr lang="en-US" altLang="en-US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b="1" dirty="0">
                <a:cs typeface="Times New Roman" panose="02020603050405020304" pitchFamily="18" charset="0"/>
              </a:rPr>
              <a:t> m0 and</a:t>
            </a:r>
          </a:p>
          <a:p>
            <a:pPr lvl="1">
              <a:lnSpc>
                <a:spcPct val="90000"/>
              </a:lnSpc>
              <a:buSzPct val="125000"/>
              <a:buNone/>
              <a:tabLst>
                <a:tab pos="746125" algn="l"/>
              </a:tabLst>
            </a:pPr>
            <a:r>
              <a:rPr lang="en-US" altLang="en-US" sz="3200" b="1" dirty="0">
                <a:cs typeface="Times New Roman" panose="02020603050405020304" pitchFamily="18" charset="0"/>
              </a:rPr>
              <a:t>   </a:t>
            </a:r>
            <a:r>
              <a:rPr lang="en-US" altLang="en-US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b="1" dirty="0">
                <a:cs typeface="Times New Roman" panose="02020603050405020304" pitchFamily="18" charset="0"/>
              </a:rPr>
              <a:t> m2 differ in the x variable.</a:t>
            </a:r>
          </a:p>
          <a:p>
            <a:pPr lvl="1">
              <a:lnSpc>
                <a:spcPct val="90000"/>
              </a:lnSpc>
              <a:buSzPct val="125000"/>
              <a:tabLst>
                <a:tab pos="746125" algn="l"/>
              </a:tabLst>
            </a:pPr>
            <a:r>
              <a:rPr lang="en-US" altLang="en-US" b="1" dirty="0">
                <a:cs typeface="Times New Roman" panose="02020603050405020304" pitchFamily="18" charset="0"/>
              </a:rPr>
              <a:t>Also, m1 and m3 differ in the x variable as well.  </a:t>
            </a:r>
          </a:p>
          <a:p>
            <a:pPr lvl="1">
              <a:lnSpc>
                <a:spcPct val="90000"/>
              </a:lnSpc>
              <a:buSzPct val="125000"/>
              <a:tabLst>
                <a:tab pos="746125" algn="l"/>
              </a:tabLst>
            </a:pPr>
            <a:r>
              <a:rPr lang="en-US" altLang="en-US" b="1" dirty="0">
                <a:cs typeface="Times New Roman" panose="02020603050405020304" pitchFamily="18" charset="0"/>
              </a:rPr>
              <a:t>Finally, m2 and m3 differ in the value of the variable y</a:t>
            </a:r>
            <a:endParaRPr lang="en-US" altLang="en-US" b="1" dirty="0"/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5830082E-8CC4-4E6C-9DE5-46795A974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456113"/>
            <a:ext cx="3206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</a:pPr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>
              <a:solidFill>
                <a:srgbClr val="000000"/>
              </a:solidFill>
            </a:endParaRPr>
          </a:p>
        </p:txBody>
      </p:sp>
      <p:pic>
        <p:nvPicPr>
          <p:cNvPr id="3" name="Picture 2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6BB4031B-9C06-4756-8796-60B5C21E1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504" y="1249364"/>
            <a:ext cx="3278359" cy="29207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62952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AACE8F63-4DA2-4A6A-9514-3E7573B8F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7A9B89A2-2432-404E-80CC-D1EEB3A63C32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4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F2CAC9A-7353-483A-8272-FEAD99481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K-Map and Truth Tables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D5C7179-0BE8-455B-9A53-842F54A17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 dirty="0">
                <a:cs typeface="Times New Roman" panose="02020603050405020304" pitchFamily="18" charset="0"/>
              </a:rPr>
              <a:t>The K-Map is just a different form of the truth table. </a:t>
            </a:r>
          </a:p>
          <a:p>
            <a:r>
              <a:rPr lang="en-US" altLang="en-US" sz="2400" b="1" dirty="0">
                <a:cs typeface="Times New Roman" panose="02020603050405020304" pitchFamily="18" charset="0"/>
              </a:rPr>
              <a:t>Example – Two variable function:</a:t>
            </a:r>
          </a:p>
          <a:p>
            <a:pPr lvl="1">
              <a:buSzPct val="125000"/>
            </a:pPr>
            <a:r>
              <a:rPr lang="en-US" altLang="en-US" sz="2400" b="1" dirty="0">
                <a:cs typeface="Times New Roman" panose="02020603050405020304" pitchFamily="18" charset="0"/>
              </a:rPr>
              <a:t>We choose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a,b,c</a:t>
            </a:r>
            <a:r>
              <a:rPr lang="en-US" altLang="en-US" sz="2400" b="1" dirty="0">
                <a:cs typeface="Times New Roman" panose="02020603050405020304" pitchFamily="18" charset="0"/>
              </a:rPr>
              <a:t> and d from the set {0,1} to implement a particular function, F(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x,y</a:t>
            </a:r>
            <a:r>
              <a:rPr lang="en-US" altLang="en-US" sz="2400" b="1" dirty="0">
                <a:cs typeface="Times New Roman" panose="02020603050405020304" pitchFamily="18" charset="0"/>
              </a:rPr>
              <a:t>).</a:t>
            </a:r>
            <a:r>
              <a:rPr lang="en-US" altLang="en-US" dirty="0"/>
              <a:t> </a:t>
            </a:r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4668448D-D7A7-4C78-B64D-130EBF2C2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9563" y="288131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</a:pPr>
            <a:r>
              <a:rPr lang="en-US" altLang="en-US" b="1" dirty="0">
                <a:solidFill>
                  <a:srgbClr val="000000"/>
                </a:solidFill>
              </a:rPr>
              <a:t>Function Table</a:t>
            </a:r>
          </a:p>
        </p:txBody>
      </p:sp>
      <p:sp>
        <p:nvSpPr>
          <p:cNvPr id="29702" name="Text Box 5">
            <a:extLst>
              <a:ext uri="{FF2B5EF4-FFF2-40B4-BE49-F238E27FC236}">
                <a16:creationId xmlns:a16="http://schemas.microsoft.com/office/drawing/2014/main" id="{4261ABF4-3CE7-4AB6-9339-C6BE2C972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8" y="2879726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</a:pPr>
            <a:r>
              <a:rPr lang="en-US" altLang="en-US" b="1" dirty="0">
                <a:solidFill>
                  <a:srgbClr val="000000"/>
                </a:solidFill>
              </a:rPr>
              <a:t>K-Map</a:t>
            </a:r>
          </a:p>
        </p:txBody>
      </p:sp>
      <p:grpSp>
        <p:nvGrpSpPr>
          <p:cNvPr id="29703" name="Group 6">
            <a:extLst>
              <a:ext uri="{FF2B5EF4-FFF2-40B4-BE49-F238E27FC236}">
                <a16:creationId xmlns:a16="http://schemas.microsoft.com/office/drawing/2014/main" id="{88BDE5C2-E8FB-4AC9-9AA2-0C63E62E9408}"/>
              </a:ext>
            </a:extLst>
          </p:cNvPr>
          <p:cNvGrpSpPr>
            <a:grpSpLocks/>
          </p:cNvGrpSpPr>
          <p:nvPr/>
        </p:nvGrpSpPr>
        <p:grpSpPr bwMode="auto">
          <a:xfrm>
            <a:off x="2346326" y="3443289"/>
            <a:ext cx="3497263" cy="3062287"/>
            <a:chOff x="518" y="2083"/>
            <a:chExt cx="2203" cy="1929"/>
          </a:xfrm>
        </p:grpSpPr>
        <p:sp>
          <p:nvSpPr>
            <p:cNvPr id="29730" name="Rectangle 7">
              <a:extLst>
                <a:ext uri="{FF2B5EF4-FFF2-40B4-BE49-F238E27FC236}">
                  <a16:creationId xmlns:a16="http://schemas.microsoft.com/office/drawing/2014/main" id="{CBE2FB9C-F6A3-40B8-8B5C-2338D452E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" y="2109"/>
              <a:ext cx="52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Input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1" name="Rectangle 8">
              <a:extLst>
                <a:ext uri="{FF2B5EF4-FFF2-40B4-BE49-F238E27FC236}">
                  <a16:creationId xmlns:a16="http://schemas.microsoft.com/office/drawing/2014/main" id="{7E2931DD-8FCC-446D-9F11-B30535276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" y="2346"/>
              <a:ext cx="57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Values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2" name="Rectangle 9">
              <a:extLst>
                <a:ext uri="{FF2B5EF4-FFF2-40B4-BE49-F238E27FC236}">
                  <a16:creationId xmlns:a16="http://schemas.microsoft.com/office/drawing/2014/main" id="{BDE46147-FB63-4AA3-9B33-DD448D02E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" y="234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3" name="Rectangle 10">
              <a:extLst>
                <a:ext uri="{FF2B5EF4-FFF2-40B4-BE49-F238E27FC236}">
                  <a16:creationId xmlns:a16="http://schemas.microsoft.com/office/drawing/2014/main" id="{495588A1-D8A1-45C5-BABC-EFCA4997C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" y="2584"/>
              <a:ext cx="3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(x,y)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4" name="Rectangle 11">
              <a:extLst>
                <a:ext uri="{FF2B5EF4-FFF2-40B4-BE49-F238E27FC236}">
                  <a16:creationId xmlns:a16="http://schemas.microsoft.com/office/drawing/2014/main" id="{79256DA4-0E9F-4F14-993A-B2260B705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2" y="2584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5" name="Rectangle 12">
              <a:extLst>
                <a:ext uri="{FF2B5EF4-FFF2-40B4-BE49-F238E27FC236}">
                  <a16:creationId xmlns:a16="http://schemas.microsoft.com/office/drawing/2014/main" id="{11C27D07-DB71-4C9D-8387-B9FB1852A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109"/>
              <a:ext cx="81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Function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6" name="Rectangle 13">
              <a:extLst>
                <a:ext uri="{FF2B5EF4-FFF2-40B4-BE49-F238E27FC236}">
                  <a16:creationId xmlns:a16="http://schemas.microsoft.com/office/drawing/2014/main" id="{5F74DC64-128C-461C-A86C-760FA826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2346"/>
              <a:ext cx="5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Value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7" name="Rectangle 14">
              <a:extLst>
                <a:ext uri="{FF2B5EF4-FFF2-40B4-BE49-F238E27FC236}">
                  <a16:creationId xmlns:a16="http://schemas.microsoft.com/office/drawing/2014/main" id="{53595ADA-E9BB-4C0D-948E-05C5B4BEA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234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8" name="Rectangle 15">
              <a:extLst>
                <a:ext uri="{FF2B5EF4-FFF2-40B4-BE49-F238E27FC236}">
                  <a16:creationId xmlns:a16="http://schemas.microsoft.com/office/drawing/2014/main" id="{E7DD8B00-0983-470F-AF09-D81C02FBB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2584"/>
              <a:ext cx="50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F(x,y)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39" name="Rectangle 16">
              <a:extLst>
                <a:ext uri="{FF2B5EF4-FFF2-40B4-BE49-F238E27FC236}">
                  <a16:creationId xmlns:a16="http://schemas.microsoft.com/office/drawing/2014/main" id="{6AFE2566-070F-47C7-8C63-9B8B163A6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584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40" name="Rectangle 17">
              <a:extLst>
                <a:ext uri="{FF2B5EF4-FFF2-40B4-BE49-F238E27FC236}">
                  <a16:creationId xmlns:a16="http://schemas.microsoft.com/office/drawing/2014/main" id="{6C534B6B-CE7D-4222-9B39-A50684A4D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2083"/>
              <a:ext cx="19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41" name="Line 18">
              <a:extLst>
                <a:ext uri="{FF2B5EF4-FFF2-40B4-BE49-F238E27FC236}">
                  <a16:creationId xmlns:a16="http://schemas.microsoft.com/office/drawing/2014/main" id="{BAFA9024-457E-4B54-BA7C-DA2F566BC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2083"/>
              <a:ext cx="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2" name="Line 19">
              <a:extLst>
                <a:ext uri="{FF2B5EF4-FFF2-40B4-BE49-F238E27FC236}">
                  <a16:creationId xmlns:a16="http://schemas.microsoft.com/office/drawing/2014/main" id="{F912DBBE-4C27-4C09-A587-F20953A1D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2083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3" name="Rectangle 20">
              <a:extLst>
                <a:ext uri="{FF2B5EF4-FFF2-40B4-BE49-F238E27FC236}">
                  <a16:creationId xmlns:a16="http://schemas.microsoft.com/office/drawing/2014/main" id="{1D9EE090-586F-4ADE-BB82-1D0762E9C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2083"/>
              <a:ext cx="19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44" name="Line 21">
              <a:extLst>
                <a:ext uri="{FF2B5EF4-FFF2-40B4-BE49-F238E27FC236}">
                  <a16:creationId xmlns:a16="http://schemas.microsoft.com/office/drawing/2014/main" id="{414FB5D4-D6FE-4EB8-B8A9-D29320ABC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2083"/>
              <a:ext cx="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5" name="Line 22">
              <a:extLst>
                <a:ext uri="{FF2B5EF4-FFF2-40B4-BE49-F238E27FC236}">
                  <a16:creationId xmlns:a16="http://schemas.microsoft.com/office/drawing/2014/main" id="{14E2EA7B-3FDA-437A-AE8F-24C72A9B6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2083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6" name="Rectangle 23">
              <a:extLst>
                <a:ext uri="{FF2B5EF4-FFF2-40B4-BE49-F238E27FC236}">
                  <a16:creationId xmlns:a16="http://schemas.microsoft.com/office/drawing/2014/main" id="{724DB0E1-AB34-4EE7-BA41-4E33EC86C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2083"/>
              <a:ext cx="89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47" name="Line 24">
              <a:extLst>
                <a:ext uri="{FF2B5EF4-FFF2-40B4-BE49-F238E27FC236}">
                  <a16:creationId xmlns:a16="http://schemas.microsoft.com/office/drawing/2014/main" id="{0432B037-3AB8-4A76-A1E7-BE2BFB0A8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" y="2083"/>
              <a:ext cx="89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8" name="Rectangle 25">
              <a:extLst>
                <a:ext uri="{FF2B5EF4-FFF2-40B4-BE49-F238E27FC236}">
                  <a16:creationId xmlns:a16="http://schemas.microsoft.com/office/drawing/2014/main" id="{10058B06-850A-47E0-9D35-F64D98857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2083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49" name="Line 26">
              <a:extLst>
                <a:ext uri="{FF2B5EF4-FFF2-40B4-BE49-F238E27FC236}">
                  <a16:creationId xmlns:a16="http://schemas.microsoft.com/office/drawing/2014/main" id="{BB20BD8E-698A-4089-870D-2084A9BC5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2083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0" name="Line 27">
              <a:extLst>
                <a:ext uri="{FF2B5EF4-FFF2-40B4-BE49-F238E27FC236}">
                  <a16:creationId xmlns:a16="http://schemas.microsoft.com/office/drawing/2014/main" id="{D194BE60-7571-45EA-BB8D-4BDC77512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2083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1" name="Rectangle 28">
              <a:extLst>
                <a:ext uri="{FF2B5EF4-FFF2-40B4-BE49-F238E27FC236}">
                  <a16:creationId xmlns:a16="http://schemas.microsoft.com/office/drawing/2014/main" id="{17578029-6183-46C9-90EC-529977B89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083"/>
              <a:ext cx="987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52" name="Line 29">
              <a:extLst>
                <a:ext uri="{FF2B5EF4-FFF2-40B4-BE49-F238E27FC236}">
                  <a16:creationId xmlns:a16="http://schemas.microsoft.com/office/drawing/2014/main" id="{07AD7358-3CDC-4DB1-B9A7-7A96642CB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2083"/>
              <a:ext cx="9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3" name="Rectangle 30">
              <a:extLst>
                <a:ext uri="{FF2B5EF4-FFF2-40B4-BE49-F238E27FC236}">
                  <a16:creationId xmlns:a16="http://schemas.microsoft.com/office/drawing/2014/main" id="{69E09936-F845-4042-8893-9A312A1E8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2083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54" name="Line 31">
              <a:extLst>
                <a:ext uri="{FF2B5EF4-FFF2-40B4-BE49-F238E27FC236}">
                  <a16:creationId xmlns:a16="http://schemas.microsoft.com/office/drawing/2014/main" id="{542F7AA3-1453-405D-B8DF-2538202EC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2083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5" name="Line 32">
              <a:extLst>
                <a:ext uri="{FF2B5EF4-FFF2-40B4-BE49-F238E27FC236}">
                  <a16:creationId xmlns:a16="http://schemas.microsoft.com/office/drawing/2014/main" id="{E523753D-6354-4459-B4B7-7E60BAE5F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2083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6" name="Rectangle 33">
              <a:extLst>
                <a:ext uri="{FF2B5EF4-FFF2-40B4-BE49-F238E27FC236}">
                  <a16:creationId xmlns:a16="http://schemas.microsoft.com/office/drawing/2014/main" id="{AC4BC5EE-0920-4D34-A0AA-D13F1869F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2083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57" name="Line 34">
              <a:extLst>
                <a:ext uri="{FF2B5EF4-FFF2-40B4-BE49-F238E27FC236}">
                  <a16:creationId xmlns:a16="http://schemas.microsoft.com/office/drawing/2014/main" id="{BCCDEEF7-FB48-4446-82EC-7DFD60886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2083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8" name="Line 35">
              <a:extLst>
                <a:ext uri="{FF2B5EF4-FFF2-40B4-BE49-F238E27FC236}">
                  <a16:creationId xmlns:a16="http://schemas.microsoft.com/office/drawing/2014/main" id="{708D1517-C63E-45F8-A62B-B9CE17B05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2083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9" name="Rectangle 36">
              <a:extLst>
                <a:ext uri="{FF2B5EF4-FFF2-40B4-BE49-F238E27FC236}">
                  <a16:creationId xmlns:a16="http://schemas.microsoft.com/office/drawing/2014/main" id="{2E2AA7EA-006A-498C-ACEB-26BF7EF52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2101"/>
              <a:ext cx="19" cy="76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60" name="Line 37">
              <a:extLst>
                <a:ext uri="{FF2B5EF4-FFF2-40B4-BE49-F238E27FC236}">
                  <a16:creationId xmlns:a16="http://schemas.microsoft.com/office/drawing/2014/main" id="{72118F02-E07A-4C60-9A59-4DD758FB9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2101"/>
              <a:ext cx="1" cy="76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61" name="Rectangle 38">
              <a:extLst>
                <a:ext uri="{FF2B5EF4-FFF2-40B4-BE49-F238E27FC236}">
                  <a16:creationId xmlns:a16="http://schemas.microsoft.com/office/drawing/2014/main" id="{FE270D9C-1D04-4F4E-B985-69E12218C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2101"/>
              <a:ext cx="18" cy="76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62" name="Line 39">
              <a:extLst>
                <a:ext uri="{FF2B5EF4-FFF2-40B4-BE49-F238E27FC236}">
                  <a16:creationId xmlns:a16="http://schemas.microsoft.com/office/drawing/2014/main" id="{80D2D630-40AD-47C4-BCE2-9FAB17959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2101"/>
              <a:ext cx="1" cy="76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63" name="Rectangle 40">
              <a:extLst>
                <a:ext uri="{FF2B5EF4-FFF2-40B4-BE49-F238E27FC236}">
                  <a16:creationId xmlns:a16="http://schemas.microsoft.com/office/drawing/2014/main" id="{6F471F79-F4A6-4D92-8CEE-7DB25B89D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2101"/>
              <a:ext cx="18" cy="76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64" name="Line 41">
              <a:extLst>
                <a:ext uri="{FF2B5EF4-FFF2-40B4-BE49-F238E27FC236}">
                  <a16:creationId xmlns:a16="http://schemas.microsoft.com/office/drawing/2014/main" id="{B1D312F4-7353-464A-B298-8295B564D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2101"/>
              <a:ext cx="1" cy="76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65" name="Rectangle 42">
              <a:extLst>
                <a:ext uri="{FF2B5EF4-FFF2-40B4-BE49-F238E27FC236}">
                  <a16:creationId xmlns:a16="http://schemas.microsoft.com/office/drawing/2014/main" id="{4588D328-9B1D-4430-929E-929E57CF2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2889"/>
              <a:ext cx="2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0 0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66" name="Rectangle 43">
              <a:extLst>
                <a:ext uri="{FF2B5EF4-FFF2-40B4-BE49-F238E27FC236}">
                  <a16:creationId xmlns:a16="http://schemas.microsoft.com/office/drawing/2014/main" id="{7FAC515A-8726-4237-9EB7-02DBA7EE6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889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67" name="Rectangle 44">
              <a:extLst>
                <a:ext uri="{FF2B5EF4-FFF2-40B4-BE49-F238E27FC236}">
                  <a16:creationId xmlns:a16="http://schemas.microsoft.com/office/drawing/2014/main" id="{149CF7F9-5A4C-4FEC-A40C-D705563B9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2889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a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68" name="Rectangle 45">
              <a:extLst>
                <a:ext uri="{FF2B5EF4-FFF2-40B4-BE49-F238E27FC236}">
                  <a16:creationId xmlns:a16="http://schemas.microsoft.com/office/drawing/2014/main" id="{2FEEFFCE-7CB6-448B-8C1C-ED7A520A2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2889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69" name="Rectangle 46">
              <a:extLst>
                <a:ext uri="{FF2B5EF4-FFF2-40B4-BE49-F238E27FC236}">
                  <a16:creationId xmlns:a16="http://schemas.microsoft.com/office/drawing/2014/main" id="{8080614F-015B-444F-A395-6B2405D4E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2863"/>
              <a:ext cx="19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70" name="Line 47">
              <a:extLst>
                <a:ext uri="{FF2B5EF4-FFF2-40B4-BE49-F238E27FC236}">
                  <a16:creationId xmlns:a16="http://schemas.microsoft.com/office/drawing/2014/main" id="{CDE64A92-021D-46E9-A2B7-409544387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2863"/>
              <a:ext cx="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71" name="Line 48">
              <a:extLst>
                <a:ext uri="{FF2B5EF4-FFF2-40B4-BE49-F238E27FC236}">
                  <a16:creationId xmlns:a16="http://schemas.microsoft.com/office/drawing/2014/main" id="{EDD49768-CF76-4072-BE9F-0F900B611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2863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72" name="Rectangle 49">
              <a:extLst>
                <a:ext uri="{FF2B5EF4-FFF2-40B4-BE49-F238E27FC236}">
                  <a16:creationId xmlns:a16="http://schemas.microsoft.com/office/drawing/2014/main" id="{DE62CEA4-88C6-4971-A0D5-85FE2E29A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2863"/>
              <a:ext cx="89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73" name="Line 50">
              <a:extLst>
                <a:ext uri="{FF2B5EF4-FFF2-40B4-BE49-F238E27FC236}">
                  <a16:creationId xmlns:a16="http://schemas.microsoft.com/office/drawing/2014/main" id="{467C1A11-A3EF-4595-8751-865233A35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" y="2863"/>
              <a:ext cx="89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74" name="Rectangle 51">
              <a:extLst>
                <a:ext uri="{FF2B5EF4-FFF2-40B4-BE49-F238E27FC236}">
                  <a16:creationId xmlns:a16="http://schemas.microsoft.com/office/drawing/2014/main" id="{AD12E1B3-3558-40C7-A292-A1230BD90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2863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75" name="Line 52">
              <a:extLst>
                <a:ext uri="{FF2B5EF4-FFF2-40B4-BE49-F238E27FC236}">
                  <a16:creationId xmlns:a16="http://schemas.microsoft.com/office/drawing/2014/main" id="{2401068C-1470-418D-A929-7A4E9DB36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2863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76" name="Line 53">
              <a:extLst>
                <a:ext uri="{FF2B5EF4-FFF2-40B4-BE49-F238E27FC236}">
                  <a16:creationId xmlns:a16="http://schemas.microsoft.com/office/drawing/2014/main" id="{323AD03B-E04A-4DD4-9647-E49AF27CA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2863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77" name="Rectangle 54">
              <a:extLst>
                <a:ext uri="{FF2B5EF4-FFF2-40B4-BE49-F238E27FC236}">
                  <a16:creationId xmlns:a16="http://schemas.microsoft.com/office/drawing/2014/main" id="{17ED06A8-CA3B-4552-95FE-1C296DE91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863"/>
              <a:ext cx="987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78" name="Line 55">
              <a:extLst>
                <a:ext uri="{FF2B5EF4-FFF2-40B4-BE49-F238E27FC236}">
                  <a16:creationId xmlns:a16="http://schemas.microsoft.com/office/drawing/2014/main" id="{13CE19A4-694C-49AA-84CA-E98FF71A4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2863"/>
              <a:ext cx="9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79" name="Rectangle 56">
              <a:extLst>
                <a:ext uri="{FF2B5EF4-FFF2-40B4-BE49-F238E27FC236}">
                  <a16:creationId xmlns:a16="http://schemas.microsoft.com/office/drawing/2014/main" id="{34AC6B85-8A8C-4518-B38B-BB5189E4B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2863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80" name="Line 57">
              <a:extLst>
                <a:ext uri="{FF2B5EF4-FFF2-40B4-BE49-F238E27FC236}">
                  <a16:creationId xmlns:a16="http://schemas.microsoft.com/office/drawing/2014/main" id="{B1233E10-D5C6-406E-B725-9242D8302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2863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81" name="Line 58">
              <a:extLst>
                <a:ext uri="{FF2B5EF4-FFF2-40B4-BE49-F238E27FC236}">
                  <a16:creationId xmlns:a16="http://schemas.microsoft.com/office/drawing/2014/main" id="{7E11CA93-C9C5-44CB-8373-B3FCA5D15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2863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82" name="Rectangle 59">
              <a:extLst>
                <a:ext uri="{FF2B5EF4-FFF2-40B4-BE49-F238E27FC236}">
                  <a16:creationId xmlns:a16="http://schemas.microsoft.com/office/drawing/2014/main" id="{A448C958-94AC-479D-875B-A8B228BE6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2881"/>
              <a:ext cx="19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83" name="Line 60">
              <a:extLst>
                <a:ext uri="{FF2B5EF4-FFF2-40B4-BE49-F238E27FC236}">
                  <a16:creationId xmlns:a16="http://schemas.microsoft.com/office/drawing/2014/main" id="{E7119621-21E7-4F49-847F-EC6B0F470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2881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84" name="Rectangle 61">
              <a:extLst>
                <a:ext uri="{FF2B5EF4-FFF2-40B4-BE49-F238E27FC236}">
                  <a16:creationId xmlns:a16="http://schemas.microsoft.com/office/drawing/2014/main" id="{C9FF28FF-F29B-4A48-A5E6-C95857732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2881"/>
              <a:ext cx="18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85" name="Line 62">
              <a:extLst>
                <a:ext uri="{FF2B5EF4-FFF2-40B4-BE49-F238E27FC236}">
                  <a16:creationId xmlns:a16="http://schemas.microsoft.com/office/drawing/2014/main" id="{52F9B302-DACA-41ED-9687-E7E25238E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2881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86" name="Rectangle 63">
              <a:extLst>
                <a:ext uri="{FF2B5EF4-FFF2-40B4-BE49-F238E27FC236}">
                  <a16:creationId xmlns:a16="http://schemas.microsoft.com/office/drawing/2014/main" id="{AAD240FD-110C-43A7-BAFA-324013C4E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2881"/>
              <a:ext cx="18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87" name="Line 64">
              <a:extLst>
                <a:ext uri="{FF2B5EF4-FFF2-40B4-BE49-F238E27FC236}">
                  <a16:creationId xmlns:a16="http://schemas.microsoft.com/office/drawing/2014/main" id="{CFFC5A9D-7309-4846-98D1-1764977A5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2881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88" name="Rectangle 65">
              <a:extLst>
                <a:ext uri="{FF2B5EF4-FFF2-40B4-BE49-F238E27FC236}">
                  <a16:creationId xmlns:a16="http://schemas.microsoft.com/office/drawing/2014/main" id="{53487402-5AFC-4614-8BBB-33769FA9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3145"/>
              <a:ext cx="2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0 1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89" name="Rectangle 66">
              <a:extLst>
                <a:ext uri="{FF2B5EF4-FFF2-40B4-BE49-F238E27FC236}">
                  <a16:creationId xmlns:a16="http://schemas.microsoft.com/office/drawing/2014/main" id="{F94BBB97-7F08-4690-AFE2-3AE8EFDC8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3145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90" name="Rectangle 67">
              <a:extLst>
                <a:ext uri="{FF2B5EF4-FFF2-40B4-BE49-F238E27FC236}">
                  <a16:creationId xmlns:a16="http://schemas.microsoft.com/office/drawing/2014/main" id="{789910AA-8EC4-456C-871F-5CAAA1A96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" y="3145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b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91" name="Rectangle 68">
              <a:extLst>
                <a:ext uri="{FF2B5EF4-FFF2-40B4-BE49-F238E27FC236}">
                  <a16:creationId xmlns:a16="http://schemas.microsoft.com/office/drawing/2014/main" id="{B1B8D00E-A926-46FF-9F72-5F9EED8C4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3145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92" name="Rectangle 69">
              <a:extLst>
                <a:ext uri="{FF2B5EF4-FFF2-40B4-BE49-F238E27FC236}">
                  <a16:creationId xmlns:a16="http://schemas.microsoft.com/office/drawing/2014/main" id="{11E89DC2-EC9E-4CF7-9023-C8E80C661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3118"/>
              <a:ext cx="19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93" name="Line 70">
              <a:extLst>
                <a:ext uri="{FF2B5EF4-FFF2-40B4-BE49-F238E27FC236}">
                  <a16:creationId xmlns:a16="http://schemas.microsoft.com/office/drawing/2014/main" id="{FB684D9C-5D13-4C64-9F85-9FA3C7CB9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118"/>
              <a:ext cx="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94" name="Line 71">
              <a:extLst>
                <a:ext uri="{FF2B5EF4-FFF2-40B4-BE49-F238E27FC236}">
                  <a16:creationId xmlns:a16="http://schemas.microsoft.com/office/drawing/2014/main" id="{993202A7-F123-42F3-9DA4-5D0E11698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11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95" name="Rectangle 72">
              <a:extLst>
                <a:ext uri="{FF2B5EF4-FFF2-40B4-BE49-F238E27FC236}">
                  <a16:creationId xmlns:a16="http://schemas.microsoft.com/office/drawing/2014/main" id="{46CBDF0F-0050-4372-909D-1CFF9F755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3118"/>
              <a:ext cx="89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96" name="Line 73">
              <a:extLst>
                <a:ext uri="{FF2B5EF4-FFF2-40B4-BE49-F238E27FC236}">
                  <a16:creationId xmlns:a16="http://schemas.microsoft.com/office/drawing/2014/main" id="{7F8C38AE-F61D-4543-91CC-3ECCBBB82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" y="3118"/>
              <a:ext cx="89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97" name="Rectangle 74">
              <a:extLst>
                <a:ext uri="{FF2B5EF4-FFF2-40B4-BE49-F238E27FC236}">
                  <a16:creationId xmlns:a16="http://schemas.microsoft.com/office/drawing/2014/main" id="{38B5ECA1-530B-44FA-9A5B-87704B41E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3118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98" name="Line 75">
              <a:extLst>
                <a:ext uri="{FF2B5EF4-FFF2-40B4-BE49-F238E27FC236}">
                  <a16:creationId xmlns:a16="http://schemas.microsoft.com/office/drawing/2014/main" id="{4C48BFF4-C2AC-41CE-BDB2-1E4140579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118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99" name="Line 76">
              <a:extLst>
                <a:ext uri="{FF2B5EF4-FFF2-40B4-BE49-F238E27FC236}">
                  <a16:creationId xmlns:a16="http://schemas.microsoft.com/office/drawing/2014/main" id="{89D778C8-CA4C-4A9A-9420-24BD5E2F9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11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0" name="Rectangle 77">
              <a:extLst>
                <a:ext uri="{FF2B5EF4-FFF2-40B4-BE49-F238E27FC236}">
                  <a16:creationId xmlns:a16="http://schemas.microsoft.com/office/drawing/2014/main" id="{0CCCC488-BED3-45C5-9B11-F41D2B788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118"/>
              <a:ext cx="987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01" name="Line 78">
              <a:extLst>
                <a:ext uri="{FF2B5EF4-FFF2-40B4-BE49-F238E27FC236}">
                  <a16:creationId xmlns:a16="http://schemas.microsoft.com/office/drawing/2014/main" id="{13A19481-2D9E-4D21-8372-D70AE4A38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3118"/>
              <a:ext cx="9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2" name="Rectangle 79">
              <a:extLst>
                <a:ext uri="{FF2B5EF4-FFF2-40B4-BE49-F238E27FC236}">
                  <a16:creationId xmlns:a16="http://schemas.microsoft.com/office/drawing/2014/main" id="{074726D7-3A88-4238-AD77-E742E99D4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118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03" name="Line 80">
              <a:extLst>
                <a:ext uri="{FF2B5EF4-FFF2-40B4-BE49-F238E27FC236}">
                  <a16:creationId xmlns:a16="http://schemas.microsoft.com/office/drawing/2014/main" id="{86B170E4-ECEF-40C7-BDE8-FB8EF8033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118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4" name="Line 81">
              <a:extLst>
                <a:ext uri="{FF2B5EF4-FFF2-40B4-BE49-F238E27FC236}">
                  <a16:creationId xmlns:a16="http://schemas.microsoft.com/office/drawing/2014/main" id="{321FBAD3-DAC7-4030-AB4E-26167D698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118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5" name="Rectangle 82">
              <a:extLst>
                <a:ext uri="{FF2B5EF4-FFF2-40B4-BE49-F238E27FC236}">
                  <a16:creationId xmlns:a16="http://schemas.microsoft.com/office/drawing/2014/main" id="{85D96B96-E6D5-4BB6-A6C4-63F3B855B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3136"/>
              <a:ext cx="19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06" name="Line 83">
              <a:extLst>
                <a:ext uri="{FF2B5EF4-FFF2-40B4-BE49-F238E27FC236}">
                  <a16:creationId xmlns:a16="http://schemas.microsoft.com/office/drawing/2014/main" id="{2CA8DF51-B23F-45B7-A8CF-ED37F999B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136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7" name="Rectangle 84">
              <a:extLst>
                <a:ext uri="{FF2B5EF4-FFF2-40B4-BE49-F238E27FC236}">
                  <a16:creationId xmlns:a16="http://schemas.microsoft.com/office/drawing/2014/main" id="{9C188617-8B49-4938-A6FB-48396F3D9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3136"/>
              <a:ext cx="18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08" name="Line 85">
              <a:extLst>
                <a:ext uri="{FF2B5EF4-FFF2-40B4-BE49-F238E27FC236}">
                  <a16:creationId xmlns:a16="http://schemas.microsoft.com/office/drawing/2014/main" id="{638FEBA7-B729-4BE8-A96A-70A9AC7AD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136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9" name="Rectangle 86">
              <a:extLst>
                <a:ext uri="{FF2B5EF4-FFF2-40B4-BE49-F238E27FC236}">
                  <a16:creationId xmlns:a16="http://schemas.microsoft.com/office/drawing/2014/main" id="{CF7166EF-8036-4EA9-BB40-10E1D03A9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136"/>
              <a:ext cx="18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10" name="Line 87">
              <a:extLst>
                <a:ext uri="{FF2B5EF4-FFF2-40B4-BE49-F238E27FC236}">
                  <a16:creationId xmlns:a16="http://schemas.microsoft.com/office/drawing/2014/main" id="{11D89C10-2ACA-4F6C-8C6B-542F8AC02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136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11" name="Rectangle 88">
              <a:extLst>
                <a:ext uri="{FF2B5EF4-FFF2-40B4-BE49-F238E27FC236}">
                  <a16:creationId xmlns:a16="http://schemas.microsoft.com/office/drawing/2014/main" id="{71DEEBB2-36CA-426E-8D9D-CB5538AC9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3400"/>
              <a:ext cx="2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1 0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12" name="Rectangle 89">
              <a:extLst>
                <a:ext uri="{FF2B5EF4-FFF2-40B4-BE49-F238E27FC236}">
                  <a16:creationId xmlns:a16="http://schemas.microsoft.com/office/drawing/2014/main" id="{DEC0D0AE-B816-4227-A855-1C49B226D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3400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13" name="Rectangle 90">
              <a:extLst>
                <a:ext uri="{FF2B5EF4-FFF2-40B4-BE49-F238E27FC236}">
                  <a16:creationId xmlns:a16="http://schemas.microsoft.com/office/drawing/2014/main" id="{7D96A569-4896-4230-8558-D1854ADEF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" y="3400"/>
              <a:ext cx="8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c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14" name="Rectangle 91">
              <a:extLst>
                <a:ext uri="{FF2B5EF4-FFF2-40B4-BE49-F238E27FC236}">
                  <a16:creationId xmlns:a16="http://schemas.microsoft.com/office/drawing/2014/main" id="{3039FE11-D290-416B-AE3D-4C72B9BA9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3400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15" name="Rectangle 92">
              <a:extLst>
                <a:ext uri="{FF2B5EF4-FFF2-40B4-BE49-F238E27FC236}">
                  <a16:creationId xmlns:a16="http://schemas.microsoft.com/office/drawing/2014/main" id="{8ADFDF6F-774D-4BBC-9D3A-52DED7A65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3374"/>
              <a:ext cx="19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16" name="Line 93">
              <a:extLst>
                <a:ext uri="{FF2B5EF4-FFF2-40B4-BE49-F238E27FC236}">
                  <a16:creationId xmlns:a16="http://schemas.microsoft.com/office/drawing/2014/main" id="{867A2B0C-8517-472E-9E77-58D75919F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374"/>
              <a:ext cx="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17" name="Line 94">
              <a:extLst>
                <a:ext uri="{FF2B5EF4-FFF2-40B4-BE49-F238E27FC236}">
                  <a16:creationId xmlns:a16="http://schemas.microsoft.com/office/drawing/2014/main" id="{B9BC0B59-13E7-45AF-9954-93E4BBF1C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37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18" name="Rectangle 95">
              <a:extLst>
                <a:ext uri="{FF2B5EF4-FFF2-40B4-BE49-F238E27FC236}">
                  <a16:creationId xmlns:a16="http://schemas.microsoft.com/office/drawing/2014/main" id="{3DEC9C16-5B9D-441F-ACAC-D06F4B0B7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3374"/>
              <a:ext cx="89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19" name="Line 96">
              <a:extLst>
                <a:ext uri="{FF2B5EF4-FFF2-40B4-BE49-F238E27FC236}">
                  <a16:creationId xmlns:a16="http://schemas.microsoft.com/office/drawing/2014/main" id="{E6E37D9D-DA28-41DD-8F55-4BF608B6B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" y="3374"/>
              <a:ext cx="89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20" name="Rectangle 97">
              <a:extLst>
                <a:ext uri="{FF2B5EF4-FFF2-40B4-BE49-F238E27FC236}">
                  <a16:creationId xmlns:a16="http://schemas.microsoft.com/office/drawing/2014/main" id="{5B0E7E98-1C6D-4FC1-834D-84582BE2C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3374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21" name="Line 98">
              <a:extLst>
                <a:ext uri="{FF2B5EF4-FFF2-40B4-BE49-F238E27FC236}">
                  <a16:creationId xmlns:a16="http://schemas.microsoft.com/office/drawing/2014/main" id="{7F84A3FC-253D-4D74-B2D6-8BC97B65E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374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22" name="Line 99">
              <a:extLst>
                <a:ext uri="{FF2B5EF4-FFF2-40B4-BE49-F238E27FC236}">
                  <a16:creationId xmlns:a16="http://schemas.microsoft.com/office/drawing/2014/main" id="{59ACA6D8-D639-479C-B988-B462EEF10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37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23" name="Rectangle 100">
              <a:extLst>
                <a:ext uri="{FF2B5EF4-FFF2-40B4-BE49-F238E27FC236}">
                  <a16:creationId xmlns:a16="http://schemas.microsoft.com/office/drawing/2014/main" id="{523BBABB-DECD-4F88-87D1-50F26BD10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374"/>
              <a:ext cx="987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24" name="Line 101">
              <a:extLst>
                <a:ext uri="{FF2B5EF4-FFF2-40B4-BE49-F238E27FC236}">
                  <a16:creationId xmlns:a16="http://schemas.microsoft.com/office/drawing/2014/main" id="{3302D1FE-B014-466A-AD1A-9EB296C2CC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3374"/>
              <a:ext cx="9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25" name="Rectangle 102">
              <a:extLst>
                <a:ext uri="{FF2B5EF4-FFF2-40B4-BE49-F238E27FC236}">
                  <a16:creationId xmlns:a16="http://schemas.microsoft.com/office/drawing/2014/main" id="{F6CC8BD6-6A94-4A82-9096-9E905FD72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374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26" name="Line 103">
              <a:extLst>
                <a:ext uri="{FF2B5EF4-FFF2-40B4-BE49-F238E27FC236}">
                  <a16:creationId xmlns:a16="http://schemas.microsoft.com/office/drawing/2014/main" id="{35271488-4627-48AF-B556-8C7950F48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374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27" name="Line 104">
              <a:extLst>
                <a:ext uri="{FF2B5EF4-FFF2-40B4-BE49-F238E27FC236}">
                  <a16:creationId xmlns:a16="http://schemas.microsoft.com/office/drawing/2014/main" id="{87C10664-CED9-4073-AE4B-334F4ECE2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37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28" name="Rectangle 105">
              <a:extLst>
                <a:ext uri="{FF2B5EF4-FFF2-40B4-BE49-F238E27FC236}">
                  <a16:creationId xmlns:a16="http://schemas.microsoft.com/office/drawing/2014/main" id="{AD9A9DA3-7B87-41CA-B577-8BEF93CE9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3392"/>
              <a:ext cx="19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29" name="Line 106">
              <a:extLst>
                <a:ext uri="{FF2B5EF4-FFF2-40B4-BE49-F238E27FC236}">
                  <a16:creationId xmlns:a16="http://schemas.microsoft.com/office/drawing/2014/main" id="{D9875D98-937C-411E-ABFD-1F59B6C8F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392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30" name="Rectangle 107">
              <a:extLst>
                <a:ext uri="{FF2B5EF4-FFF2-40B4-BE49-F238E27FC236}">
                  <a16:creationId xmlns:a16="http://schemas.microsoft.com/office/drawing/2014/main" id="{65E14B24-BCBA-4684-9E53-0D9F7D16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3392"/>
              <a:ext cx="18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31" name="Line 108">
              <a:extLst>
                <a:ext uri="{FF2B5EF4-FFF2-40B4-BE49-F238E27FC236}">
                  <a16:creationId xmlns:a16="http://schemas.microsoft.com/office/drawing/2014/main" id="{85721C8A-5766-4509-BFE5-3B43934FA4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392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32" name="Rectangle 109">
              <a:extLst>
                <a:ext uri="{FF2B5EF4-FFF2-40B4-BE49-F238E27FC236}">
                  <a16:creationId xmlns:a16="http://schemas.microsoft.com/office/drawing/2014/main" id="{F35286A6-8AAE-4760-9F65-224DF1A27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392"/>
              <a:ext cx="18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33" name="Line 110">
              <a:extLst>
                <a:ext uri="{FF2B5EF4-FFF2-40B4-BE49-F238E27FC236}">
                  <a16:creationId xmlns:a16="http://schemas.microsoft.com/office/drawing/2014/main" id="{827BF87F-0189-4D91-B383-2E13EA6AB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392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34" name="Rectangle 111">
              <a:extLst>
                <a:ext uri="{FF2B5EF4-FFF2-40B4-BE49-F238E27FC236}">
                  <a16:creationId xmlns:a16="http://schemas.microsoft.com/office/drawing/2014/main" id="{C0623071-8E8F-4489-AE1C-8037ED0A9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3655"/>
              <a:ext cx="2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1 1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35" name="Rectangle 112">
              <a:extLst>
                <a:ext uri="{FF2B5EF4-FFF2-40B4-BE49-F238E27FC236}">
                  <a16:creationId xmlns:a16="http://schemas.microsoft.com/office/drawing/2014/main" id="{97A9E5ED-C249-47A3-90A3-2536EBC32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3655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36" name="Rectangle 113">
              <a:extLst>
                <a:ext uri="{FF2B5EF4-FFF2-40B4-BE49-F238E27FC236}">
                  <a16:creationId xmlns:a16="http://schemas.microsoft.com/office/drawing/2014/main" id="{D0259BFF-3C50-48C8-8809-363D01E2F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" y="3655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d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37" name="Rectangle 114">
              <a:extLst>
                <a:ext uri="{FF2B5EF4-FFF2-40B4-BE49-F238E27FC236}">
                  <a16:creationId xmlns:a16="http://schemas.microsoft.com/office/drawing/2014/main" id="{652D1B9D-35CF-4FF0-A7E2-A5691283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3655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5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38" name="Rectangle 115">
              <a:extLst>
                <a:ext uri="{FF2B5EF4-FFF2-40B4-BE49-F238E27FC236}">
                  <a16:creationId xmlns:a16="http://schemas.microsoft.com/office/drawing/2014/main" id="{2347E204-316E-4BBD-A336-7F1422BFC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3629"/>
              <a:ext cx="19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39" name="Line 116">
              <a:extLst>
                <a:ext uri="{FF2B5EF4-FFF2-40B4-BE49-F238E27FC236}">
                  <a16:creationId xmlns:a16="http://schemas.microsoft.com/office/drawing/2014/main" id="{B6BE734B-5DFE-48B5-B203-ABD1AE996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629"/>
              <a:ext cx="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40" name="Line 117">
              <a:extLst>
                <a:ext uri="{FF2B5EF4-FFF2-40B4-BE49-F238E27FC236}">
                  <a16:creationId xmlns:a16="http://schemas.microsoft.com/office/drawing/2014/main" id="{20C253FE-2EC2-41F0-9070-C6B3FE075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62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41" name="Rectangle 118">
              <a:extLst>
                <a:ext uri="{FF2B5EF4-FFF2-40B4-BE49-F238E27FC236}">
                  <a16:creationId xmlns:a16="http://schemas.microsoft.com/office/drawing/2014/main" id="{D41E9FD6-2AC3-42F0-A043-749479473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3629"/>
              <a:ext cx="89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42" name="Line 119">
              <a:extLst>
                <a:ext uri="{FF2B5EF4-FFF2-40B4-BE49-F238E27FC236}">
                  <a16:creationId xmlns:a16="http://schemas.microsoft.com/office/drawing/2014/main" id="{50D0574E-7E0E-4F61-8701-3228B6B6E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" y="3629"/>
              <a:ext cx="89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43" name="Rectangle 120">
              <a:extLst>
                <a:ext uri="{FF2B5EF4-FFF2-40B4-BE49-F238E27FC236}">
                  <a16:creationId xmlns:a16="http://schemas.microsoft.com/office/drawing/2014/main" id="{4823FAF9-A55E-4724-9CC2-E16A29B95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3629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44" name="Line 121">
              <a:extLst>
                <a:ext uri="{FF2B5EF4-FFF2-40B4-BE49-F238E27FC236}">
                  <a16:creationId xmlns:a16="http://schemas.microsoft.com/office/drawing/2014/main" id="{0B543702-C171-4675-8CC9-09C52B6BEC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629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45" name="Line 122">
              <a:extLst>
                <a:ext uri="{FF2B5EF4-FFF2-40B4-BE49-F238E27FC236}">
                  <a16:creationId xmlns:a16="http://schemas.microsoft.com/office/drawing/2014/main" id="{FAA2C330-8109-443D-ADBA-88F28231B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62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46" name="Rectangle 123">
              <a:extLst>
                <a:ext uri="{FF2B5EF4-FFF2-40B4-BE49-F238E27FC236}">
                  <a16:creationId xmlns:a16="http://schemas.microsoft.com/office/drawing/2014/main" id="{C1B2E578-E494-41AF-9961-5BF779231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629"/>
              <a:ext cx="987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47" name="Line 124">
              <a:extLst>
                <a:ext uri="{FF2B5EF4-FFF2-40B4-BE49-F238E27FC236}">
                  <a16:creationId xmlns:a16="http://schemas.microsoft.com/office/drawing/2014/main" id="{D4A8B62E-50D7-4D18-B68A-4517F4A4A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3629"/>
              <a:ext cx="9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48" name="Rectangle 125">
              <a:extLst>
                <a:ext uri="{FF2B5EF4-FFF2-40B4-BE49-F238E27FC236}">
                  <a16:creationId xmlns:a16="http://schemas.microsoft.com/office/drawing/2014/main" id="{934D72E2-8E85-4E46-9EC3-D6DF470B2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629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49" name="Line 126">
              <a:extLst>
                <a:ext uri="{FF2B5EF4-FFF2-40B4-BE49-F238E27FC236}">
                  <a16:creationId xmlns:a16="http://schemas.microsoft.com/office/drawing/2014/main" id="{0C308CC4-6F30-4A99-9E4A-BE761145A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629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50" name="Line 127">
              <a:extLst>
                <a:ext uri="{FF2B5EF4-FFF2-40B4-BE49-F238E27FC236}">
                  <a16:creationId xmlns:a16="http://schemas.microsoft.com/office/drawing/2014/main" id="{F66786EB-27A3-41B3-883D-0F8126BEE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629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51" name="Rectangle 128">
              <a:extLst>
                <a:ext uri="{FF2B5EF4-FFF2-40B4-BE49-F238E27FC236}">
                  <a16:creationId xmlns:a16="http://schemas.microsoft.com/office/drawing/2014/main" id="{D1B21734-D864-44F9-8F79-20FDD8A22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3647"/>
              <a:ext cx="19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52" name="Line 129">
              <a:extLst>
                <a:ext uri="{FF2B5EF4-FFF2-40B4-BE49-F238E27FC236}">
                  <a16:creationId xmlns:a16="http://schemas.microsoft.com/office/drawing/2014/main" id="{15DE017A-A44F-4458-90F9-57A5528B3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647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53" name="Rectangle 130">
              <a:extLst>
                <a:ext uri="{FF2B5EF4-FFF2-40B4-BE49-F238E27FC236}">
                  <a16:creationId xmlns:a16="http://schemas.microsoft.com/office/drawing/2014/main" id="{4F0D3C9A-DC97-4DEA-A1CA-27D82EC85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3884"/>
              <a:ext cx="19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54" name="Line 131">
              <a:extLst>
                <a:ext uri="{FF2B5EF4-FFF2-40B4-BE49-F238E27FC236}">
                  <a16:creationId xmlns:a16="http://schemas.microsoft.com/office/drawing/2014/main" id="{140910E9-B79C-44E2-95CD-893999C2B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884"/>
              <a:ext cx="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55" name="Line 132">
              <a:extLst>
                <a:ext uri="{FF2B5EF4-FFF2-40B4-BE49-F238E27FC236}">
                  <a16:creationId xmlns:a16="http://schemas.microsoft.com/office/drawing/2014/main" id="{2ACD95A0-283A-4390-A721-1FBC7FDD0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88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56" name="Rectangle 133">
              <a:extLst>
                <a:ext uri="{FF2B5EF4-FFF2-40B4-BE49-F238E27FC236}">
                  <a16:creationId xmlns:a16="http://schemas.microsoft.com/office/drawing/2014/main" id="{5ABA0056-2E90-4811-B74D-344D74263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3884"/>
              <a:ext cx="19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57" name="Line 134">
              <a:extLst>
                <a:ext uri="{FF2B5EF4-FFF2-40B4-BE49-F238E27FC236}">
                  <a16:creationId xmlns:a16="http://schemas.microsoft.com/office/drawing/2014/main" id="{ADD45CE6-F606-4386-8DDF-FCD030027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884"/>
              <a:ext cx="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58" name="Line 135">
              <a:extLst>
                <a:ext uri="{FF2B5EF4-FFF2-40B4-BE49-F238E27FC236}">
                  <a16:creationId xmlns:a16="http://schemas.microsoft.com/office/drawing/2014/main" id="{EE2FBD00-13D0-4EE8-9FED-D5675262D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88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59" name="Rectangle 136">
              <a:extLst>
                <a:ext uri="{FF2B5EF4-FFF2-40B4-BE49-F238E27FC236}">
                  <a16:creationId xmlns:a16="http://schemas.microsoft.com/office/drawing/2014/main" id="{A7250DB2-8595-4D81-ACBE-B89FC6613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3884"/>
              <a:ext cx="89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60" name="Line 137">
              <a:extLst>
                <a:ext uri="{FF2B5EF4-FFF2-40B4-BE49-F238E27FC236}">
                  <a16:creationId xmlns:a16="http://schemas.microsoft.com/office/drawing/2014/main" id="{9734C6AA-3AD5-4BCB-9534-3A4085300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" y="3884"/>
              <a:ext cx="898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61" name="Rectangle 138">
              <a:extLst>
                <a:ext uri="{FF2B5EF4-FFF2-40B4-BE49-F238E27FC236}">
                  <a16:creationId xmlns:a16="http://schemas.microsoft.com/office/drawing/2014/main" id="{893939DD-094F-425F-AFD4-BC899CB94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3647"/>
              <a:ext cx="18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62" name="Line 139">
              <a:extLst>
                <a:ext uri="{FF2B5EF4-FFF2-40B4-BE49-F238E27FC236}">
                  <a16:creationId xmlns:a16="http://schemas.microsoft.com/office/drawing/2014/main" id="{EDF0488D-5654-4880-837E-B33ECC0E2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647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63" name="Rectangle 140">
              <a:extLst>
                <a:ext uri="{FF2B5EF4-FFF2-40B4-BE49-F238E27FC236}">
                  <a16:creationId xmlns:a16="http://schemas.microsoft.com/office/drawing/2014/main" id="{3FE76761-B2EB-4E7B-9ACE-FD9FF722B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3884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64" name="Line 141">
              <a:extLst>
                <a:ext uri="{FF2B5EF4-FFF2-40B4-BE49-F238E27FC236}">
                  <a16:creationId xmlns:a16="http://schemas.microsoft.com/office/drawing/2014/main" id="{C598FE2C-35B4-461F-BE10-99BCFF312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884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65" name="Line 142">
              <a:extLst>
                <a:ext uri="{FF2B5EF4-FFF2-40B4-BE49-F238E27FC236}">
                  <a16:creationId xmlns:a16="http://schemas.microsoft.com/office/drawing/2014/main" id="{8283E04E-3276-4F65-B0D6-914A798DC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88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66" name="Rectangle 143">
              <a:extLst>
                <a:ext uri="{FF2B5EF4-FFF2-40B4-BE49-F238E27FC236}">
                  <a16:creationId xmlns:a16="http://schemas.microsoft.com/office/drawing/2014/main" id="{F71CFF41-C490-429D-8985-FE9804838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884"/>
              <a:ext cx="987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67" name="Line 144">
              <a:extLst>
                <a:ext uri="{FF2B5EF4-FFF2-40B4-BE49-F238E27FC236}">
                  <a16:creationId xmlns:a16="http://schemas.microsoft.com/office/drawing/2014/main" id="{14C640D4-795A-4BAC-A2EF-FE03AEF91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3884"/>
              <a:ext cx="98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68" name="Rectangle 145">
              <a:extLst>
                <a:ext uri="{FF2B5EF4-FFF2-40B4-BE49-F238E27FC236}">
                  <a16:creationId xmlns:a16="http://schemas.microsoft.com/office/drawing/2014/main" id="{1FDA4B4C-1268-4810-B090-41E6DDFC0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647"/>
              <a:ext cx="18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69" name="Line 146">
              <a:extLst>
                <a:ext uri="{FF2B5EF4-FFF2-40B4-BE49-F238E27FC236}">
                  <a16:creationId xmlns:a16="http://schemas.microsoft.com/office/drawing/2014/main" id="{2A0EC5C2-3359-43B1-A5F9-385B074F1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647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70" name="Rectangle 147">
              <a:extLst>
                <a:ext uri="{FF2B5EF4-FFF2-40B4-BE49-F238E27FC236}">
                  <a16:creationId xmlns:a16="http://schemas.microsoft.com/office/drawing/2014/main" id="{71D57818-89C1-478B-92B8-7D1702A59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884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71" name="Line 148">
              <a:extLst>
                <a:ext uri="{FF2B5EF4-FFF2-40B4-BE49-F238E27FC236}">
                  <a16:creationId xmlns:a16="http://schemas.microsoft.com/office/drawing/2014/main" id="{E0A963E3-C042-48CE-8715-F1C2DAA87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884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72" name="Line 149">
              <a:extLst>
                <a:ext uri="{FF2B5EF4-FFF2-40B4-BE49-F238E27FC236}">
                  <a16:creationId xmlns:a16="http://schemas.microsoft.com/office/drawing/2014/main" id="{3FB613C9-0172-4F25-AD84-DF60EAFE2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88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73" name="Rectangle 150">
              <a:extLst>
                <a:ext uri="{FF2B5EF4-FFF2-40B4-BE49-F238E27FC236}">
                  <a16:creationId xmlns:a16="http://schemas.microsoft.com/office/drawing/2014/main" id="{C16594C0-48B5-4CC7-BDD8-094E48500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884"/>
              <a:ext cx="18" cy="1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874" name="Line 151">
              <a:extLst>
                <a:ext uri="{FF2B5EF4-FFF2-40B4-BE49-F238E27FC236}">
                  <a16:creationId xmlns:a16="http://schemas.microsoft.com/office/drawing/2014/main" id="{61406C4C-36EA-4AE5-A5A6-8DC0BD0E2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884"/>
              <a:ext cx="1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75" name="Line 152">
              <a:extLst>
                <a:ext uri="{FF2B5EF4-FFF2-40B4-BE49-F238E27FC236}">
                  <a16:creationId xmlns:a16="http://schemas.microsoft.com/office/drawing/2014/main" id="{95771062-67EC-47B0-B99D-547BCAA43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2" y="3884"/>
              <a:ext cx="1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76" name="Rectangle 153">
              <a:extLst>
                <a:ext uri="{FF2B5EF4-FFF2-40B4-BE49-F238E27FC236}">
                  <a16:creationId xmlns:a16="http://schemas.microsoft.com/office/drawing/2014/main" id="{F92D4E70-A08F-424A-9028-BE2FD470C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3906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100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877" name="Rectangle 154">
              <a:extLst>
                <a:ext uri="{FF2B5EF4-FFF2-40B4-BE49-F238E27FC236}">
                  <a16:creationId xmlns:a16="http://schemas.microsoft.com/office/drawing/2014/main" id="{BCFFA697-3CEF-4BEA-A237-CC331B2D6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9" y="3459"/>
              <a:ext cx="3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600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</p:grpSp>
      <p:grpSp>
        <p:nvGrpSpPr>
          <p:cNvPr id="29704" name="Group 155">
            <a:extLst>
              <a:ext uri="{FF2B5EF4-FFF2-40B4-BE49-F238E27FC236}">
                <a16:creationId xmlns:a16="http://schemas.microsoft.com/office/drawing/2014/main" id="{6AD55F5E-40FC-4136-9D9A-EDD51BA10CAE}"/>
              </a:ext>
            </a:extLst>
          </p:cNvPr>
          <p:cNvGrpSpPr>
            <a:grpSpLocks/>
          </p:cNvGrpSpPr>
          <p:nvPr/>
        </p:nvGrpSpPr>
        <p:grpSpPr bwMode="auto">
          <a:xfrm>
            <a:off x="6159501" y="3736976"/>
            <a:ext cx="3952875" cy="1922463"/>
            <a:chOff x="2929" y="2229"/>
            <a:chExt cx="2490" cy="1211"/>
          </a:xfrm>
        </p:grpSpPr>
        <p:sp>
          <p:nvSpPr>
            <p:cNvPr id="29705" name="Rectangle 156">
              <a:extLst>
                <a:ext uri="{FF2B5EF4-FFF2-40B4-BE49-F238E27FC236}">
                  <a16:creationId xmlns:a16="http://schemas.microsoft.com/office/drawing/2014/main" id="{45EC2184-B9E5-4B69-9749-129A74DBB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6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06" name="Rectangle 157">
              <a:extLst>
                <a:ext uri="{FF2B5EF4-FFF2-40B4-BE49-F238E27FC236}">
                  <a16:creationId xmlns:a16="http://schemas.microsoft.com/office/drawing/2014/main" id="{C3350379-0173-4FFF-A6D4-E26FEA926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2" y="2229"/>
              <a:ext cx="619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y = 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07" name="Rectangle 158">
              <a:extLst>
                <a:ext uri="{FF2B5EF4-FFF2-40B4-BE49-F238E27FC236}">
                  <a16:creationId xmlns:a16="http://schemas.microsoft.com/office/drawing/2014/main" id="{D3A0A4E3-49B7-4B42-AEA4-DB5298DE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" y="2306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08" name="Rectangle 159">
              <a:extLst>
                <a:ext uri="{FF2B5EF4-FFF2-40B4-BE49-F238E27FC236}">
                  <a16:creationId xmlns:a16="http://schemas.microsoft.com/office/drawing/2014/main" id="{4C676F2F-95C6-453F-9280-18C379C3D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2247"/>
              <a:ext cx="619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y = 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09" name="Rectangle 160">
              <a:extLst>
                <a:ext uri="{FF2B5EF4-FFF2-40B4-BE49-F238E27FC236}">
                  <a16:creationId xmlns:a16="http://schemas.microsoft.com/office/drawing/2014/main" id="{6EA81BD4-9EEF-46DC-B0F9-A4BF9CA72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9" y="2306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10" name="Rectangle 161">
              <a:extLst>
                <a:ext uri="{FF2B5EF4-FFF2-40B4-BE49-F238E27FC236}">
                  <a16:creationId xmlns:a16="http://schemas.microsoft.com/office/drawing/2014/main" id="{245C684A-9990-4739-B4D8-AD5044B17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0" y="2294"/>
              <a:ext cx="12" cy="3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9711" name="Line 162">
              <a:extLst>
                <a:ext uri="{FF2B5EF4-FFF2-40B4-BE49-F238E27FC236}">
                  <a16:creationId xmlns:a16="http://schemas.microsoft.com/office/drawing/2014/main" id="{FA61EC40-8EDE-4070-A8C4-F299103CF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0" y="2294"/>
              <a:ext cx="3" cy="114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2" name="Rectangle 163">
              <a:extLst>
                <a:ext uri="{FF2B5EF4-FFF2-40B4-BE49-F238E27FC236}">
                  <a16:creationId xmlns:a16="http://schemas.microsoft.com/office/drawing/2014/main" id="{805A9A2B-9402-40E3-B6ED-4B200BBE8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1" y="2644"/>
              <a:ext cx="619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x = 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13" name="Rectangle 164">
              <a:extLst>
                <a:ext uri="{FF2B5EF4-FFF2-40B4-BE49-F238E27FC236}">
                  <a16:creationId xmlns:a16="http://schemas.microsoft.com/office/drawing/2014/main" id="{67CA1990-D1BC-4964-9F97-D1574C427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2692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14" name="Rectangle 165">
              <a:extLst>
                <a:ext uri="{FF2B5EF4-FFF2-40B4-BE49-F238E27FC236}">
                  <a16:creationId xmlns:a16="http://schemas.microsoft.com/office/drawing/2014/main" id="{3EFB56D5-5705-404A-AE85-ECFC6A5B9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2653"/>
              <a:ext cx="149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a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15" name="Rectangle 166">
              <a:extLst>
                <a:ext uri="{FF2B5EF4-FFF2-40B4-BE49-F238E27FC236}">
                  <a16:creationId xmlns:a16="http://schemas.microsoft.com/office/drawing/2014/main" id="{5D655F59-3578-4209-A288-D87465B97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8" y="2692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16" name="Rectangle 167">
              <a:extLst>
                <a:ext uri="{FF2B5EF4-FFF2-40B4-BE49-F238E27FC236}">
                  <a16:creationId xmlns:a16="http://schemas.microsoft.com/office/drawing/2014/main" id="{E042C5A4-6216-4DF4-99A4-1E8B284C9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2653"/>
              <a:ext cx="167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b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17" name="Rectangle 168">
              <a:extLst>
                <a:ext uri="{FF2B5EF4-FFF2-40B4-BE49-F238E27FC236}">
                  <a16:creationId xmlns:a16="http://schemas.microsoft.com/office/drawing/2014/main" id="{CB57CFF9-722B-463A-A04B-F77939774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9" y="2692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18" name="Line 169">
              <a:extLst>
                <a:ext uri="{FF2B5EF4-FFF2-40B4-BE49-F238E27FC236}">
                  <a16:creationId xmlns:a16="http://schemas.microsoft.com/office/drawing/2014/main" id="{3B50446C-A636-4715-B4DB-34D5E5FD6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" y="2643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9" name="Line 170">
              <a:extLst>
                <a:ext uri="{FF2B5EF4-FFF2-40B4-BE49-F238E27FC236}">
                  <a16:creationId xmlns:a16="http://schemas.microsoft.com/office/drawing/2014/main" id="{E3146048-F514-4C53-BE45-7A0F4353E1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9" y="2636"/>
              <a:ext cx="2489" cy="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0" name="Line 171">
              <a:extLst>
                <a:ext uri="{FF2B5EF4-FFF2-40B4-BE49-F238E27FC236}">
                  <a16:creationId xmlns:a16="http://schemas.microsoft.com/office/drawing/2014/main" id="{453B74F8-B4C2-4C0F-968F-00565DD72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7" y="2268"/>
              <a:ext cx="2" cy="11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1" name="Rectangle 172">
              <a:extLst>
                <a:ext uri="{FF2B5EF4-FFF2-40B4-BE49-F238E27FC236}">
                  <a16:creationId xmlns:a16="http://schemas.microsoft.com/office/drawing/2014/main" id="{F9EF583D-4D8E-4DAB-BE9D-E25E64A60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041"/>
              <a:ext cx="619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x = 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22" name="Rectangle 173">
              <a:extLst>
                <a:ext uri="{FF2B5EF4-FFF2-40B4-BE49-F238E27FC236}">
                  <a16:creationId xmlns:a16="http://schemas.microsoft.com/office/drawing/2014/main" id="{7699FCCD-6899-406B-B6F8-68F045795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079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23" name="Rectangle 174">
              <a:extLst>
                <a:ext uri="{FF2B5EF4-FFF2-40B4-BE49-F238E27FC236}">
                  <a16:creationId xmlns:a16="http://schemas.microsoft.com/office/drawing/2014/main" id="{DA653C85-BF03-454A-986D-0071A52EB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3031"/>
              <a:ext cx="132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c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24" name="Rectangle 175">
              <a:extLst>
                <a:ext uri="{FF2B5EF4-FFF2-40B4-BE49-F238E27FC236}">
                  <a16:creationId xmlns:a16="http://schemas.microsoft.com/office/drawing/2014/main" id="{F99A1E92-679B-4910-BEE4-3843693D7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3079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25" name="Rectangle 176">
              <a:extLst>
                <a:ext uri="{FF2B5EF4-FFF2-40B4-BE49-F238E27FC236}">
                  <a16:creationId xmlns:a16="http://schemas.microsoft.com/office/drawing/2014/main" id="{4704D0E1-71F9-4AE5-934E-7604673DF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3022"/>
              <a:ext cx="167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d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26" name="Rectangle 177">
              <a:extLst>
                <a:ext uri="{FF2B5EF4-FFF2-40B4-BE49-F238E27FC236}">
                  <a16:creationId xmlns:a16="http://schemas.microsoft.com/office/drawing/2014/main" id="{8CFFFFE5-68E4-471F-BFF0-1010F6618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9" y="3079"/>
              <a:ext cx="7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7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727" name="Line 178">
              <a:extLst>
                <a:ext uri="{FF2B5EF4-FFF2-40B4-BE49-F238E27FC236}">
                  <a16:creationId xmlns:a16="http://schemas.microsoft.com/office/drawing/2014/main" id="{0F06793A-A149-45AD-A5ED-1102E397B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0" y="3029"/>
              <a:ext cx="2486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8" name="Line 179">
              <a:extLst>
                <a:ext uri="{FF2B5EF4-FFF2-40B4-BE49-F238E27FC236}">
                  <a16:creationId xmlns:a16="http://schemas.microsoft.com/office/drawing/2014/main" id="{0308CBD1-47BD-4023-A666-63F4EC61E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3416"/>
              <a:ext cx="2487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9" name="Line 180">
              <a:extLst>
                <a:ext uri="{FF2B5EF4-FFF2-40B4-BE49-F238E27FC236}">
                  <a16:creationId xmlns:a16="http://schemas.microsoft.com/office/drawing/2014/main" id="{9B2250E9-A322-4F7F-870B-E5D3E1705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5" y="2285"/>
              <a:ext cx="3" cy="114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787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/>
      <p:bldP spid="297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8F53E21C-6C3D-4256-93CB-42DA093AE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F4FA334A-FFF6-40D4-89E1-96091925C457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5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F1B36BE-59E5-491C-8C37-6DD80C92C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9964" y="1"/>
            <a:ext cx="8213725" cy="1020763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K-Map Function Representation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485B30B-1D20-4F06-9725-411E4C76D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438" y="1303339"/>
            <a:ext cx="7772400" cy="5013325"/>
          </a:xfrm>
        </p:spPr>
        <p:txBody>
          <a:bodyPr/>
          <a:lstStyle/>
          <a:p>
            <a:r>
              <a:rPr lang="en-US" altLang="en-US" b="1" dirty="0"/>
              <a:t>Example: F(</a:t>
            </a:r>
            <a:r>
              <a:rPr lang="en-US" altLang="en-US" b="1" dirty="0" err="1"/>
              <a:t>x,y</a:t>
            </a:r>
            <a:r>
              <a:rPr lang="en-US" altLang="en-US" b="1" dirty="0"/>
              <a:t>) = x</a:t>
            </a:r>
          </a:p>
          <a:p>
            <a:endParaRPr lang="en-US" altLang="en-US" sz="3600" b="1" dirty="0"/>
          </a:p>
          <a:p>
            <a:endParaRPr lang="en-US" altLang="en-US" b="1" dirty="0"/>
          </a:p>
          <a:p>
            <a:pPr>
              <a:spcBef>
                <a:spcPct val="50000"/>
              </a:spcBef>
              <a:buSzPct val="125000"/>
            </a:pPr>
            <a:r>
              <a:rPr lang="en-US" altLang="en-US" sz="2600" b="1" dirty="0"/>
              <a:t>For function F(</a:t>
            </a:r>
            <a:r>
              <a:rPr lang="en-US" altLang="en-US" sz="2600" b="1" dirty="0" err="1"/>
              <a:t>x,y</a:t>
            </a:r>
            <a:r>
              <a:rPr lang="en-US" altLang="en-US" sz="2600" b="1" dirty="0"/>
              <a:t>), the two adjacent cells containing 1’s can be combined using the Minimization Theorem:</a:t>
            </a:r>
          </a:p>
          <a:p>
            <a:pPr>
              <a:spcBef>
                <a:spcPct val="50000"/>
              </a:spcBef>
              <a:buSzPct val="125000"/>
            </a:pPr>
            <a:endParaRPr lang="en-US" altLang="en-US" sz="2600" b="1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8495BB1A-314B-4CEE-ADF3-C012A7984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6" y="2565400"/>
            <a:ext cx="36513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FD5C5317-F12E-46C7-B44B-E60AB9D0F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8363" y="2565400"/>
            <a:ext cx="36512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F7D6E32A-B98A-4594-B07F-68805D50A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565400"/>
            <a:ext cx="36512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28" name="Rectangle 7">
            <a:extLst>
              <a:ext uri="{FF2B5EF4-FFF2-40B4-BE49-F238E27FC236}">
                <a16:creationId xmlns:a16="http://schemas.microsoft.com/office/drawing/2014/main" id="{CDC01D88-3E06-479C-9150-AA69C013F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3181350"/>
            <a:ext cx="317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</a:pPr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>
              <a:solidFill>
                <a:srgbClr val="000000"/>
              </a:solidFill>
            </a:endParaRPr>
          </a:p>
        </p:txBody>
      </p:sp>
      <p:grpSp>
        <p:nvGrpSpPr>
          <p:cNvPr id="30729" name="Group 8">
            <a:extLst>
              <a:ext uri="{FF2B5EF4-FFF2-40B4-BE49-F238E27FC236}">
                <a16:creationId xmlns:a16="http://schemas.microsoft.com/office/drawing/2014/main" id="{461A85A3-78BD-4521-8D66-2C7656ADEA9D}"/>
              </a:ext>
            </a:extLst>
          </p:cNvPr>
          <p:cNvGrpSpPr>
            <a:grpSpLocks/>
          </p:cNvGrpSpPr>
          <p:nvPr/>
        </p:nvGrpSpPr>
        <p:grpSpPr bwMode="auto">
          <a:xfrm>
            <a:off x="6634164" y="1246189"/>
            <a:ext cx="2363787" cy="1800225"/>
            <a:chOff x="3219" y="785"/>
            <a:chExt cx="1489" cy="1134"/>
          </a:xfrm>
        </p:grpSpPr>
        <p:sp>
          <p:nvSpPr>
            <p:cNvPr id="30746" name="Rectangle 9">
              <a:extLst>
                <a:ext uri="{FF2B5EF4-FFF2-40B4-BE49-F238E27FC236}">
                  <a16:creationId xmlns:a16="http://schemas.microsoft.com/office/drawing/2014/main" id="{85029D41-276C-4445-B864-119D7A889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78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47" name="Rectangle 10">
              <a:extLst>
                <a:ext uri="{FF2B5EF4-FFF2-40B4-BE49-F238E27FC236}">
                  <a16:creationId xmlns:a16="http://schemas.microsoft.com/office/drawing/2014/main" id="{A9B66914-19E6-4611-BC80-12B1DBA68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" y="78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48" name="Rectangle 11">
              <a:extLst>
                <a:ext uri="{FF2B5EF4-FFF2-40B4-BE49-F238E27FC236}">
                  <a16:creationId xmlns:a16="http://schemas.microsoft.com/office/drawing/2014/main" id="{E69E6D61-8BB1-4A5E-9517-ACC13053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78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49" name="Rectangle 12">
              <a:extLst>
                <a:ext uri="{FF2B5EF4-FFF2-40B4-BE49-F238E27FC236}">
                  <a16:creationId xmlns:a16="http://schemas.microsoft.com/office/drawing/2014/main" id="{1BBAA121-B7F2-435A-8A04-0131DA94F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8" y="881"/>
              <a:ext cx="4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 dirty="0">
                  <a:solidFill>
                    <a:srgbClr val="000000"/>
                  </a:solidFill>
                </a:rPr>
                <a:t>F = x</a:t>
              </a:r>
              <a:endParaRPr lang="en-US" altLang="en-US" b="1" dirty="0">
                <a:solidFill>
                  <a:srgbClr val="000000"/>
                </a:solidFill>
              </a:endParaRPr>
            </a:p>
          </p:txBody>
        </p:sp>
        <p:sp>
          <p:nvSpPr>
            <p:cNvPr id="30750" name="Rectangle 13">
              <a:extLst>
                <a:ext uri="{FF2B5EF4-FFF2-40B4-BE49-F238E27FC236}">
                  <a16:creationId xmlns:a16="http://schemas.microsoft.com/office/drawing/2014/main" id="{3924822B-4385-48CB-B9DF-DA4B4AF14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" y="862"/>
              <a:ext cx="4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 = 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51" name="Rectangle 14">
              <a:extLst>
                <a:ext uri="{FF2B5EF4-FFF2-40B4-BE49-F238E27FC236}">
                  <a16:creationId xmlns:a16="http://schemas.microsoft.com/office/drawing/2014/main" id="{757B59EF-1D97-4032-9683-DD73954CF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851"/>
              <a:ext cx="4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 = 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52" name="Line 15">
              <a:extLst>
                <a:ext uri="{FF2B5EF4-FFF2-40B4-BE49-F238E27FC236}">
                  <a16:creationId xmlns:a16="http://schemas.microsoft.com/office/drawing/2014/main" id="{A08CBF7F-FB6E-4EFB-8326-EAF69DABC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6" y="835"/>
              <a:ext cx="4" cy="10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53" name="Rectangle 16">
              <a:extLst>
                <a:ext uri="{FF2B5EF4-FFF2-40B4-BE49-F238E27FC236}">
                  <a16:creationId xmlns:a16="http://schemas.microsoft.com/office/drawing/2014/main" id="{484B27B0-0900-42D0-90B0-706DE3036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8" y="1222"/>
              <a:ext cx="4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x = 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54" name="Rectangle 17">
              <a:extLst>
                <a:ext uri="{FF2B5EF4-FFF2-40B4-BE49-F238E27FC236}">
                  <a16:creationId xmlns:a16="http://schemas.microsoft.com/office/drawing/2014/main" id="{AC99C223-3A31-45E3-B71B-BE3D170C7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19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55" name="Rectangle 18">
              <a:extLst>
                <a:ext uri="{FF2B5EF4-FFF2-40B4-BE49-F238E27FC236}">
                  <a16:creationId xmlns:a16="http://schemas.microsoft.com/office/drawing/2014/main" id="{46069773-1DB4-40A6-A061-8ACDB7216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" y="122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56" name="Rectangle 19">
              <a:extLst>
                <a:ext uri="{FF2B5EF4-FFF2-40B4-BE49-F238E27FC236}">
                  <a16:creationId xmlns:a16="http://schemas.microsoft.com/office/drawing/2014/main" id="{3476AE25-2858-409E-B3C9-BCF84D101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" y="119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57" name="Rectangle 20">
              <a:extLst>
                <a:ext uri="{FF2B5EF4-FFF2-40B4-BE49-F238E27FC236}">
                  <a16:creationId xmlns:a16="http://schemas.microsoft.com/office/drawing/2014/main" id="{9CF01BA7-13D5-47CA-96DD-37FA38FC2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" y="122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58" name="Rectangle 21">
              <a:extLst>
                <a:ext uri="{FF2B5EF4-FFF2-40B4-BE49-F238E27FC236}">
                  <a16:creationId xmlns:a16="http://schemas.microsoft.com/office/drawing/2014/main" id="{200693D8-66E1-4AC3-990F-C39014E99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" y="119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59" name="Line 22">
              <a:extLst>
                <a:ext uri="{FF2B5EF4-FFF2-40B4-BE49-F238E27FC236}">
                  <a16:creationId xmlns:a16="http://schemas.microsoft.com/office/drawing/2014/main" id="{BCDBD63E-F971-4FD9-909C-26B9883DE8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7" y="1165"/>
              <a:ext cx="1454" cy="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0" name="Rectangle 23">
              <a:extLst>
                <a:ext uri="{FF2B5EF4-FFF2-40B4-BE49-F238E27FC236}">
                  <a16:creationId xmlns:a16="http://schemas.microsoft.com/office/drawing/2014/main" id="{2624A92C-3E33-4EB1-8B90-31F1EDD18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9" y="1602"/>
              <a:ext cx="4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x = 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61" name="Rectangle 24">
              <a:extLst>
                <a:ext uri="{FF2B5EF4-FFF2-40B4-BE49-F238E27FC236}">
                  <a16:creationId xmlns:a16="http://schemas.microsoft.com/office/drawing/2014/main" id="{105A203C-7B98-49B9-A4DF-F47AFD08D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6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62" name="Rectangle 25">
              <a:extLst>
                <a:ext uri="{FF2B5EF4-FFF2-40B4-BE49-F238E27FC236}">
                  <a16:creationId xmlns:a16="http://schemas.microsoft.com/office/drawing/2014/main" id="{74D64F51-38BE-45A4-AA41-77065FDA7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60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63" name="Rectangle 26">
              <a:extLst>
                <a:ext uri="{FF2B5EF4-FFF2-40B4-BE49-F238E27FC236}">
                  <a16:creationId xmlns:a16="http://schemas.microsoft.com/office/drawing/2014/main" id="{57BC661C-0D79-4049-BCE5-6FEE88482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" y="16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64" name="Rectangle 27">
              <a:extLst>
                <a:ext uri="{FF2B5EF4-FFF2-40B4-BE49-F238E27FC236}">
                  <a16:creationId xmlns:a16="http://schemas.microsoft.com/office/drawing/2014/main" id="{0F90CEC2-3AA5-4012-8A5F-9A2F7BAEF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" y="160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65" name="Rectangle 28">
              <a:extLst>
                <a:ext uri="{FF2B5EF4-FFF2-40B4-BE49-F238E27FC236}">
                  <a16:creationId xmlns:a16="http://schemas.microsoft.com/office/drawing/2014/main" id="{D82E2E98-0633-4D62-9D7E-BF24910DF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" y="16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66" name="Rectangle 29">
              <a:extLst>
                <a:ext uri="{FF2B5EF4-FFF2-40B4-BE49-F238E27FC236}">
                  <a16:creationId xmlns:a16="http://schemas.microsoft.com/office/drawing/2014/main" id="{81648894-1156-48F4-BCCF-036577D40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16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767" name="Line 30">
              <a:extLst>
                <a:ext uri="{FF2B5EF4-FFF2-40B4-BE49-F238E27FC236}">
                  <a16:creationId xmlns:a16="http://schemas.microsoft.com/office/drawing/2014/main" id="{4CDBBC8C-567A-4698-BD5D-9A6732AC0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7" y="1535"/>
              <a:ext cx="1452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8" name="Line 31">
              <a:extLst>
                <a:ext uri="{FF2B5EF4-FFF2-40B4-BE49-F238E27FC236}">
                  <a16:creationId xmlns:a16="http://schemas.microsoft.com/office/drawing/2014/main" id="{FDBAE72D-9A51-448A-B53A-6B56A0DFE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910"/>
              <a:ext cx="1473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9" name="Line 32">
              <a:extLst>
                <a:ext uri="{FF2B5EF4-FFF2-40B4-BE49-F238E27FC236}">
                  <a16:creationId xmlns:a16="http://schemas.microsoft.com/office/drawing/2014/main" id="{1B9FA140-EE15-4D52-AEDC-089B22A5C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" y="835"/>
              <a:ext cx="3" cy="10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70" name="Line 33">
              <a:extLst>
                <a:ext uri="{FF2B5EF4-FFF2-40B4-BE49-F238E27FC236}">
                  <a16:creationId xmlns:a16="http://schemas.microsoft.com/office/drawing/2014/main" id="{16866EFF-3A1D-431A-B3C8-BDDB11971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2" y="834"/>
              <a:ext cx="2" cy="10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730" name="Group 50">
            <a:extLst>
              <a:ext uri="{FF2B5EF4-FFF2-40B4-BE49-F238E27FC236}">
                <a16:creationId xmlns:a16="http://schemas.microsoft.com/office/drawing/2014/main" id="{10CBBEE3-C995-40C7-8055-73D775F37923}"/>
              </a:ext>
            </a:extLst>
          </p:cNvPr>
          <p:cNvGrpSpPr>
            <a:grpSpLocks/>
          </p:cNvGrpSpPr>
          <p:nvPr/>
        </p:nvGrpSpPr>
        <p:grpSpPr bwMode="auto">
          <a:xfrm>
            <a:off x="4076701" y="4487864"/>
            <a:ext cx="3108325" cy="466725"/>
            <a:chOff x="1257" y="2827"/>
            <a:chExt cx="1958" cy="294"/>
          </a:xfrm>
        </p:grpSpPr>
        <p:sp>
          <p:nvSpPr>
            <p:cNvPr id="30731" name="Line 35">
              <a:extLst>
                <a:ext uri="{FF2B5EF4-FFF2-40B4-BE49-F238E27FC236}">
                  <a16:creationId xmlns:a16="http://schemas.microsoft.com/office/drawing/2014/main" id="{7A397048-AC5F-45E5-8242-26A7DC0C2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4" y="2897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32" name="Rectangle 36">
              <a:extLst>
                <a:ext uri="{FF2B5EF4-FFF2-40B4-BE49-F238E27FC236}">
                  <a16:creationId xmlns:a16="http://schemas.microsoft.com/office/drawing/2014/main" id="{7D58E1DB-7812-4556-82AF-E6CDF3286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3" y="285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33" name="Rectangle 37">
              <a:extLst>
                <a:ext uri="{FF2B5EF4-FFF2-40B4-BE49-F238E27FC236}">
                  <a16:creationId xmlns:a16="http://schemas.microsoft.com/office/drawing/2014/main" id="{459A2F6D-E224-41E0-87F3-687E4A062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" y="285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34" name="Rectangle 38">
              <a:extLst>
                <a:ext uri="{FF2B5EF4-FFF2-40B4-BE49-F238E27FC236}">
                  <a16:creationId xmlns:a16="http://schemas.microsoft.com/office/drawing/2014/main" id="{791D2917-FC3F-42F2-B82C-C68456D5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285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35" name="Rectangle 39">
              <a:extLst>
                <a:ext uri="{FF2B5EF4-FFF2-40B4-BE49-F238E27FC236}">
                  <a16:creationId xmlns:a16="http://schemas.microsoft.com/office/drawing/2014/main" id="{CFAB31F4-CB1F-49DD-9D83-B8720B1B6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85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36" name="Rectangle 40">
              <a:extLst>
                <a:ext uri="{FF2B5EF4-FFF2-40B4-BE49-F238E27FC236}">
                  <a16:creationId xmlns:a16="http://schemas.microsoft.com/office/drawing/2014/main" id="{395022E0-2C51-4874-9030-48BA29671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" y="285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37" name="Rectangle 41">
              <a:extLst>
                <a:ext uri="{FF2B5EF4-FFF2-40B4-BE49-F238E27FC236}">
                  <a16:creationId xmlns:a16="http://schemas.microsoft.com/office/drawing/2014/main" id="{A4790790-D94C-4862-9ED3-44152E7E4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" y="2852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)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38" name="Rectangle 42">
              <a:extLst>
                <a:ext uri="{FF2B5EF4-FFF2-40B4-BE49-F238E27FC236}">
                  <a16:creationId xmlns:a16="http://schemas.microsoft.com/office/drawing/2014/main" id="{6FB05F16-0BB7-4997-9063-445278807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85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 dirty="0">
                  <a:solidFill>
                    <a:srgbClr val="000000"/>
                  </a:solidFill>
                </a:rPr>
                <a:t>y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0739" name="Rectangle 43">
              <a:extLst>
                <a:ext uri="{FF2B5EF4-FFF2-40B4-BE49-F238E27FC236}">
                  <a16:creationId xmlns:a16="http://schemas.microsoft.com/office/drawing/2014/main" id="{93C637E4-738C-49C4-8153-74B33CBAB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8" y="2852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,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40" name="Rectangle 44">
              <a:extLst>
                <a:ext uri="{FF2B5EF4-FFF2-40B4-BE49-F238E27FC236}">
                  <a16:creationId xmlns:a16="http://schemas.microsoft.com/office/drawing/2014/main" id="{E16FA2A8-C70C-471D-AA5F-31C26B32A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285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41" name="Rectangle 45">
              <a:extLst>
                <a:ext uri="{FF2B5EF4-FFF2-40B4-BE49-F238E27FC236}">
                  <a16:creationId xmlns:a16="http://schemas.microsoft.com/office/drawing/2014/main" id="{5363E614-6E6A-4AD2-B610-C7E98A3BB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2852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(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42" name="Rectangle 46">
              <a:extLst>
                <a:ext uri="{FF2B5EF4-FFF2-40B4-BE49-F238E27FC236}">
                  <a16:creationId xmlns:a16="http://schemas.microsoft.com/office/drawing/2014/main" id="{E073350E-F608-4180-8556-A67D12DEC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2852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F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43" name="Rectangle 47">
              <a:extLst>
                <a:ext uri="{FF2B5EF4-FFF2-40B4-BE49-F238E27FC236}">
                  <a16:creationId xmlns:a16="http://schemas.microsoft.com/office/drawing/2014/main" id="{64FFB07A-D082-41AE-8EC6-AE1CB291A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" y="282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44" name="Rectangle 48">
              <a:extLst>
                <a:ext uri="{FF2B5EF4-FFF2-40B4-BE49-F238E27FC236}">
                  <a16:creationId xmlns:a16="http://schemas.microsoft.com/office/drawing/2014/main" id="{A5823FDD-B454-42E4-92AE-38E04BF74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3" y="282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0745" name="Rectangle 49">
              <a:extLst>
                <a:ext uri="{FF2B5EF4-FFF2-40B4-BE49-F238E27FC236}">
                  <a16:creationId xmlns:a16="http://schemas.microsoft.com/office/drawing/2014/main" id="{3849B385-A299-437D-BAEB-F12DEFD6E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" y="282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61287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F6C2767F-1DA3-436F-97EA-BB4FD380C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ED531A91-BCFD-49E6-8072-6D06E7D74873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6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183FD1A-DE98-4212-B847-921DF1C64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9964" y="1"/>
            <a:ext cx="8428037" cy="1020763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K-Map Function Representation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7A1B4D1-007A-4887-8961-DAA63A811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438" y="1303339"/>
            <a:ext cx="7772400" cy="5013325"/>
          </a:xfrm>
          <a:extLst>
            <a:ext uri="{91240B29-F687-4F45-9708-019B960494DF}">
              <a14:hiddenLine xmlns:a14="http://schemas.microsoft.com/office/drawing/2010/main" w="2857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dirty="0"/>
              <a:t>Example:</a:t>
            </a:r>
            <a:r>
              <a:rPr lang="en-US" altLang="en-US" dirty="0"/>
              <a:t> </a:t>
            </a:r>
            <a:r>
              <a:rPr lang="en-US" altLang="en-US" b="1" dirty="0"/>
              <a:t>G(</a:t>
            </a:r>
            <a:r>
              <a:rPr lang="en-US" altLang="en-US" b="1" dirty="0" err="1"/>
              <a:t>x,y</a:t>
            </a:r>
            <a:r>
              <a:rPr lang="en-US" altLang="en-US" b="1" dirty="0"/>
              <a:t>) = x + y</a:t>
            </a:r>
            <a:endParaRPr lang="en-US" altLang="en-US" sz="3600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sz="2600" b="1" dirty="0"/>
              <a:t>For G(</a:t>
            </a:r>
            <a:r>
              <a:rPr lang="en-US" altLang="en-US" sz="2600" b="1" dirty="0" err="1"/>
              <a:t>x,y</a:t>
            </a:r>
            <a:r>
              <a:rPr lang="en-US" altLang="en-US" sz="2600" b="1" dirty="0"/>
              <a:t>), two pairs of adjacent cells containing 1’s can be combined using the Minimization Theorem:</a:t>
            </a:r>
            <a:endParaRPr lang="en-US" altLang="en-US" dirty="0"/>
          </a:p>
          <a:p>
            <a:pPr>
              <a:spcBef>
                <a:spcPct val="50000"/>
              </a:spcBef>
              <a:buClrTx/>
              <a:buFontTx/>
              <a:buChar char="•"/>
            </a:pPr>
            <a:endParaRPr lang="en-US" altLang="en-US" sz="2600" b="1" dirty="0"/>
          </a:p>
          <a:p>
            <a:endParaRPr lang="en-US" altLang="en-US" dirty="0"/>
          </a:p>
        </p:txBody>
      </p:sp>
      <p:grpSp>
        <p:nvGrpSpPr>
          <p:cNvPr id="31749" name="Group 4">
            <a:extLst>
              <a:ext uri="{FF2B5EF4-FFF2-40B4-BE49-F238E27FC236}">
                <a16:creationId xmlns:a16="http://schemas.microsoft.com/office/drawing/2014/main" id="{E05343DF-EED2-4C60-92A1-84FE4F40D638}"/>
              </a:ext>
            </a:extLst>
          </p:cNvPr>
          <p:cNvGrpSpPr>
            <a:grpSpLocks/>
          </p:cNvGrpSpPr>
          <p:nvPr/>
        </p:nvGrpSpPr>
        <p:grpSpPr bwMode="auto">
          <a:xfrm>
            <a:off x="7067550" y="1354139"/>
            <a:ext cx="2641600" cy="1781175"/>
            <a:chOff x="3492" y="853"/>
            <a:chExt cx="1664" cy="1122"/>
          </a:xfrm>
        </p:grpSpPr>
        <p:sp>
          <p:nvSpPr>
            <p:cNvPr id="31780" name="Rectangle 5">
              <a:extLst>
                <a:ext uri="{FF2B5EF4-FFF2-40B4-BE49-F238E27FC236}">
                  <a16:creationId xmlns:a16="http://schemas.microsoft.com/office/drawing/2014/main" id="{53884847-2697-44FE-A5C9-48AE30A5C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" y="899"/>
              <a:ext cx="6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G = x+y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1" name="Rectangle 6">
              <a:extLst>
                <a:ext uri="{FF2B5EF4-FFF2-40B4-BE49-F238E27FC236}">
                  <a16:creationId xmlns:a16="http://schemas.microsoft.com/office/drawing/2014/main" id="{3EAFD74B-2508-4B2E-8210-D8A05AD03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901"/>
              <a:ext cx="4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 = 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2" name="Rectangle 7">
              <a:extLst>
                <a:ext uri="{FF2B5EF4-FFF2-40B4-BE49-F238E27FC236}">
                  <a16:creationId xmlns:a16="http://schemas.microsoft.com/office/drawing/2014/main" id="{69690C03-CB39-49F6-AA31-97B45D33D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7" y="85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3" name="Rectangle 8">
              <a:extLst>
                <a:ext uri="{FF2B5EF4-FFF2-40B4-BE49-F238E27FC236}">
                  <a16:creationId xmlns:a16="http://schemas.microsoft.com/office/drawing/2014/main" id="{4C889130-D3E6-494E-BD8A-A401D42E9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" y="892"/>
              <a:ext cx="4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 = 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4" name="Rectangle 9">
              <a:extLst>
                <a:ext uri="{FF2B5EF4-FFF2-40B4-BE49-F238E27FC236}">
                  <a16:creationId xmlns:a16="http://schemas.microsoft.com/office/drawing/2014/main" id="{5A23BECC-7F5F-4E08-935C-470B59739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9" y="85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5" name="Line 10">
              <a:extLst>
                <a:ext uri="{FF2B5EF4-FFF2-40B4-BE49-F238E27FC236}">
                  <a16:creationId xmlns:a16="http://schemas.microsoft.com/office/drawing/2014/main" id="{BB25427F-8A92-438C-9BB2-D158B9A71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2" y="874"/>
              <a:ext cx="2" cy="110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86" name="Rectangle 11">
              <a:extLst>
                <a:ext uri="{FF2B5EF4-FFF2-40B4-BE49-F238E27FC236}">
                  <a16:creationId xmlns:a16="http://schemas.microsoft.com/office/drawing/2014/main" id="{33B370E0-A49D-400C-BE37-9042B2028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1261"/>
              <a:ext cx="4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x = 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7" name="Rectangle 12">
              <a:extLst>
                <a:ext uri="{FF2B5EF4-FFF2-40B4-BE49-F238E27FC236}">
                  <a16:creationId xmlns:a16="http://schemas.microsoft.com/office/drawing/2014/main" id="{E740F34E-0412-4ECA-9654-FF01FA38A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" y="126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8" name="Rectangle 13">
              <a:extLst>
                <a:ext uri="{FF2B5EF4-FFF2-40B4-BE49-F238E27FC236}">
                  <a16:creationId xmlns:a16="http://schemas.microsoft.com/office/drawing/2014/main" id="{B0F4EB8C-0B5A-4963-A629-AF6054E3F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" y="126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9" name="Rectangle 14">
              <a:extLst>
                <a:ext uri="{FF2B5EF4-FFF2-40B4-BE49-F238E27FC236}">
                  <a16:creationId xmlns:a16="http://schemas.microsoft.com/office/drawing/2014/main" id="{04170DCA-6A9D-4E63-A223-454DDC921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" y="126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0" name="Rectangle 15">
              <a:extLst>
                <a:ext uri="{FF2B5EF4-FFF2-40B4-BE49-F238E27FC236}">
                  <a16:creationId xmlns:a16="http://schemas.microsoft.com/office/drawing/2014/main" id="{E7878261-B858-4DF5-AEDE-65389635F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126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1" name="Rectangle 16">
              <a:extLst>
                <a:ext uri="{FF2B5EF4-FFF2-40B4-BE49-F238E27FC236}">
                  <a16:creationId xmlns:a16="http://schemas.microsoft.com/office/drawing/2014/main" id="{933DE80B-0C61-42E0-A9E6-7A27CDB85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26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2" name="Rectangle 17">
              <a:extLst>
                <a:ext uri="{FF2B5EF4-FFF2-40B4-BE49-F238E27FC236}">
                  <a16:creationId xmlns:a16="http://schemas.microsoft.com/office/drawing/2014/main" id="{30678608-E8AC-4AD8-ADF7-A794319A6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1670"/>
              <a:ext cx="4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x = 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3" name="Rectangle 18">
              <a:extLst>
                <a:ext uri="{FF2B5EF4-FFF2-40B4-BE49-F238E27FC236}">
                  <a16:creationId xmlns:a16="http://schemas.microsoft.com/office/drawing/2014/main" id="{D03704EB-A8AC-4936-909E-3914B252E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" y="167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4" name="Rectangle 19">
              <a:extLst>
                <a:ext uri="{FF2B5EF4-FFF2-40B4-BE49-F238E27FC236}">
                  <a16:creationId xmlns:a16="http://schemas.microsoft.com/office/drawing/2014/main" id="{FDD75E9A-20A6-4B10-ADCF-52FE0264B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" y="16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5" name="Rectangle 20">
              <a:extLst>
                <a:ext uri="{FF2B5EF4-FFF2-40B4-BE49-F238E27FC236}">
                  <a16:creationId xmlns:a16="http://schemas.microsoft.com/office/drawing/2014/main" id="{6A4DE6C8-3BA5-4C09-9065-84293E1FC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" y="167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6" name="Rectangle 21">
              <a:extLst>
                <a:ext uri="{FF2B5EF4-FFF2-40B4-BE49-F238E27FC236}">
                  <a16:creationId xmlns:a16="http://schemas.microsoft.com/office/drawing/2014/main" id="{88F3CDA5-D4FD-4263-B02F-1B95333FB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16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7" name="Rectangle 22">
              <a:extLst>
                <a:ext uri="{FF2B5EF4-FFF2-40B4-BE49-F238E27FC236}">
                  <a16:creationId xmlns:a16="http://schemas.microsoft.com/office/drawing/2014/main" id="{CF50556D-3EBC-4EE0-A854-6158487C4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67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8" name="Line 23">
              <a:extLst>
                <a:ext uri="{FF2B5EF4-FFF2-40B4-BE49-F238E27FC236}">
                  <a16:creationId xmlns:a16="http://schemas.microsoft.com/office/drawing/2014/main" id="{7A74B698-077F-4520-9BAC-7DBE4316E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1968"/>
              <a:ext cx="1572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99" name="Line 24">
              <a:extLst>
                <a:ext uri="{FF2B5EF4-FFF2-40B4-BE49-F238E27FC236}">
                  <a16:creationId xmlns:a16="http://schemas.microsoft.com/office/drawing/2014/main" id="{5E4A4790-4928-4E09-BA4C-FE7AA40135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4" y="1608"/>
              <a:ext cx="1572" cy="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800" name="Line 25">
              <a:extLst>
                <a:ext uri="{FF2B5EF4-FFF2-40B4-BE49-F238E27FC236}">
                  <a16:creationId xmlns:a16="http://schemas.microsoft.com/office/drawing/2014/main" id="{BC1750FD-5D8D-4F83-86FA-EF7C1ED1B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4" y="1239"/>
              <a:ext cx="1572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801" name="Line 26">
              <a:extLst>
                <a:ext uri="{FF2B5EF4-FFF2-40B4-BE49-F238E27FC236}">
                  <a16:creationId xmlns:a16="http://schemas.microsoft.com/office/drawing/2014/main" id="{A66DC94A-4458-4DE0-B623-588ED6D81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6" y="874"/>
              <a:ext cx="6" cy="108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802" name="Line 27">
              <a:extLst>
                <a:ext uri="{FF2B5EF4-FFF2-40B4-BE49-F238E27FC236}">
                  <a16:creationId xmlns:a16="http://schemas.microsoft.com/office/drawing/2014/main" id="{370FB6AA-CA3C-4145-B9AA-493746C9A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2" y="884"/>
              <a:ext cx="2" cy="108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F579DF78-CEA4-4D86-8022-7CF580578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875" y="5246024"/>
            <a:ext cx="4961050" cy="6172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4649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2|27.4|32.1|181.4|86.2|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.5|36.2|37.1|4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287.1|127.3|18|5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5.5|3.3|6.4|34.3|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8.2|224.9|279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51.4|280.4|1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45720" rIns="0" bIns="45720" numCol="1" anchor="t" anchorCtr="1" compatLnSpc="1">
        <a:prstTxWarp prst="textNoShape">
          <a:avLst/>
        </a:prstTxWarp>
        <a:spAutoFit/>
      </a:bodyPr>
      <a:lstStyle>
        <a:defPPr marL="742950" marR="0" indent="-28575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99"/>
          </a:buClr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45720" rIns="0" bIns="45720" numCol="1" anchor="t" anchorCtr="1" compatLnSpc="1">
        <a:prstTxWarp prst="textNoShape">
          <a:avLst/>
        </a:prstTxWarp>
        <a:spAutoFit/>
      </a:bodyPr>
      <a:lstStyle>
        <a:defPPr marL="742950" marR="0" indent="-28575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99"/>
          </a:buClr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405</Words>
  <Application>Microsoft Office PowerPoint</Application>
  <PresentationFormat>Widescreen</PresentationFormat>
  <Paragraphs>145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Symbol</vt:lpstr>
      <vt:lpstr>Times New Roman</vt:lpstr>
      <vt:lpstr>Wingdings</vt:lpstr>
      <vt:lpstr>Office Theme</vt:lpstr>
      <vt:lpstr>Default Design</vt:lpstr>
      <vt:lpstr>Karnaugh Maps (K-map)</vt:lpstr>
      <vt:lpstr>Some Uses of K-Maps</vt:lpstr>
      <vt:lpstr>Two Variable Maps</vt:lpstr>
      <vt:lpstr>K-Map and Truth Tables</vt:lpstr>
      <vt:lpstr>K-Map Function Representation</vt:lpstr>
      <vt:lpstr>K-Map Function Representation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Karnaugh Maps (K-map)</dc:title>
  <dc:creator>Sultan Daud Khan</dc:creator>
  <cp:lastModifiedBy>Sultan Daud Khan</cp:lastModifiedBy>
  <cp:revision>8</cp:revision>
  <dcterms:created xsi:type="dcterms:W3CDTF">2020-04-27T19:04:11Z</dcterms:created>
  <dcterms:modified xsi:type="dcterms:W3CDTF">2020-05-13T11:55:54Z</dcterms:modified>
</cp:coreProperties>
</file>