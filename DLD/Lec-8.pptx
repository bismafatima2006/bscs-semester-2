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305" r:id="rId3"/>
    <p:sldId id="307" r:id="rId4"/>
    <p:sldId id="308" r:id="rId5"/>
    <p:sldId id="30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EECF6-B73C-47BF-9F35-E3ABE2DA08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4943BE-9D91-4140-A274-EAAF8B3E9A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9A531-D9A6-43C7-8558-1DFFCEE99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7072E-2618-423E-BB1B-FB56CAB8578E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E55B4-7451-41FE-8FFF-1F984AEAE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86FC5-26EC-43E3-868B-C1319A6A9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2EBA-CF92-4BAF-B0E0-7470B0F089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2787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E9070-3F14-4F7A-9B1D-31D3B0162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3206F-D3D9-4096-B383-17B2A3B38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A3090-85C5-4A4F-893B-F8D079885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7072E-2618-423E-BB1B-FB56CAB8578E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9ADB9-0878-478A-918F-01B9C9B24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F7723-823B-45C7-8790-E12C87B18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2EBA-CF92-4BAF-B0E0-7470B0F089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6718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E1301-C0B0-487F-AE48-D48510C99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670E1C-8667-4546-8B76-F863731AF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78624-17FB-4195-8C60-2EE104761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7072E-2618-423E-BB1B-FB56CAB8578E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48C56-D34D-47A8-8CC5-6AB436980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7FD9-D1BD-4F45-8984-864F0FC62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2EBA-CF92-4BAF-B0E0-7470B0F089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6169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F7566-3C88-4A62-8102-3A96A51F3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D9532-C41A-45F2-8728-F914D2D86C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5AAB18-0210-4040-8379-F1D1DFA37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CDBC6B-EC02-4D05-B3C6-FD14C86F6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7072E-2618-423E-BB1B-FB56CAB8578E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A267E-1576-4ECF-960E-F2793D3EC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2EA6B1-CDF7-4776-853C-4D5EF5E87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2EBA-CF92-4BAF-B0E0-7470B0F089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75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8D07E-C30A-4B88-9652-1A8B56844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C9A843-3947-4DE8-A426-FE485D891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06BA6E-8D09-44CA-A6CC-5A92B1DE27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EC9CED-FB56-4236-A081-3AF0DC3A7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ACFB06-5C56-4E31-8EDD-8B89A0AB46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5BF04E-7FF3-4711-8BD2-AACCD99FB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7072E-2618-423E-BB1B-FB56CAB8578E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68C6E4-B600-40F8-98CF-79F40B64C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A47FEC-7432-4E39-A9DE-EA08B2368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2EBA-CF92-4BAF-B0E0-7470B0F089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5299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71F16-1F21-4003-BAE7-8A9A5B555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35E6F6-0EB0-41F4-954A-0D422CD3E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7072E-2618-423E-BB1B-FB56CAB8578E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E39AE7-0283-4FF0-9F9B-7BCC746F3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DF18B2-63E9-47B5-B7C1-5F4946B3A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2EBA-CF92-4BAF-B0E0-7470B0F089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5563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4D2073-E473-47AC-9520-1B5A194A9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7072E-2618-423E-BB1B-FB56CAB8578E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534184-C279-4AA2-8B21-2F52A0CC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373C2-F342-4B1A-9A07-975C42444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2EBA-CF92-4BAF-B0E0-7470B0F089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3924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6D2A8-749A-486B-878E-9CDD1E49D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ED3EA-82E9-4709-8BD1-CBB01C3FE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DAEFB1-5D6C-4C4A-8CF9-A99198C61C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842701-1AA5-40AF-80F4-CEE42C35D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7072E-2618-423E-BB1B-FB56CAB8578E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74BAC1-2703-452A-8CFB-F8BCB9AE8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AF4CA-9B0E-480F-B27B-B7DD8942D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2EBA-CF92-4BAF-B0E0-7470B0F089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0122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08AC1-108F-4F21-AB63-60AC73701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F74D87-D3B2-408E-A4F6-11C7F5A58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4923CB-E4E1-4FC2-9700-F4291E6EE4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3676CF-06DD-44DF-BD5F-1828E33FC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7072E-2618-423E-BB1B-FB56CAB8578E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C9F96-EED5-4A99-B3FE-DD93FCEC0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410F4-2ED1-4749-A7E5-57A914F86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2EBA-CF92-4BAF-B0E0-7470B0F089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6358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5770A-E014-4716-A509-80B3D3950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A1C2DE-392D-4EEF-891A-FB1AEE2676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CE1C0-6BAA-4841-9D7A-4CF22D056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7072E-2618-423E-BB1B-FB56CAB8578E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85A58-0179-4248-A4AA-203C92063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5E33B-AEB7-40FD-970F-637A2C58E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2EBA-CF92-4BAF-B0E0-7470B0F089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7038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7429AA-AF13-45D2-AA3F-1B067DC2CC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9E628E-7FEF-4A2A-958E-4C96467624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3EAEA-CE47-45F2-B893-86ED3107F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7072E-2618-423E-BB1B-FB56CAB8578E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DDAFC-48AE-4C8D-B20C-250EE799A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D5318-D484-4F90-A6DC-01270CA05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2EBA-CF92-4BAF-B0E0-7470B0F089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44673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051">
            <a:extLst>
              <a:ext uri="{FF2B5EF4-FFF2-40B4-BE49-F238E27FC236}">
                <a16:creationId xmlns:a16="http://schemas.microsoft.com/office/drawing/2014/main" id="{DF0C208A-D23A-4A29-AD9C-08B617D3A1C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444751" y="5167314"/>
            <a:ext cx="7884583" cy="153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ClrTx/>
              <a:buFont typeface="Wingdings" panose="05000000000000000000" pitchFamily="2" charset="2"/>
              <a:buNone/>
            </a:pPr>
            <a:r>
              <a:rPr lang="en-US" altLang="en-US" sz="2200" b="1"/>
              <a:t>Charles Kime &amp; Thomas Kaminski</a:t>
            </a:r>
          </a:p>
          <a:p>
            <a:pPr algn="ctr">
              <a:buClrTx/>
              <a:buFont typeface="Wingdings" panose="05000000000000000000" pitchFamily="2" charset="2"/>
              <a:buNone/>
            </a:pPr>
            <a:r>
              <a:rPr lang="en-US" altLang="en-US" sz="2200">
                <a:cs typeface="Times New Roman" panose="02020603050405020304" pitchFamily="18" charset="0"/>
              </a:rPr>
              <a:t>© 2004 Pearson Education, Inc.</a:t>
            </a:r>
            <a:br>
              <a:rPr lang="en-US" altLang="en-US" sz="2200">
                <a:cs typeface="Times New Roman" panose="02020603050405020304" pitchFamily="18" charset="0"/>
              </a:rPr>
            </a:br>
            <a:r>
              <a:rPr lang="en-US" altLang="en-US" sz="2200">
                <a:cs typeface="Times New Roman" panose="02020603050405020304" pitchFamily="18" charset="0"/>
                <a:hlinkClick r:id="" action="ppaction://hlinkshowjump?jump=lastslide"/>
              </a:rPr>
              <a:t>Terms of Use</a:t>
            </a:r>
            <a:br>
              <a:rPr lang="en-US" altLang="en-US" sz="2200">
                <a:cs typeface="Times New Roman" panose="02020603050405020304" pitchFamily="18" charset="0"/>
              </a:rPr>
            </a:br>
            <a:r>
              <a:rPr lang="en-US" altLang="en-US" sz="1800">
                <a:cs typeface="Times New Roman" panose="02020603050405020304" pitchFamily="18" charset="0"/>
              </a:rPr>
              <a:t>(Hyperlinks are active in View Show mode)</a:t>
            </a:r>
          </a:p>
        </p:txBody>
      </p:sp>
      <p:sp>
        <p:nvSpPr>
          <p:cNvPr id="3" name="Text Box 1052">
            <a:extLst>
              <a:ext uri="{FF2B5EF4-FFF2-40B4-BE49-F238E27FC236}">
                <a16:creationId xmlns:a16="http://schemas.microsoft.com/office/drawing/2014/main" id="{54F69419-8F33-4445-A9DA-DA7D07A3ACE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735667" y="2847976"/>
            <a:ext cx="9304867" cy="187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ClrTx/>
              <a:buFont typeface="Wingdings" panose="05000000000000000000" pitchFamily="2" charset="2"/>
              <a:buNone/>
            </a:pPr>
            <a:r>
              <a:rPr lang="en-US" altLang="en-US" sz="4000" b="1">
                <a:solidFill>
                  <a:schemeClr val="hlink"/>
                </a:solidFill>
                <a:latin typeface="Helvetica" panose="020B0604020202020204" pitchFamily="34" charset="0"/>
              </a:rPr>
              <a:t>Chapter 2 – Combinational Logic Circuits</a:t>
            </a:r>
          </a:p>
          <a:p>
            <a:pPr algn="ctr">
              <a:buClrTx/>
              <a:buFont typeface="Wingdings" panose="05000000000000000000" pitchFamily="2" charset="2"/>
              <a:buNone/>
            </a:pPr>
            <a:r>
              <a:rPr lang="en-US" altLang="en-US" sz="2400" b="1">
                <a:solidFill>
                  <a:schemeClr val="hlink"/>
                </a:solidFill>
                <a:latin typeface="Helvetica" panose="020B0604020202020204" pitchFamily="34" charset="0"/>
              </a:rPr>
              <a:t>Part 2 – Circuit Optimization</a:t>
            </a:r>
            <a:endParaRPr lang="en-US" altLang="en-US" sz="4000" b="1">
              <a:solidFill>
                <a:schemeClr val="hlink"/>
              </a:solidFill>
              <a:latin typeface="Helvetica" panose="020B0604020202020204" pitchFamily="34" charset="0"/>
            </a:endParaRPr>
          </a:p>
        </p:txBody>
      </p:sp>
      <p:sp>
        <p:nvSpPr>
          <p:cNvPr id="4" name="Text Box 1053">
            <a:extLst>
              <a:ext uri="{FF2B5EF4-FFF2-40B4-BE49-F238E27FC236}">
                <a16:creationId xmlns:a16="http://schemas.microsoft.com/office/drawing/2014/main" id="{C5F5D2DF-B538-4C32-B1C3-EE0F3EADD6C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06500" y="2179639"/>
            <a:ext cx="103632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ClrTx/>
              <a:buFont typeface="Wingdings" panose="05000000000000000000" pitchFamily="2" charset="2"/>
              <a:buNone/>
            </a:pPr>
            <a:r>
              <a:rPr lang="en-US" altLang="en-US" sz="3200" b="1"/>
              <a:t>Logic and Computer Design Fundamentals</a:t>
            </a:r>
          </a:p>
        </p:txBody>
      </p:sp>
      <p:sp>
        <p:nvSpPr>
          <p:cNvPr id="5" name="Line 1054">
            <a:extLst>
              <a:ext uri="{FF2B5EF4-FFF2-40B4-BE49-F238E27FC236}">
                <a16:creationId xmlns:a16="http://schemas.microsoft.com/office/drawing/2014/main" id="{A175E042-0DC0-4483-A35E-4B9405AF111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72585" y="1935163"/>
            <a:ext cx="10687049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1800"/>
          </a:p>
        </p:txBody>
      </p:sp>
    </p:spTree>
    <p:extLst>
      <p:ext uri="{BB962C8B-B14F-4D97-AF65-F5344CB8AC3E}">
        <p14:creationId xmlns:p14="http://schemas.microsoft.com/office/powerpoint/2010/main" val="2722097829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CA98EB-1231-4673-838A-6FD925808C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Chapter 2 - Part 2         </a:t>
            </a:r>
            <a:fld id="{EBEB7459-6587-436B-A74A-89D22764A33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7968525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C3ED9-DDC4-4C68-9FA9-860DADB2D0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Chapter 2 - Part 2         </a:t>
            </a:r>
            <a:fld id="{14000251-C9DC-45D9-A1D5-3B47D3346B2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669346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1917" y="1303338"/>
            <a:ext cx="5080000" cy="50276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5117" y="1303338"/>
            <a:ext cx="5080000" cy="50276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F73023-27C6-4952-8AC9-87F42D4A3E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Chapter 2 - Part 2         </a:t>
            </a:r>
            <a:fld id="{F569F07A-E262-4476-9FC1-62A6020793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8438185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70056F-8DD3-42AB-B44A-9278F7AC9C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Chapter 2 - Part 2         </a:t>
            </a:r>
            <a:fld id="{F17DF6CD-D178-4BCC-865C-8F8221EF06A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7124439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2D22F0-75A1-464F-B8EE-2053923D0C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Chapter 2 - Part 2         </a:t>
            </a:r>
            <a:fld id="{EA57E120-61D3-42AD-BDEE-D988FA140AD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604019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9B5867-A78C-4108-B686-39B82B97A7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Chapter 2 - Part 2         </a:t>
            </a:r>
            <a:fld id="{8E3842A7-A383-4BD0-9C0A-B12892807B6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1797452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5F265D-A38A-4046-ABCF-57A68A0308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Chapter 2 - Part 2         </a:t>
            </a:r>
            <a:fld id="{A5542BE7-599E-4B02-9CC7-261A6764688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3495022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5034A-A401-48CE-B485-C79D6B53A5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Chapter 2 - Part 2         </a:t>
            </a:r>
            <a:fld id="{792A2B2B-3277-4650-BA4D-ECF5DA83DFE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9776062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48A35-2C75-4F99-82DE-7063ABFDA1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Chapter 2 - Part 2         </a:t>
            </a:r>
            <a:fld id="{22FF12F0-4F42-4E93-AEF1-FA840FCFE86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3145679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0"/>
            <a:ext cx="2592917" cy="63309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1918" y="0"/>
            <a:ext cx="7579783" cy="63309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4EB87-3FCD-4CAD-80E7-F5A0317C5B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Chapter 2 - Part 2         </a:t>
            </a:r>
            <a:fld id="{1F3DA248-EF08-4ACA-97CB-2B2981DCC2B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665059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477014-738D-4FC2-B3C9-D3FE30C17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1AACA5-615A-4887-972F-DCE310496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49550-B71D-4736-B084-F97E0FDD30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97072E-2618-423E-BB1B-FB56CAB8578E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D30F5-1CDC-4C06-B6E2-B16DC04FD2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0FB1B-16F8-431C-B6F7-87C97C0DF7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B22EBA-CF92-4BAF-B0E0-7470B0F089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32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7" descr="C:\Documents and Settings\Charles R Kime\My Documents\Texts\Website\PowerPoint_Slides\Work_Area\Chapter_01\watermark.jpg">
            <a:extLst>
              <a:ext uri="{FF2B5EF4-FFF2-40B4-BE49-F238E27FC236}">
                <a16:creationId xmlns:a16="http://schemas.microsoft.com/office/drawing/2014/main" id="{46FCB52D-A7B7-477E-ACFB-3E010A5837A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45"/>
          <a:stretch>
            <a:fillRect/>
          </a:stretch>
        </p:blipFill>
        <p:spPr bwMode="auto">
          <a:xfrm>
            <a:off x="924985" y="6353175"/>
            <a:ext cx="2973916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ext Box 48">
            <a:extLst>
              <a:ext uri="{FF2B5EF4-FFF2-40B4-BE49-F238E27FC236}">
                <a16:creationId xmlns:a16="http://schemas.microsoft.com/office/drawing/2014/main" id="{165304A2-57F2-4DFF-BCF0-57F7F579033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29218" y="6338888"/>
            <a:ext cx="3638549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8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Tx/>
              <a:buFont typeface="Wingdings" panose="05000000000000000000" pitchFamily="2" charset="2"/>
              <a:buNone/>
            </a:pPr>
            <a:endParaRPr lang="en-US" altLang="en-US" sz="2800" b="1">
              <a:solidFill>
                <a:schemeClr val="accent2"/>
              </a:solidFill>
            </a:endParaRPr>
          </a:p>
        </p:txBody>
      </p:sp>
      <p:sp>
        <p:nvSpPr>
          <p:cNvPr id="1074" name="Rectangle 50">
            <a:extLst>
              <a:ext uri="{FF2B5EF4-FFF2-40B4-BE49-F238E27FC236}">
                <a16:creationId xmlns:a16="http://schemas.microsoft.com/office/drawing/2014/main" id="{A643867C-402A-485A-A12B-8F21D74C184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83133" y="6489700"/>
            <a:ext cx="31750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cs typeface="Times New Roman" panose="02020603050405020304" pitchFamily="18" charset="0"/>
              </a:defRPr>
            </a:lvl1pPr>
          </a:lstStyle>
          <a:p>
            <a:r>
              <a:rPr lang="en-US" altLang="en-US"/>
              <a:t>Chapter 2 - Part 2         </a:t>
            </a:r>
            <a:fld id="{315CF5BB-6FD2-41BE-A96A-D925FBCC06C3}" type="slidenum">
              <a:rPr lang="en-US" altLang="en-US">
                <a:cs typeface="+mn-cs"/>
              </a:rPr>
              <a:pPr/>
              <a:t>‹#›</a:t>
            </a:fld>
            <a:endParaRPr lang="en-US" altLang="en-US">
              <a:cs typeface="+mn-cs"/>
            </a:endParaRPr>
          </a:p>
        </p:txBody>
      </p:sp>
      <p:sp>
        <p:nvSpPr>
          <p:cNvPr id="1029" name="Line 51">
            <a:extLst>
              <a:ext uri="{FF2B5EF4-FFF2-40B4-BE49-F238E27FC236}">
                <a16:creationId xmlns:a16="http://schemas.microsoft.com/office/drawing/2014/main" id="{7F41B747-B841-404A-A9EE-C9F87D7C885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74700" y="1173163"/>
            <a:ext cx="10687051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1800"/>
          </a:p>
        </p:txBody>
      </p:sp>
      <p:sp>
        <p:nvSpPr>
          <p:cNvPr id="1030" name="Rectangle 52">
            <a:extLst>
              <a:ext uri="{FF2B5EF4-FFF2-40B4-BE49-F238E27FC236}">
                <a16:creationId xmlns:a16="http://schemas.microsoft.com/office/drawing/2014/main" id="{3FCB5002-3877-49B0-A52E-C131B9AC8A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54617" y="1"/>
            <a:ext cx="10363200" cy="1020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1" name="Rectangle 54">
            <a:extLst>
              <a:ext uri="{FF2B5EF4-FFF2-40B4-BE49-F238E27FC236}">
                <a16:creationId xmlns:a16="http://schemas.microsoft.com/office/drawing/2014/main" id="{4F8ECDFC-4B76-40E2-B171-5176BEBFF2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41917" y="1303338"/>
            <a:ext cx="10363200" cy="5027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80628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4.wmf"/><Relationship Id="rId2" Type="http://schemas.openxmlformats.org/officeDocument/2006/relationships/tags" Target="../tags/tag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4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3">
            <a:extLst>
              <a:ext uri="{FF2B5EF4-FFF2-40B4-BE49-F238E27FC236}">
                <a16:creationId xmlns:a16="http://schemas.microsoft.com/office/drawing/2014/main" id="{3E98BE39-0608-4A1F-A6EC-E34785811C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>
                <a:solidFill>
                  <a:srgbClr val="000000"/>
                </a:solidFill>
              </a:rPr>
              <a:t>Chapter 2 - Part 2         </a:t>
            </a:r>
            <a:fld id="{50CD50A6-2C51-49C1-BA41-CF50CEDAA9F7}" type="slidenum">
              <a:rPr lang="en-US" altLang="en-US" sz="160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t>1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01FDDA14-589F-4ECC-96AE-F79A3D375F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00288" y="1"/>
            <a:ext cx="7772400" cy="1020763"/>
          </a:xfrm>
        </p:spPr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Three Variable Maps</a:t>
            </a: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80E41640-DBD7-4D48-8078-7A1F9AA061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36775" y="1360489"/>
            <a:ext cx="7772400" cy="51958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b="1" dirty="0">
                <a:cs typeface="Times New Roman" panose="02020603050405020304" pitchFamily="18" charset="0"/>
              </a:rPr>
              <a:t>A three-variable K-map:</a:t>
            </a:r>
          </a:p>
          <a:p>
            <a:pPr>
              <a:lnSpc>
                <a:spcPct val="90000"/>
              </a:lnSpc>
            </a:pPr>
            <a:endParaRPr lang="en-US" altLang="en-US" sz="2400" b="1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 altLang="en-US" sz="3600" b="1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 altLang="en-US" sz="2800" b="1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400" b="1" dirty="0">
                <a:cs typeface="Times New Roman" panose="02020603050405020304" pitchFamily="18" charset="0"/>
              </a:rPr>
              <a:t>Where each </a:t>
            </a:r>
            <a:r>
              <a:rPr lang="en-US" altLang="en-US" sz="2400" b="1" dirty="0" err="1">
                <a:cs typeface="Times New Roman" panose="02020603050405020304" pitchFamily="18" charset="0"/>
              </a:rPr>
              <a:t>minterm</a:t>
            </a:r>
            <a:r>
              <a:rPr lang="en-US" altLang="en-US" sz="2400" b="1" dirty="0">
                <a:cs typeface="Times New Roman" panose="02020603050405020304" pitchFamily="18" charset="0"/>
              </a:rPr>
              <a:t> corresponds to the product terms: </a:t>
            </a:r>
          </a:p>
          <a:p>
            <a:pPr>
              <a:lnSpc>
                <a:spcPct val="90000"/>
              </a:lnSpc>
            </a:pPr>
            <a:endParaRPr lang="en-US" altLang="en-US" sz="2400" b="1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 altLang="en-US" sz="2800" b="1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 altLang="en-US" sz="2800" b="1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400" b="1" dirty="0">
                <a:cs typeface="Times New Roman" panose="02020603050405020304" pitchFamily="18" charset="0"/>
              </a:rPr>
              <a:t>Note that if the binary value for an </a:t>
            </a:r>
            <a:r>
              <a:rPr lang="en-US" altLang="en-US" sz="2400" b="1" u="sng" dirty="0">
                <a:cs typeface="Times New Roman" panose="02020603050405020304" pitchFamily="18" charset="0"/>
              </a:rPr>
              <a:t>index</a:t>
            </a:r>
            <a:r>
              <a:rPr lang="en-US" altLang="en-US" sz="2400" b="1" dirty="0">
                <a:cs typeface="Times New Roman" panose="02020603050405020304" pitchFamily="18" charset="0"/>
              </a:rPr>
              <a:t> differs in one bit position, the </a:t>
            </a:r>
            <a:r>
              <a:rPr lang="en-US" altLang="en-US" sz="2400" b="1" dirty="0" err="1">
                <a:cs typeface="Times New Roman" panose="02020603050405020304" pitchFamily="18" charset="0"/>
              </a:rPr>
              <a:t>minterms</a:t>
            </a:r>
            <a:r>
              <a:rPr lang="en-US" altLang="en-US" sz="2400" b="1" dirty="0">
                <a:cs typeface="Times New Roman" panose="02020603050405020304" pitchFamily="18" charset="0"/>
              </a:rPr>
              <a:t> are adjacent on the K-Map</a:t>
            </a:r>
            <a:r>
              <a:rPr lang="en-US" altLang="en-US" sz="2400" dirty="0"/>
              <a:t>  </a:t>
            </a:r>
          </a:p>
        </p:txBody>
      </p:sp>
      <p:grpSp>
        <p:nvGrpSpPr>
          <p:cNvPr id="32773" name="Group 4">
            <a:extLst>
              <a:ext uri="{FF2B5EF4-FFF2-40B4-BE49-F238E27FC236}">
                <a16:creationId xmlns:a16="http://schemas.microsoft.com/office/drawing/2014/main" id="{303B2897-608B-4757-BFB8-422C505F8563}"/>
              </a:ext>
            </a:extLst>
          </p:cNvPr>
          <p:cNvGrpSpPr>
            <a:grpSpLocks/>
          </p:cNvGrpSpPr>
          <p:nvPr/>
        </p:nvGrpSpPr>
        <p:grpSpPr bwMode="auto">
          <a:xfrm>
            <a:off x="5218113" y="1498601"/>
            <a:ext cx="5118100" cy="1611313"/>
            <a:chOff x="2327" y="944"/>
            <a:chExt cx="3224" cy="1015"/>
          </a:xfrm>
        </p:grpSpPr>
        <p:sp>
          <p:nvSpPr>
            <p:cNvPr id="32837" name="Line 5">
              <a:extLst>
                <a:ext uri="{FF2B5EF4-FFF2-40B4-BE49-F238E27FC236}">
                  <a16:creationId xmlns:a16="http://schemas.microsoft.com/office/drawing/2014/main" id="{3BC4C838-2271-4437-8DC3-B59514717E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6" y="1281"/>
              <a:ext cx="3176" cy="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38" name="Rectangle 6">
              <a:extLst>
                <a:ext uri="{FF2B5EF4-FFF2-40B4-BE49-F238E27FC236}">
                  <a16:creationId xmlns:a16="http://schemas.microsoft.com/office/drawing/2014/main" id="{4400C069-E493-4B55-A538-460062B70F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9" y="1013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 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32839" name="Rectangle 7">
              <a:extLst>
                <a:ext uri="{FF2B5EF4-FFF2-40B4-BE49-F238E27FC236}">
                  <a16:creationId xmlns:a16="http://schemas.microsoft.com/office/drawing/2014/main" id="{20DCB6E5-8686-455F-8585-8E91CA04E2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1" y="1013"/>
              <a:ext cx="48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yz=00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32840" name="Rectangle 8">
              <a:extLst>
                <a:ext uri="{FF2B5EF4-FFF2-40B4-BE49-F238E27FC236}">
                  <a16:creationId xmlns:a16="http://schemas.microsoft.com/office/drawing/2014/main" id="{19FF94E6-F2D6-4E1B-9105-33849022B6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1" y="1013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 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32841" name="Rectangle 9">
              <a:extLst>
                <a:ext uri="{FF2B5EF4-FFF2-40B4-BE49-F238E27FC236}">
                  <a16:creationId xmlns:a16="http://schemas.microsoft.com/office/drawing/2014/main" id="{154A406A-BDC7-426E-95A4-F971933D92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0" y="1013"/>
              <a:ext cx="48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yz=01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32842" name="Rectangle 10">
              <a:extLst>
                <a:ext uri="{FF2B5EF4-FFF2-40B4-BE49-F238E27FC236}">
                  <a16:creationId xmlns:a16="http://schemas.microsoft.com/office/drawing/2014/main" id="{5DDFA48D-049D-40D8-B01A-FA7F594D94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1" y="1013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 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32843" name="Rectangle 11">
              <a:extLst>
                <a:ext uri="{FF2B5EF4-FFF2-40B4-BE49-F238E27FC236}">
                  <a16:creationId xmlns:a16="http://schemas.microsoft.com/office/drawing/2014/main" id="{EEC905D3-D278-4305-B867-44DD566B8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0" y="1013"/>
              <a:ext cx="47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yz=11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32844" name="Rectangle 12">
              <a:extLst>
                <a:ext uri="{FF2B5EF4-FFF2-40B4-BE49-F238E27FC236}">
                  <a16:creationId xmlns:a16="http://schemas.microsoft.com/office/drawing/2014/main" id="{34B5DDB5-6E1A-484E-8B3E-4993A66546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1" y="1013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 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32845" name="Rectangle 13">
              <a:extLst>
                <a:ext uri="{FF2B5EF4-FFF2-40B4-BE49-F238E27FC236}">
                  <a16:creationId xmlns:a16="http://schemas.microsoft.com/office/drawing/2014/main" id="{7962496F-8FAD-4562-96DC-F50DB03A67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0" y="1013"/>
              <a:ext cx="48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yz=10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32846" name="Rectangle 14">
              <a:extLst>
                <a:ext uri="{FF2B5EF4-FFF2-40B4-BE49-F238E27FC236}">
                  <a16:creationId xmlns:a16="http://schemas.microsoft.com/office/drawing/2014/main" id="{34814AEA-04E7-4C45-BDF7-E942AAA5B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1" y="1013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 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32847" name="Rectangle 15">
              <a:extLst>
                <a:ext uri="{FF2B5EF4-FFF2-40B4-BE49-F238E27FC236}">
                  <a16:creationId xmlns:a16="http://schemas.microsoft.com/office/drawing/2014/main" id="{5F1EEC9D-45FE-425D-BEC7-54E6373156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3" y="958"/>
              <a:ext cx="6" cy="31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32848" name="Line 16">
              <a:extLst>
                <a:ext uri="{FF2B5EF4-FFF2-40B4-BE49-F238E27FC236}">
                  <a16:creationId xmlns:a16="http://schemas.microsoft.com/office/drawing/2014/main" id="{7EDB7619-FD67-4865-B59B-1F968450BC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3" y="958"/>
              <a:ext cx="3" cy="10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49" name="Line 17">
              <a:extLst>
                <a:ext uri="{FF2B5EF4-FFF2-40B4-BE49-F238E27FC236}">
                  <a16:creationId xmlns:a16="http://schemas.microsoft.com/office/drawing/2014/main" id="{782BB6B4-B514-41F7-9C86-8D2B0E6FD6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5" y="958"/>
              <a:ext cx="1" cy="100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50" name="Line 18">
              <a:extLst>
                <a:ext uri="{FF2B5EF4-FFF2-40B4-BE49-F238E27FC236}">
                  <a16:creationId xmlns:a16="http://schemas.microsoft.com/office/drawing/2014/main" id="{E4849B29-3F88-4B27-9A2B-5516817498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66" y="944"/>
              <a:ext cx="2" cy="101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51" name="Line 19">
              <a:extLst>
                <a:ext uri="{FF2B5EF4-FFF2-40B4-BE49-F238E27FC236}">
                  <a16:creationId xmlns:a16="http://schemas.microsoft.com/office/drawing/2014/main" id="{016EC514-9FD0-4F92-A064-3152D27B6A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2" y="953"/>
              <a:ext cx="3" cy="100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52" name="Line 20">
              <a:extLst>
                <a:ext uri="{FF2B5EF4-FFF2-40B4-BE49-F238E27FC236}">
                  <a16:creationId xmlns:a16="http://schemas.microsoft.com/office/drawing/2014/main" id="{67A963E7-4502-4B52-BB9E-DC8E5D0984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35" y="966"/>
              <a:ext cx="0" cy="98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53" name="Rectangle 21">
              <a:extLst>
                <a:ext uri="{FF2B5EF4-FFF2-40B4-BE49-F238E27FC236}">
                  <a16:creationId xmlns:a16="http://schemas.microsoft.com/office/drawing/2014/main" id="{6FCCF658-8565-4DE2-9836-3DFD15CD8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0" y="1356"/>
              <a:ext cx="30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x=0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32854" name="Rectangle 22">
              <a:extLst>
                <a:ext uri="{FF2B5EF4-FFF2-40B4-BE49-F238E27FC236}">
                  <a16:creationId xmlns:a16="http://schemas.microsoft.com/office/drawing/2014/main" id="{59FD16EF-F3A9-4356-9F45-F7175465F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0" y="1356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 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32855" name="Rectangle 23">
              <a:extLst>
                <a:ext uri="{FF2B5EF4-FFF2-40B4-BE49-F238E27FC236}">
                  <a16:creationId xmlns:a16="http://schemas.microsoft.com/office/drawing/2014/main" id="{1554942C-C052-4329-BE1B-080F6473A2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4" y="1356"/>
              <a:ext cx="22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m</a:t>
              </a:r>
              <a:r>
                <a:rPr lang="en-US" altLang="en-US" sz="2400" b="1" baseline="-25000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32856" name="Rectangle 24">
              <a:extLst>
                <a:ext uri="{FF2B5EF4-FFF2-40B4-BE49-F238E27FC236}">
                  <a16:creationId xmlns:a16="http://schemas.microsoft.com/office/drawing/2014/main" id="{C51E58FF-377E-4EEA-ADA2-5EB6103A6F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7" y="1356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 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32857" name="Rectangle 25">
              <a:extLst>
                <a:ext uri="{FF2B5EF4-FFF2-40B4-BE49-F238E27FC236}">
                  <a16:creationId xmlns:a16="http://schemas.microsoft.com/office/drawing/2014/main" id="{3F50BE25-7453-40A9-B554-0874C6036E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3" y="1356"/>
              <a:ext cx="22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m</a:t>
              </a:r>
              <a:r>
                <a:rPr lang="en-US" altLang="en-US" sz="2400" b="1" baseline="-250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2858" name="Rectangle 26">
              <a:extLst>
                <a:ext uri="{FF2B5EF4-FFF2-40B4-BE49-F238E27FC236}">
                  <a16:creationId xmlns:a16="http://schemas.microsoft.com/office/drawing/2014/main" id="{4A12000B-21CC-4827-9173-B86758D767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6" y="1356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 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32859" name="Rectangle 27">
              <a:extLst>
                <a:ext uri="{FF2B5EF4-FFF2-40B4-BE49-F238E27FC236}">
                  <a16:creationId xmlns:a16="http://schemas.microsoft.com/office/drawing/2014/main" id="{C5823B11-9171-49EC-9F9C-C3C2ACE15E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3" y="1356"/>
              <a:ext cx="22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m</a:t>
              </a:r>
              <a:r>
                <a:rPr lang="en-US" altLang="en-US" sz="2400" b="1" baseline="-2500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2860" name="Rectangle 28">
              <a:extLst>
                <a:ext uri="{FF2B5EF4-FFF2-40B4-BE49-F238E27FC236}">
                  <a16:creationId xmlns:a16="http://schemas.microsoft.com/office/drawing/2014/main" id="{9D7E0654-DE20-43EB-A744-A8A3423A7A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6" y="1356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 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32861" name="Rectangle 29">
              <a:extLst>
                <a:ext uri="{FF2B5EF4-FFF2-40B4-BE49-F238E27FC236}">
                  <a16:creationId xmlns:a16="http://schemas.microsoft.com/office/drawing/2014/main" id="{F34D197A-F082-40CB-933C-60A986AB5A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3" y="1356"/>
              <a:ext cx="22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m</a:t>
              </a:r>
              <a:r>
                <a:rPr lang="en-US" altLang="en-US" sz="2400" b="1" baseline="-2500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32862" name="Rectangle 30">
              <a:extLst>
                <a:ext uri="{FF2B5EF4-FFF2-40B4-BE49-F238E27FC236}">
                  <a16:creationId xmlns:a16="http://schemas.microsoft.com/office/drawing/2014/main" id="{23788970-F89B-458B-9B73-5AAE63F37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6" y="1356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 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32863" name="Rectangle 31">
              <a:extLst>
                <a:ext uri="{FF2B5EF4-FFF2-40B4-BE49-F238E27FC236}">
                  <a16:creationId xmlns:a16="http://schemas.microsoft.com/office/drawing/2014/main" id="{5789175C-2F08-4896-9E57-FBDBC413A0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0" y="1700"/>
              <a:ext cx="30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x=1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32864" name="Rectangle 32">
              <a:extLst>
                <a:ext uri="{FF2B5EF4-FFF2-40B4-BE49-F238E27FC236}">
                  <a16:creationId xmlns:a16="http://schemas.microsoft.com/office/drawing/2014/main" id="{74A6B538-DC72-4201-BDEF-8B7608E57A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0" y="1700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 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32865" name="Rectangle 33">
              <a:extLst>
                <a:ext uri="{FF2B5EF4-FFF2-40B4-BE49-F238E27FC236}">
                  <a16:creationId xmlns:a16="http://schemas.microsoft.com/office/drawing/2014/main" id="{041AD780-8868-46D4-B500-E53247356D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4" y="1700"/>
              <a:ext cx="22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m</a:t>
              </a:r>
              <a:r>
                <a:rPr lang="en-US" altLang="en-US" sz="2400" b="1" baseline="-250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32866" name="Rectangle 34">
              <a:extLst>
                <a:ext uri="{FF2B5EF4-FFF2-40B4-BE49-F238E27FC236}">
                  <a16:creationId xmlns:a16="http://schemas.microsoft.com/office/drawing/2014/main" id="{3C0972F8-618F-4B51-9114-40BCB8DDBD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7" y="1700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 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32867" name="Rectangle 35">
              <a:extLst>
                <a:ext uri="{FF2B5EF4-FFF2-40B4-BE49-F238E27FC236}">
                  <a16:creationId xmlns:a16="http://schemas.microsoft.com/office/drawing/2014/main" id="{99052818-285B-4D20-AB20-CA93B5C28C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3" y="1700"/>
              <a:ext cx="22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m</a:t>
              </a:r>
              <a:r>
                <a:rPr lang="en-US" altLang="en-US" sz="2400" b="1" baseline="-2500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32868" name="Rectangle 36">
              <a:extLst>
                <a:ext uri="{FF2B5EF4-FFF2-40B4-BE49-F238E27FC236}">
                  <a16:creationId xmlns:a16="http://schemas.microsoft.com/office/drawing/2014/main" id="{BCC821F6-B1AB-44FC-BBE8-6D8E9CFD8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6" y="1700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 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32869" name="Rectangle 37">
              <a:extLst>
                <a:ext uri="{FF2B5EF4-FFF2-40B4-BE49-F238E27FC236}">
                  <a16:creationId xmlns:a16="http://schemas.microsoft.com/office/drawing/2014/main" id="{E438A014-27DD-4641-8D23-25C171C48A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3" y="1700"/>
              <a:ext cx="22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m</a:t>
              </a:r>
              <a:r>
                <a:rPr lang="en-US" altLang="en-US" sz="2400" b="1" baseline="-2500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32870" name="Rectangle 38">
              <a:extLst>
                <a:ext uri="{FF2B5EF4-FFF2-40B4-BE49-F238E27FC236}">
                  <a16:creationId xmlns:a16="http://schemas.microsoft.com/office/drawing/2014/main" id="{BB8587A3-C727-4605-8FD9-7DEAE35321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6" y="1700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 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32871" name="Rectangle 39">
              <a:extLst>
                <a:ext uri="{FF2B5EF4-FFF2-40B4-BE49-F238E27FC236}">
                  <a16:creationId xmlns:a16="http://schemas.microsoft.com/office/drawing/2014/main" id="{B5A11420-F0AB-4D1A-B713-6ED5CCB1CB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3" y="1700"/>
              <a:ext cx="22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 dirty="0">
                  <a:solidFill>
                    <a:srgbClr val="000000"/>
                  </a:solidFill>
                </a:rPr>
                <a:t>m</a:t>
              </a:r>
              <a:r>
                <a:rPr lang="en-US" altLang="en-US" sz="2400" b="1" baseline="-25000" dirty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32872" name="Rectangle 40">
              <a:extLst>
                <a:ext uri="{FF2B5EF4-FFF2-40B4-BE49-F238E27FC236}">
                  <a16:creationId xmlns:a16="http://schemas.microsoft.com/office/drawing/2014/main" id="{E73C3789-D7C3-48D9-921B-6F1D9200CB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6" y="1700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 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32873" name="Line 41">
              <a:extLst>
                <a:ext uri="{FF2B5EF4-FFF2-40B4-BE49-F238E27FC236}">
                  <a16:creationId xmlns:a16="http://schemas.microsoft.com/office/drawing/2014/main" id="{6A199ABE-357C-4248-BBD0-0B282BE96C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27" y="1618"/>
              <a:ext cx="3224" cy="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74" name="Line 42">
              <a:extLst>
                <a:ext uri="{FF2B5EF4-FFF2-40B4-BE49-F238E27FC236}">
                  <a16:creationId xmlns:a16="http://schemas.microsoft.com/office/drawing/2014/main" id="{966E00E4-7760-4924-AC2A-80EF03C31C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27" y="1952"/>
              <a:ext cx="3210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2774" name="Rectangle 43">
            <a:extLst>
              <a:ext uri="{FF2B5EF4-FFF2-40B4-BE49-F238E27FC236}">
                <a16:creationId xmlns:a16="http://schemas.microsoft.com/office/drawing/2014/main" id="{BD32B477-7682-42C5-9EDA-214BD66BD1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8550" y="3159125"/>
            <a:ext cx="3175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Aft>
                <a:spcPct val="0"/>
              </a:spcAft>
              <a:buClrTx/>
            </a:pPr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>
              <a:solidFill>
                <a:srgbClr val="000000"/>
              </a:solidFill>
            </a:endParaRPr>
          </a:p>
        </p:txBody>
      </p:sp>
      <p:grpSp>
        <p:nvGrpSpPr>
          <p:cNvPr id="32775" name="Group 107">
            <a:extLst>
              <a:ext uri="{FF2B5EF4-FFF2-40B4-BE49-F238E27FC236}">
                <a16:creationId xmlns:a16="http://schemas.microsoft.com/office/drawing/2014/main" id="{6FC05DC9-628C-4597-9291-664F7A675C4A}"/>
              </a:ext>
            </a:extLst>
          </p:cNvPr>
          <p:cNvGrpSpPr>
            <a:grpSpLocks/>
          </p:cNvGrpSpPr>
          <p:nvPr/>
        </p:nvGrpSpPr>
        <p:grpSpPr bwMode="auto">
          <a:xfrm>
            <a:off x="5170488" y="3671888"/>
            <a:ext cx="5130800" cy="1662112"/>
            <a:chOff x="2297" y="2313"/>
            <a:chExt cx="3232" cy="1047"/>
          </a:xfrm>
        </p:grpSpPr>
        <p:sp>
          <p:nvSpPr>
            <p:cNvPr id="32777" name="Rectangle 46">
              <a:extLst>
                <a:ext uri="{FF2B5EF4-FFF2-40B4-BE49-F238E27FC236}">
                  <a16:creationId xmlns:a16="http://schemas.microsoft.com/office/drawing/2014/main" id="{DF3E755F-C760-42E8-AB44-451D30C6B4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8" y="2368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2778" name="Rectangle 47">
              <a:extLst>
                <a:ext uri="{FF2B5EF4-FFF2-40B4-BE49-F238E27FC236}">
                  <a16:creationId xmlns:a16="http://schemas.microsoft.com/office/drawing/2014/main" id="{C08F02A8-E929-47A2-A881-86E38BEF96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1" y="2368"/>
              <a:ext cx="48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yz=00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2779" name="Rectangle 48">
              <a:extLst>
                <a:ext uri="{FF2B5EF4-FFF2-40B4-BE49-F238E27FC236}">
                  <a16:creationId xmlns:a16="http://schemas.microsoft.com/office/drawing/2014/main" id="{0643B475-EC4C-4003-9913-6E03FA174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4" y="2368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2780" name="Rectangle 49">
              <a:extLst>
                <a:ext uri="{FF2B5EF4-FFF2-40B4-BE49-F238E27FC236}">
                  <a16:creationId xmlns:a16="http://schemas.microsoft.com/office/drawing/2014/main" id="{8A50507D-552A-45DA-B17B-3041C35372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4" y="2368"/>
              <a:ext cx="48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yz=01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2781" name="Rectangle 50">
              <a:extLst>
                <a:ext uri="{FF2B5EF4-FFF2-40B4-BE49-F238E27FC236}">
                  <a16:creationId xmlns:a16="http://schemas.microsoft.com/office/drawing/2014/main" id="{16C141B6-BB57-46C4-B536-C3ADFB6617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6" y="2368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2782" name="Rectangle 51">
              <a:extLst>
                <a:ext uri="{FF2B5EF4-FFF2-40B4-BE49-F238E27FC236}">
                  <a16:creationId xmlns:a16="http://schemas.microsoft.com/office/drawing/2014/main" id="{6D69FC60-17C3-425A-A4B5-F4E58EBA9C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" y="2368"/>
              <a:ext cx="47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yz=11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2783" name="Rectangle 52">
              <a:extLst>
                <a:ext uri="{FF2B5EF4-FFF2-40B4-BE49-F238E27FC236}">
                  <a16:creationId xmlns:a16="http://schemas.microsoft.com/office/drawing/2014/main" id="{1A28061E-4D1C-4758-A52F-C442CA95A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8" y="2368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2784" name="Rectangle 53">
              <a:extLst>
                <a:ext uri="{FF2B5EF4-FFF2-40B4-BE49-F238E27FC236}">
                  <a16:creationId xmlns:a16="http://schemas.microsoft.com/office/drawing/2014/main" id="{24EF792C-45BA-4AE3-8043-459FE255C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8" y="2368"/>
              <a:ext cx="48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yz=10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2785" name="Rectangle 54">
              <a:extLst>
                <a:ext uri="{FF2B5EF4-FFF2-40B4-BE49-F238E27FC236}">
                  <a16:creationId xmlns:a16="http://schemas.microsoft.com/office/drawing/2014/main" id="{62544DF7-4F50-4AEA-8D5F-26AF84CFF2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0" y="2368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2786" name="Rectangle 55">
              <a:extLst>
                <a:ext uri="{FF2B5EF4-FFF2-40B4-BE49-F238E27FC236}">
                  <a16:creationId xmlns:a16="http://schemas.microsoft.com/office/drawing/2014/main" id="{925ED14F-86DD-4F26-99A4-A1F42F2C38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4" y="2313"/>
              <a:ext cx="6" cy="31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32787" name="Line 56">
              <a:extLst>
                <a:ext uri="{FF2B5EF4-FFF2-40B4-BE49-F238E27FC236}">
                  <a16:creationId xmlns:a16="http://schemas.microsoft.com/office/drawing/2014/main" id="{65728884-C716-4BD1-BD98-63F765E783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4" y="2313"/>
              <a:ext cx="3" cy="104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788" name="Line 57">
              <a:extLst>
                <a:ext uri="{FF2B5EF4-FFF2-40B4-BE49-F238E27FC236}">
                  <a16:creationId xmlns:a16="http://schemas.microsoft.com/office/drawing/2014/main" id="{BE15CF73-9AB3-4975-B2BC-24592F548C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59" y="2322"/>
              <a:ext cx="2" cy="102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789" name="Line 58">
              <a:extLst>
                <a:ext uri="{FF2B5EF4-FFF2-40B4-BE49-F238E27FC236}">
                  <a16:creationId xmlns:a16="http://schemas.microsoft.com/office/drawing/2014/main" id="{82C18656-3FA0-43AA-81B1-E0F36C1617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51" y="2337"/>
              <a:ext cx="2" cy="100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790" name="Line 59">
              <a:extLst>
                <a:ext uri="{FF2B5EF4-FFF2-40B4-BE49-F238E27FC236}">
                  <a16:creationId xmlns:a16="http://schemas.microsoft.com/office/drawing/2014/main" id="{6E3DC53A-64D6-4A63-ABB6-E79844177D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43" y="2323"/>
              <a:ext cx="2" cy="102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791" name="Line 60">
              <a:extLst>
                <a:ext uri="{FF2B5EF4-FFF2-40B4-BE49-F238E27FC236}">
                  <a16:creationId xmlns:a16="http://schemas.microsoft.com/office/drawing/2014/main" id="{F487A105-0278-48D6-BED0-A2115C8BB6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24" y="2328"/>
              <a:ext cx="1" cy="101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792" name="Rectangle 61">
              <a:extLst>
                <a:ext uri="{FF2B5EF4-FFF2-40B4-BE49-F238E27FC236}">
                  <a16:creationId xmlns:a16="http://schemas.microsoft.com/office/drawing/2014/main" id="{F6140409-2C47-4024-8F35-52FF673D3F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8" y="2710"/>
              <a:ext cx="30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x=0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2793" name="Rectangle 62">
              <a:extLst>
                <a:ext uri="{FF2B5EF4-FFF2-40B4-BE49-F238E27FC236}">
                  <a16:creationId xmlns:a16="http://schemas.microsoft.com/office/drawing/2014/main" id="{87A4B711-4479-4148-B0F0-F928F4A4F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9" y="2710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2794" name="Rectangle 63">
              <a:extLst>
                <a:ext uri="{FF2B5EF4-FFF2-40B4-BE49-F238E27FC236}">
                  <a16:creationId xmlns:a16="http://schemas.microsoft.com/office/drawing/2014/main" id="{CA0CC0E6-3631-4D35-95DC-A91C0DC7FF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8" y="2722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2795" name="Line 64">
              <a:extLst>
                <a:ext uri="{FF2B5EF4-FFF2-40B4-BE49-F238E27FC236}">
                  <a16:creationId xmlns:a16="http://schemas.microsoft.com/office/drawing/2014/main" id="{6D4C7F8B-2687-458D-8A50-022602A785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8" y="2625"/>
              <a:ext cx="3226" cy="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796" name="Rectangle 65">
              <a:extLst>
                <a:ext uri="{FF2B5EF4-FFF2-40B4-BE49-F238E27FC236}">
                  <a16:creationId xmlns:a16="http://schemas.microsoft.com/office/drawing/2014/main" id="{644B44C4-5583-4144-929E-0AE37DB731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8" y="3063"/>
              <a:ext cx="30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x=1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2797" name="Rectangle 66">
              <a:extLst>
                <a:ext uri="{FF2B5EF4-FFF2-40B4-BE49-F238E27FC236}">
                  <a16:creationId xmlns:a16="http://schemas.microsoft.com/office/drawing/2014/main" id="{22E28CA0-D862-43A2-931D-79C215C21B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9" y="3063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2798" name="Rectangle 67">
              <a:extLst>
                <a:ext uri="{FF2B5EF4-FFF2-40B4-BE49-F238E27FC236}">
                  <a16:creationId xmlns:a16="http://schemas.microsoft.com/office/drawing/2014/main" id="{FA4826B0-48A7-4B5E-B4B6-A76AE5E5E5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4" y="3076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2400" b="1">
                  <a:solidFill>
                    <a:srgbClr val="000000"/>
                  </a:solidFill>
                </a:rPr>
                <a:t> </a:t>
              </a:r>
              <a:endParaRPr lang="en-US" altLang="en-US" b="1">
                <a:solidFill>
                  <a:srgbClr val="000000"/>
                </a:solidFill>
              </a:endParaRPr>
            </a:p>
          </p:txBody>
        </p:sp>
        <p:sp>
          <p:nvSpPr>
            <p:cNvPr id="32799" name="Line 68">
              <a:extLst>
                <a:ext uri="{FF2B5EF4-FFF2-40B4-BE49-F238E27FC236}">
                  <a16:creationId xmlns:a16="http://schemas.microsoft.com/office/drawing/2014/main" id="{FC7965D7-DB97-41B8-906B-BF6EF9A86E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97" y="2990"/>
              <a:ext cx="3226" cy="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00" name="Line 69">
              <a:extLst>
                <a:ext uri="{FF2B5EF4-FFF2-40B4-BE49-F238E27FC236}">
                  <a16:creationId xmlns:a16="http://schemas.microsoft.com/office/drawing/2014/main" id="{10802C4D-AB3A-4329-8231-7905D5DFA2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02" y="3345"/>
              <a:ext cx="3227" cy="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01" name="Line 70">
              <a:extLst>
                <a:ext uri="{FF2B5EF4-FFF2-40B4-BE49-F238E27FC236}">
                  <a16:creationId xmlns:a16="http://schemas.microsoft.com/office/drawing/2014/main" id="{85BBA2AF-2B82-4A92-A1BE-CFE17C93CB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5" y="2715"/>
              <a:ext cx="104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02" name="Line 71">
              <a:extLst>
                <a:ext uri="{FF2B5EF4-FFF2-40B4-BE49-F238E27FC236}">
                  <a16:creationId xmlns:a16="http://schemas.microsoft.com/office/drawing/2014/main" id="{696BCD15-EBE1-4595-AD46-4C886E17AA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9" y="2715"/>
              <a:ext cx="112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03" name="Line 72">
              <a:extLst>
                <a:ext uri="{FF2B5EF4-FFF2-40B4-BE49-F238E27FC236}">
                  <a16:creationId xmlns:a16="http://schemas.microsoft.com/office/drawing/2014/main" id="{AE8ECC5A-BBB4-42F6-9501-6A17E5F8C5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1" y="2715"/>
              <a:ext cx="92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04" name="Rectangle 73">
              <a:extLst>
                <a:ext uri="{FF2B5EF4-FFF2-40B4-BE49-F238E27FC236}">
                  <a16:creationId xmlns:a16="http://schemas.microsoft.com/office/drawing/2014/main" id="{8FAAF98B-FDBD-48BB-ACB5-A3A612BB37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8" y="2679"/>
              <a:ext cx="9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z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2805" name="Rectangle 74">
              <a:extLst>
                <a:ext uri="{FF2B5EF4-FFF2-40B4-BE49-F238E27FC236}">
                  <a16:creationId xmlns:a16="http://schemas.microsoft.com/office/drawing/2014/main" id="{75C82F98-C39E-456A-923B-A6427777A5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9" y="2679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y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2806" name="Rectangle 75">
              <a:extLst>
                <a:ext uri="{FF2B5EF4-FFF2-40B4-BE49-F238E27FC236}">
                  <a16:creationId xmlns:a16="http://schemas.microsoft.com/office/drawing/2014/main" id="{B3A5B875-156D-41C2-9B13-31567F218E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679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x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2807" name="Line 76">
              <a:extLst>
                <a:ext uri="{FF2B5EF4-FFF2-40B4-BE49-F238E27FC236}">
                  <a16:creationId xmlns:a16="http://schemas.microsoft.com/office/drawing/2014/main" id="{4D8863AC-764C-4C39-B074-89B352BB4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5" y="2716"/>
              <a:ext cx="104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08" name="Line 77">
              <a:extLst>
                <a:ext uri="{FF2B5EF4-FFF2-40B4-BE49-F238E27FC236}">
                  <a16:creationId xmlns:a16="http://schemas.microsoft.com/office/drawing/2014/main" id="{675FE286-59FA-4024-8B07-C8A1DAB16B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9" y="2716"/>
              <a:ext cx="112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09" name="Rectangle 78">
              <a:extLst>
                <a:ext uri="{FF2B5EF4-FFF2-40B4-BE49-F238E27FC236}">
                  <a16:creationId xmlns:a16="http://schemas.microsoft.com/office/drawing/2014/main" id="{8B573DD9-ED74-4121-A82D-BB536D7C50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8" y="2680"/>
              <a:ext cx="9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z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2810" name="Rectangle 79">
              <a:extLst>
                <a:ext uri="{FF2B5EF4-FFF2-40B4-BE49-F238E27FC236}">
                  <a16:creationId xmlns:a16="http://schemas.microsoft.com/office/drawing/2014/main" id="{F30366EF-D92C-4F62-865B-DC632F7631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9" y="2680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y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2811" name="Rectangle 80">
              <a:extLst>
                <a:ext uri="{FF2B5EF4-FFF2-40B4-BE49-F238E27FC236}">
                  <a16:creationId xmlns:a16="http://schemas.microsoft.com/office/drawing/2014/main" id="{1DC4532E-9589-40F9-8C55-7F7F00ABF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0" y="2680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x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2812" name="Line 81">
              <a:extLst>
                <a:ext uri="{FF2B5EF4-FFF2-40B4-BE49-F238E27FC236}">
                  <a16:creationId xmlns:a16="http://schemas.microsoft.com/office/drawing/2014/main" id="{3F6A625C-AC4C-4713-A741-3CE5FE1509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7" y="2725"/>
              <a:ext cx="104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13" name="Rectangle 82">
              <a:extLst>
                <a:ext uri="{FF2B5EF4-FFF2-40B4-BE49-F238E27FC236}">
                  <a16:creationId xmlns:a16="http://schemas.microsoft.com/office/drawing/2014/main" id="{7DE14B26-F51A-4A71-BC95-41CE848F6D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0" y="2689"/>
              <a:ext cx="9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z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2814" name="Rectangle 83">
              <a:extLst>
                <a:ext uri="{FF2B5EF4-FFF2-40B4-BE49-F238E27FC236}">
                  <a16:creationId xmlns:a16="http://schemas.microsoft.com/office/drawing/2014/main" id="{E3D56E02-9901-4FE4-A9DE-8446D83495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1" y="2689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y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2815" name="Rectangle 84">
              <a:extLst>
                <a:ext uri="{FF2B5EF4-FFF2-40B4-BE49-F238E27FC236}">
                  <a16:creationId xmlns:a16="http://schemas.microsoft.com/office/drawing/2014/main" id="{3836375F-64A7-4F10-9DA8-59F7643EFD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2" y="2689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x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2816" name="Line 85">
              <a:extLst>
                <a:ext uri="{FF2B5EF4-FFF2-40B4-BE49-F238E27FC236}">
                  <a16:creationId xmlns:a16="http://schemas.microsoft.com/office/drawing/2014/main" id="{8D2C95B7-A513-4AA7-908D-A8F635903D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9" y="2725"/>
              <a:ext cx="104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17" name="Line 86">
              <a:extLst>
                <a:ext uri="{FF2B5EF4-FFF2-40B4-BE49-F238E27FC236}">
                  <a16:creationId xmlns:a16="http://schemas.microsoft.com/office/drawing/2014/main" id="{814805D4-3391-4F60-96D0-53E8FA2799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5" y="2725"/>
              <a:ext cx="92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18" name="Rectangle 87">
              <a:extLst>
                <a:ext uri="{FF2B5EF4-FFF2-40B4-BE49-F238E27FC236}">
                  <a16:creationId xmlns:a16="http://schemas.microsoft.com/office/drawing/2014/main" id="{38D0BBF4-2D91-4F84-8956-F7AA889CDE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2" y="2689"/>
              <a:ext cx="9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z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2819" name="Rectangle 88">
              <a:extLst>
                <a:ext uri="{FF2B5EF4-FFF2-40B4-BE49-F238E27FC236}">
                  <a16:creationId xmlns:a16="http://schemas.microsoft.com/office/drawing/2014/main" id="{BD3C44BC-2E20-4B37-B797-E5089D0C8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3" y="2689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y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2820" name="Rectangle 89">
              <a:extLst>
                <a:ext uri="{FF2B5EF4-FFF2-40B4-BE49-F238E27FC236}">
                  <a16:creationId xmlns:a16="http://schemas.microsoft.com/office/drawing/2014/main" id="{6190ADFF-D959-47DF-A1AC-7E85BF5B0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4" y="2689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x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2821" name="Line 90">
              <a:extLst>
                <a:ext uri="{FF2B5EF4-FFF2-40B4-BE49-F238E27FC236}">
                  <a16:creationId xmlns:a16="http://schemas.microsoft.com/office/drawing/2014/main" id="{457FDF28-6A28-41E9-B470-C5DEFE3C79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9" y="3080"/>
              <a:ext cx="112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22" name="Line 91">
              <a:extLst>
                <a:ext uri="{FF2B5EF4-FFF2-40B4-BE49-F238E27FC236}">
                  <a16:creationId xmlns:a16="http://schemas.microsoft.com/office/drawing/2014/main" id="{70046FC7-4644-47C5-B2C7-22392AD8D0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1" y="3080"/>
              <a:ext cx="92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23" name="Rectangle 92">
              <a:extLst>
                <a:ext uri="{FF2B5EF4-FFF2-40B4-BE49-F238E27FC236}">
                  <a16:creationId xmlns:a16="http://schemas.microsoft.com/office/drawing/2014/main" id="{6F4C3156-CB7E-4ED7-9E6A-14F5B838D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8" y="3035"/>
              <a:ext cx="9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z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2824" name="Rectangle 93">
              <a:extLst>
                <a:ext uri="{FF2B5EF4-FFF2-40B4-BE49-F238E27FC236}">
                  <a16:creationId xmlns:a16="http://schemas.microsoft.com/office/drawing/2014/main" id="{E38AA626-ED5E-4721-B078-48B2BD98E5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9" y="3035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y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2825" name="Rectangle 94">
              <a:extLst>
                <a:ext uri="{FF2B5EF4-FFF2-40B4-BE49-F238E27FC236}">
                  <a16:creationId xmlns:a16="http://schemas.microsoft.com/office/drawing/2014/main" id="{03C5763B-3490-431B-97E8-25CD44C6D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0" y="3035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x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2826" name="Line 95">
              <a:extLst>
                <a:ext uri="{FF2B5EF4-FFF2-40B4-BE49-F238E27FC236}">
                  <a16:creationId xmlns:a16="http://schemas.microsoft.com/office/drawing/2014/main" id="{63061619-7B52-455D-9AAC-81C9FDAB8D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0" y="3089"/>
              <a:ext cx="112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27" name="Rectangle 96">
              <a:extLst>
                <a:ext uri="{FF2B5EF4-FFF2-40B4-BE49-F238E27FC236}">
                  <a16:creationId xmlns:a16="http://schemas.microsoft.com/office/drawing/2014/main" id="{CCABE2B0-76A9-4467-8A24-92ECD61445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9" y="3044"/>
              <a:ext cx="9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z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2828" name="Rectangle 97">
              <a:extLst>
                <a:ext uri="{FF2B5EF4-FFF2-40B4-BE49-F238E27FC236}">
                  <a16:creationId xmlns:a16="http://schemas.microsoft.com/office/drawing/2014/main" id="{09701D7A-1A1D-42F2-8890-CB68A770AB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0" y="3044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y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2829" name="Rectangle 98">
              <a:extLst>
                <a:ext uri="{FF2B5EF4-FFF2-40B4-BE49-F238E27FC236}">
                  <a16:creationId xmlns:a16="http://schemas.microsoft.com/office/drawing/2014/main" id="{84CF079E-CB47-4468-ACF8-28165B779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" y="3044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x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2830" name="Rectangle 99">
              <a:extLst>
                <a:ext uri="{FF2B5EF4-FFF2-40B4-BE49-F238E27FC236}">
                  <a16:creationId xmlns:a16="http://schemas.microsoft.com/office/drawing/2014/main" id="{569B8726-2E09-42E3-9734-620DC8CFD7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9" y="3025"/>
              <a:ext cx="9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z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2831" name="Rectangle 100">
              <a:extLst>
                <a:ext uri="{FF2B5EF4-FFF2-40B4-BE49-F238E27FC236}">
                  <a16:creationId xmlns:a16="http://schemas.microsoft.com/office/drawing/2014/main" id="{B50BE9AC-A5D7-4CB8-A2E7-EFE879039F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0" y="3025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y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2832" name="Rectangle 101">
              <a:extLst>
                <a:ext uri="{FF2B5EF4-FFF2-40B4-BE49-F238E27FC236}">
                  <a16:creationId xmlns:a16="http://schemas.microsoft.com/office/drawing/2014/main" id="{2BC394E6-985F-400E-9DAF-45F1C01EB2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1" y="3025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x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2833" name="Line 102">
              <a:extLst>
                <a:ext uri="{FF2B5EF4-FFF2-40B4-BE49-F238E27FC236}">
                  <a16:creationId xmlns:a16="http://schemas.microsoft.com/office/drawing/2014/main" id="{5301A1B1-FCB8-4BC6-BBB9-D8283814BA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5" y="3089"/>
              <a:ext cx="92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34" name="Rectangle 103">
              <a:extLst>
                <a:ext uri="{FF2B5EF4-FFF2-40B4-BE49-F238E27FC236}">
                  <a16:creationId xmlns:a16="http://schemas.microsoft.com/office/drawing/2014/main" id="{57301BA9-EA61-48E7-8F2E-9C63E0C58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3044"/>
              <a:ext cx="9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z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2835" name="Rectangle 104">
              <a:extLst>
                <a:ext uri="{FF2B5EF4-FFF2-40B4-BE49-F238E27FC236}">
                  <a16:creationId xmlns:a16="http://schemas.microsoft.com/office/drawing/2014/main" id="{E4101AD3-E3FF-4448-93E7-6D93908DE6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3" y="3044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y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2836" name="Rectangle 105">
              <a:extLst>
                <a:ext uri="{FF2B5EF4-FFF2-40B4-BE49-F238E27FC236}">
                  <a16:creationId xmlns:a16="http://schemas.microsoft.com/office/drawing/2014/main" id="{2C84E1C5-E8EF-47ED-BFDB-7DD04692D8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4" y="3044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x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</p:grpSp>
      <p:graphicFrame>
        <p:nvGraphicFramePr>
          <p:cNvPr id="32776" name="Object 106">
            <a:extLst>
              <a:ext uri="{FF2B5EF4-FFF2-40B4-BE49-F238E27FC236}">
                <a16:creationId xmlns:a16="http://schemas.microsoft.com/office/drawing/2014/main" id="{505B1A6D-3A01-432A-8CA3-3538870CF3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00750" y="3219450"/>
          <a:ext cx="190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Equation" r:id="rId4" imgW="190500" imgH="419100" progId="Equation.3">
                  <p:embed/>
                </p:oleObj>
              </mc:Choice>
              <mc:Fallback>
                <p:oleObj name="Equation" r:id="rId4" imgW="190500" imgH="419100" progId="Equation.3">
                  <p:embed/>
                  <p:pic>
                    <p:nvPicPr>
                      <p:cNvPr id="32776" name="Object 106">
                        <a:extLst>
                          <a:ext uri="{FF2B5EF4-FFF2-40B4-BE49-F238E27FC236}">
                            <a16:creationId xmlns:a16="http://schemas.microsoft.com/office/drawing/2014/main" id="{505B1A6D-3A01-432A-8CA3-3538870CF3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0750" y="3219450"/>
                        <a:ext cx="190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  <p:transition advTm="31273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7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27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3">
            <a:extLst>
              <a:ext uri="{FF2B5EF4-FFF2-40B4-BE49-F238E27FC236}">
                <a16:creationId xmlns:a16="http://schemas.microsoft.com/office/drawing/2014/main" id="{F90B3188-B378-4F12-8ABF-9B234D4149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>
                <a:solidFill>
                  <a:srgbClr val="000000"/>
                </a:solidFill>
              </a:rPr>
              <a:t>Chapter 2 - Part 2         </a:t>
            </a:r>
            <a:fld id="{3A8AAFB4-C918-4A06-935F-4CC15EE85DBE}" type="slidenum">
              <a:rPr lang="en-US" altLang="en-US" sz="160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t>2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855092DC-64D6-4B72-A7A9-2F547B358E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Example Functions</a:t>
            </a: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68EFD7EA-4754-45D3-B32C-E0F6EE0E78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1397" y="1261799"/>
            <a:ext cx="7902575" cy="5027612"/>
          </a:xfrm>
        </p:spPr>
        <p:txBody>
          <a:bodyPr/>
          <a:lstStyle/>
          <a:p>
            <a:r>
              <a:rPr lang="en-US" altLang="en-US" sz="2400" b="1" dirty="0">
                <a:cs typeface="Times New Roman" panose="02020603050405020304" pitchFamily="18" charset="0"/>
              </a:rPr>
              <a:t>By convention, we represent the </a:t>
            </a:r>
            <a:r>
              <a:rPr lang="en-US" altLang="en-US" sz="2400" b="1" dirty="0" err="1">
                <a:cs typeface="Times New Roman" panose="02020603050405020304" pitchFamily="18" charset="0"/>
              </a:rPr>
              <a:t>minterms</a:t>
            </a:r>
            <a:r>
              <a:rPr lang="en-US" altLang="en-US" sz="2400" b="1" dirty="0">
                <a:cs typeface="Times New Roman" panose="02020603050405020304" pitchFamily="18" charset="0"/>
              </a:rPr>
              <a:t> of F by a "1" in the map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r>
              <a:rPr lang="en-US" altLang="en-US" sz="2400" b="1" dirty="0">
                <a:cs typeface="Times New Roman" panose="02020603050405020304" pitchFamily="18" charset="0"/>
              </a:rPr>
              <a:t>Example: </a:t>
            </a:r>
            <a:br>
              <a:rPr lang="en-US" altLang="en-US" sz="2400" b="1" dirty="0">
                <a:cs typeface="Times New Roman" panose="02020603050405020304" pitchFamily="18" charset="0"/>
              </a:rPr>
            </a:br>
            <a:endParaRPr lang="en-US" altLang="en-US" sz="2400" b="1" dirty="0">
              <a:cs typeface="Times New Roman" panose="02020603050405020304" pitchFamily="18" charset="0"/>
            </a:endParaRPr>
          </a:p>
          <a:p>
            <a:endParaRPr lang="en-US" altLang="en-US" sz="2400" b="1" dirty="0">
              <a:cs typeface="Times New Roman" panose="02020603050405020304" pitchFamily="18" charset="0"/>
            </a:endParaRPr>
          </a:p>
          <a:p>
            <a:endParaRPr lang="en-US" altLang="en-US" sz="1600" dirty="0">
              <a:cs typeface="Times New Roman" panose="02020603050405020304" pitchFamily="18" charset="0"/>
            </a:endParaRPr>
          </a:p>
          <a:p>
            <a:r>
              <a:rPr lang="en-US" altLang="en-US" sz="2400" b="1" dirty="0">
                <a:cs typeface="Times New Roman" panose="02020603050405020304" pitchFamily="18" charset="0"/>
              </a:rPr>
              <a:t>Example: </a:t>
            </a:r>
          </a:p>
          <a:p>
            <a:endParaRPr lang="en-US" altLang="en-US" sz="2400" b="1" dirty="0"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en-US" sz="2400" dirty="0"/>
          </a:p>
        </p:txBody>
      </p:sp>
      <p:grpSp>
        <p:nvGrpSpPr>
          <p:cNvPr id="34821" name="Group 5">
            <a:extLst>
              <a:ext uri="{FF2B5EF4-FFF2-40B4-BE49-F238E27FC236}">
                <a16:creationId xmlns:a16="http://schemas.microsoft.com/office/drawing/2014/main" id="{C796C4F2-B244-450A-A386-7E41DC8567E2}"/>
              </a:ext>
            </a:extLst>
          </p:cNvPr>
          <p:cNvGrpSpPr>
            <a:grpSpLocks/>
          </p:cNvGrpSpPr>
          <p:nvPr/>
        </p:nvGrpSpPr>
        <p:grpSpPr bwMode="auto">
          <a:xfrm>
            <a:off x="4656931" y="1758952"/>
            <a:ext cx="2878138" cy="2195512"/>
            <a:chOff x="3052" y="1391"/>
            <a:chExt cx="1813" cy="1383"/>
          </a:xfrm>
        </p:grpSpPr>
        <p:sp>
          <p:nvSpPr>
            <p:cNvPr id="34851" name="Line 6">
              <a:extLst>
                <a:ext uri="{FF2B5EF4-FFF2-40B4-BE49-F238E27FC236}">
                  <a16:creationId xmlns:a16="http://schemas.microsoft.com/office/drawing/2014/main" id="{99A84AB9-71AF-4BEA-B562-B061CBEC9D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89" y="1438"/>
              <a:ext cx="1" cy="99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52" name="Text Box 7">
              <a:extLst>
                <a:ext uri="{FF2B5EF4-FFF2-40B4-BE49-F238E27FC236}">
                  <a16:creationId xmlns:a16="http://schemas.microsoft.com/office/drawing/2014/main" id="{35994F27-0F12-48EB-ACF9-62E49F215E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3" y="1391"/>
              <a:ext cx="24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200" b="1">
                  <a:solidFill>
                    <a:srgbClr val="000000"/>
                  </a:solidFill>
                </a:rPr>
                <a:t>y</a:t>
              </a:r>
            </a:p>
          </p:txBody>
        </p:sp>
        <p:sp>
          <p:nvSpPr>
            <p:cNvPr id="34853" name="Line 8">
              <a:extLst>
                <a:ext uri="{FF2B5EF4-FFF2-40B4-BE49-F238E27FC236}">
                  <a16:creationId xmlns:a16="http://schemas.microsoft.com/office/drawing/2014/main" id="{3F53186F-89FA-4508-A645-9169ED7B8A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2" y="1769"/>
              <a:ext cx="1553" cy="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54" name="Line 9">
              <a:extLst>
                <a:ext uri="{FF2B5EF4-FFF2-40B4-BE49-F238E27FC236}">
                  <a16:creationId xmlns:a16="http://schemas.microsoft.com/office/drawing/2014/main" id="{16BFF28A-F56C-484D-80A5-18D952EC12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3" y="1774"/>
              <a:ext cx="1" cy="66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55" name="Line 10">
              <a:extLst>
                <a:ext uri="{FF2B5EF4-FFF2-40B4-BE49-F238E27FC236}">
                  <a16:creationId xmlns:a16="http://schemas.microsoft.com/office/drawing/2014/main" id="{A480EA62-BAD1-44FF-8A16-9C7E0684AA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05" y="1769"/>
              <a:ext cx="1" cy="98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56" name="Line 11">
              <a:extLst>
                <a:ext uri="{FF2B5EF4-FFF2-40B4-BE49-F238E27FC236}">
                  <a16:creationId xmlns:a16="http://schemas.microsoft.com/office/drawing/2014/main" id="{83213AF2-3D29-41EC-8962-10703B6155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71" y="1767"/>
              <a:ext cx="1" cy="100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57" name="Line 12">
              <a:extLst>
                <a:ext uri="{FF2B5EF4-FFF2-40B4-BE49-F238E27FC236}">
                  <a16:creationId xmlns:a16="http://schemas.microsoft.com/office/drawing/2014/main" id="{DECCB4CE-5789-47D9-AFA1-79A93B13F5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62" y="1770"/>
              <a:ext cx="0" cy="66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58" name="Line 13">
              <a:extLst>
                <a:ext uri="{FF2B5EF4-FFF2-40B4-BE49-F238E27FC236}">
                  <a16:creationId xmlns:a16="http://schemas.microsoft.com/office/drawing/2014/main" id="{B127E508-DE68-48F0-A896-F1AE3F8DB5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56" y="2098"/>
              <a:ext cx="1807" cy="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59" name="Line 14">
              <a:extLst>
                <a:ext uri="{FF2B5EF4-FFF2-40B4-BE49-F238E27FC236}">
                  <a16:creationId xmlns:a16="http://schemas.microsoft.com/office/drawing/2014/main" id="{CE4BFE02-2D09-4A86-AE6A-0E336C1AAC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6" y="2432"/>
              <a:ext cx="1548" cy="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60" name="Text Box 15">
              <a:extLst>
                <a:ext uri="{FF2B5EF4-FFF2-40B4-BE49-F238E27FC236}">
                  <a16:creationId xmlns:a16="http://schemas.microsoft.com/office/drawing/2014/main" id="{3D549BF0-70DA-4D25-8502-DFC924DE8D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2" y="2039"/>
              <a:ext cx="24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200" b="1">
                  <a:solidFill>
                    <a:srgbClr val="000000"/>
                  </a:solidFill>
                </a:rPr>
                <a:t>x</a:t>
              </a:r>
            </a:p>
          </p:txBody>
        </p:sp>
        <p:sp>
          <p:nvSpPr>
            <p:cNvPr id="34861" name="Text Box 16">
              <a:extLst>
                <a:ext uri="{FF2B5EF4-FFF2-40B4-BE49-F238E27FC236}">
                  <a16:creationId xmlns:a16="http://schemas.microsoft.com/office/drawing/2014/main" id="{66CC2233-7792-43A0-8EED-EF1BD9E73F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5" y="1777"/>
              <a:ext cx="25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1800" b="1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4862" name="Text Box 17">
              <a:extLst>
                <a:ext uri="{FF2B5EF4-FFF2-40B4-BE49-F238E27FC236}">
                  <a16:creationId xmlns:a16="http://schemas.microsoft.com/office/drawing/2014/main" id="{E77FCEC6-018A-4F3D-8794-C151A0DEA6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6" y="1767"/>
              <a:ext cx="25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1800" b="1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34863" name="Text Box 18">
              <a:extLst>
                <a:ext uri="{FF2B5EF4-FFF2-40B4-BE49-F238E27FC236}">
                  <a16:creationId xmlns:a16="http://schemas.microsoft.com/office/drawing/2014/main" id="{32237328-23EA-4A39-8486-26BB91902D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9" y="1771"/>
              <a:ext cx="25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1800" b="1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34864" name="Text Box 19">
              <a:extLst>
                <a:ext uri="{FF2B5EF4-FFF2-40B4-BE49-F238E27FC236}">
                  <a16:creationId xmlns:a16="http://schemas.microsoft.com/office/drawing/2014/main" id="{F155C1A2-22A1-4B12-B8AC-09E9022311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7" y="2098"/>
              <a:ext cx="25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1800" b="1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34865" name="Text Box 20">
              <a:extLst>
                <a:ext uri="{FF2B5EF4-FFF2-40B4-BE49-F238E27FC236}">
                  <a16:creationId xmlns:a16="http://schemas.microsoft.com/office/drawing/2014/main" id="{A7A2A2F3-D793-4ED1-8E58-F19A7DAB3E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5" y="1767"/>
              <a:ext cx="25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1800" b="1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4866" name="Text Box 21">
              <a:extLst>
                <a:ext uri="{FF2B5EF4-FFF2-40B4-BE49-F238E27FC236}">
                  <a16:creationId xmlns:a16="http://schemas.microsoft.com/office/drawing/2014/main" id="{A7A92B7B-831C-453E-9F66-167BE07D69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1" y="2103"/>
              <a:ext cx="25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1800" b="1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34867" name="Text Box 22">
              <a:extLst>
                <a:ext uri="{FF2B5EF4-FFF2-40B4-BE49-F238E27FC236}">
                  <a16:creationId xmlns:a16="http://schemas.microsoft.com/office/drawing/2014/main" id="{23DF0B8A-E8A9-46C6-A7EF-FFE3AE2CAD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74" y="2102"/>
              <a:ext cx="25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1800" b="1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34868" name="Text Box 23">
              <a:extLst>
                <a:ext uri="{FF2B5EF4-FFF2-40B4-BE49-F238E27FC236}">
                  <a16:creationId xmlns:a16="http://schemas.microsoft.com/office/drawing/2014/main" id="{63E25314-ABE8-44ED-8BA9-80244EEC48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9" y="2098"/>
              <a:ext cx="25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1800" b="1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34869" name="Text Box 24">
              <a:extLst>
                <a:ext uri="{FF2B5EF4-FFF2-40B4-BE49-F238E27FC236}">
                  <a16:creationId xmlns:a16="http://schemas.microsoft.com/office/drawing/2014/main" id="{4C08E556-F0A0-4E7E-854B-6913799C92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2" y="1767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4870" name="Text Box 25">
              <a:extLst>
                <a:ext uri="{FF2B5EF4-FFF2-40B4-BE49-F238E27FC236}">
                  <a16:creationId xmlns:a16="http://schemas.microsoft.com/office/drawing/2014/main" id="{181E9DC7-26D3-4AF1-8E89-525052C5EE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3" y="2103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4871" name="Text Box 26">
              <a:extLst>
                <a:ext uri="{FF2B5EF4-FFF2-40B4-BE49-F238E27FC236}">
                  <a16:creationId xmlns:a16="http://schemas.microsoft.com/office/drawing/2014/main" id="{0D207B1A-4635-4D0C-A010-B144CE6ACE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0" y="2103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4872" name="Text Box 27">
              <a:extLst>
                <a:ext uri="{FF2B5EF4-FFF2-40B4-BE49-F238E27FC236}">
                  <a16:creationId xmlns:a16="http://schemas.microsoft.com/office/drawing/2014/main" id="{122CB50E-0EA4-4EBD-92DE-B384A821DB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9" y="1777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4873" name="Text Box 28">
              <a:extLst>
                <a:ext uri="{FF2B5EF4-FFF2-40B4-BE49-F238E27FC236}">
                  <a16:creationId xmlns:a16="http://schemas.microsoft.com/office/drawing/2014/main" id="{446A4A64-E313-4139-880C-BE65E152C2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2381"/>
              <a:ext cx="22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200" b="1">
                  <a:solidFill>
                    <a:srgbClr val="000000"/>
                  </a:solidFill>
                </a:rPr>
                <a:t>z</a:t>
              </a:r>
            </a:p>
          </p:txBody>
        </p:sp>
      </p:grpSp>
      <p:grpSp>
        <p:nvGrpSpPr>
          <p:cNvPr id="34822" name="Group 29">
            <a:extLst>
              <a:ext uri="{FF2B5EF4-FFF2-40B4-BE49-F238E27FC236}">
                <a16:creationId xmlns:a16="http://schemas.microsoft.com/office/drawing/2014/main" id="{29DA245B-BE46-4CF5-BCCF-585FA9C0FE64}"/>
              </a:ext>
            </a:extLst>
          </p:cNvPr>
          <p:cNvGrpSpPr>
            <a:grpSpLocks/>
          </p:cNvGrpSpPr>
          <p:nvPr/>
        </p:nvGrpSpPr>
        <p:grpSpPr bwMode="auto">
          <a:xfrm>
            <a:off x="4581635" y="3948229"/>
            <a:ext cx="2878137" cy="2195513"/>
            <a:chOff x="3070" y="2697"/>
            <a:chExt cx="1813" cy="1383"/>
          </a:xfrm>
        </p:grpSpPr>
        <p:sp>
          <p:nvSpPr>
            <p:cNvPr id="34828" name="Line 30">
              <a:extLst>
                <a:ext uri="{FF2B5EF4-FFF2-40B4-BE49-F238E27FC236}">
                  <a16:creationId xmlns:a16="http://schemas.microsoft.com/office/drawing/2014/main" id="{F6950047-5661-4E5E-B7B3-D1C984DAA9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0" y="3075"/>
              <a:ext cx="1553" cy="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29" name="Line 31">
              <a:extLst>
                <a:ext uri="{FF2B5EF4-FFF2-40B4-BE49-F238E27FC236}">
                  <a16:creationId xmlns:a16="http://schemas.microsoft.com/office/drawing/2014/main" id="{BECDACBF-7AF0-4287-9C9B-9747135B91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1" y="3080"/>
              <a:ext cx="1" cy="66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30" name="Line 32">
              <a:extLst>
                <a:ext uri="{FF2B5EF4-FFF2-40B4-BE49-F238E27FC236}">
                  <a16:creationId xmlns:a16="http://schemas.microsoft.com/office/drawing/2014/main" id="{49829F02-4710-4BC3-903E-BAC90CD144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23" y="3075"/>
              <a:ext cx="1" cy="98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31" name="Line 33">
              <a:extLst>
                <a:ext uri="{FF2B5EF4-FFF2-40B4-BE49-F238E27FC236}">
                  <a16:creationId xmlns:a16="http://schemas.microsoft.com/office/drawing/2014/main" id="{04F09058-8851-4950-950C-20E0605D2F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07" y="2744"/>
              <a:ext cx="1" cy="99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32" name="Line 34">
              <a:extLst>
                <a:ext uri="{FF2B5EF4-FFF2-40B4-BE49-F238E27FC236}">
                  <a16:creationId xmlns:a16="http://schemas.microsoft.com/office/drawing/2014/main" id="{EB9015BE-BA33-4E57-A397-0896443582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89" y="3073"/>
              <a:ext cx="1" cy="100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33" name="Line 35">
              <a:extLst>
                <a:ext uri="{FF2B5EF4-FFF2-40B4-BE49-F238E27FC236}">
                  <a16:creationId xmlns:a16="http://schemas.microsoft.com/office/drawing/2014/main" id="{BA693510-4D41-488E-80A2-C78A38C3F9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0" y="3076"/>
              <a:ext cx="0" cy="66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34" name="Line 36">
              <a:extLst>
                <a:ext uri="{FF2B5EF4-FFF2-40B4-BE49-F238E27FC236}">
                  <a16:creationId xmlns:a16="http://schemas.microsoft.com/office/drawing/2014/main" id="{8A48E5E4-C9CC-4BF1-A17B-1863330CB0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4" y="3404"/>
              <a:ext cx="1807" cy="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35" name="Line 37">
              <a:extLst>
                <a:ext uri="{FF2B5EF4-FFF2-40B4-BE49-F238E27FC236}">
                  <a16:creationId xmlns:a16="http://schemas.microsoft.com/office/drawing/2014/main" id="{3FCEFE8A-DAB6-4DA3-9416-14CD7229E1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4" y="3738"/>
              <a:ext cx="1548" cy="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36" name="Text Box 38">
              <a:extLst>
                <a:ext uri="{FF2B5EF4-FFF2-40B4-BE49-F238E27FC236}">
                  <a16:creationId xmlns:a16="http://schemas.microsoft.com/office/drawing/2014/main" id="{BF11CBF0-498F-4BA4-9806-92B9C41B48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0" y="3345"/>
              <a:ext cx="24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200" b="1">
                  <a:solidFill>
                    <a:srgbClr val="000000"/>
                  </a:solidFill>
                </a:rPr>
                <a:t>x</a:t>
              </a:r>
            </a:p>
          </p:txBody>
        </p:sp>
        <p:sp>
          <p:nvSpPr>
            <p:cNvPr id="34837" name="Text Box 39">
              <a:extLst>
                <a:ext uri="{FF2B5EF4-FFF2-40B4-BE49-F238E27FC236}">
                  <a16:creationId xmlns:a16="http://schemas.microsoft.com/office/drawing/2014/main" id="{D4430D79-8A0D-47D2-B45E-43CA461302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1" y="2697"/>
              <a:ext cx="24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200" b="1">
                  <a:solidFill>
                    <a:srgbClr val="000000"/>
                  </a:solidFill>
                </a:rPr>
                <a:t>y</a:t>
              </a:r>
            </a:p>
          </p:txBody>
        </p:sp>
        <p:sp>
          <p:nvSpPr>
            <p:cNvPr id="34838" name="Text Box 40">
              <a:extLst>
                <a:ext uri="{FF2B5EF4-FFF2-40B4-BE49-F238E27FC236}">
                  <a16:creationId xmlns:a16="http://schemas.microsoft.com/office/drawing/2014/main" id="{89A47A20-1BB6-453E-ADB5-2CFAD7CC2D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3" y="3083"/>
              <a:ext cx="25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1800" b="1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4839" name="Text Box 41">
              <a:extLst>
                <a:ext uri="{FF2B5EF4-FFF2-40B4-BE49-F238E27FC236}">
                  <a16:creationId xmlns:a16="http://schemas.microsoft.com/office/drawing/2014/main" id="{EB5F338A-48B2-46C2-BEB5-8A7F52CAB7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3073"/>
              <a:ext cx="25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1800" b="1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34840" name="Text Box 42">
              <a:extLst>
                <a:ext uri="{FF2B5EF4-FFF2-40B4-BE49-F238E27FC236}">
                  <a16:creationId xmlns:a16="http://schemas.microsoft.com/office/drawing/2014/main" id="{0BDC8B57-2EBF-4D19-B253-FBFA0EC874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7" y="3077"/>
              <a:ext cx="25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1800" b="1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34841" name="Text Box 43">
              <a:extLst>
                <a:ext uri="{FF2B5EF4-FFF2-40B4-BE49-F238E27FC236}">
                  <a16:creationId xmlns:a16="http://schemas.microsoft.com/office/drawing/2014/main" id="{80D32C22-CEF1-4D73-926F-796A5EF92A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5" y="3404"/>
              <a:ext cx="25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1800" b="1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34842" name="Text Box 44">
              <a:extLst>
                <a:ext uri="{FF2B5EF4-FFF2-40B4-BE49-F238E27FC236}">
                  <a16:creationId xmlns:a16="http://schemas.microsoft.com/office/drawing/2014/main" id="{B4380A78-044A-42F7-8201-004259D282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3" y="3073"/>
              <a:ext cx="25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1800" b="1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4843" name="Text Box 45">
              <a:extLst>
                <a:ext uri="{FF2B5EF4-FFF2-40B4-BE49-F238E27FC236}">
                  <a16:creationId xmlns:a16="http://schemas.microsoft.com/office/drawing/2014/main" id="{A7752CAC-9CE8-4E36-A8DE-351712F2CA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9" y="3409"/>
              <a:ext cx="25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1800" b="1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34844" name="Text Box 46">
              <a:extLst>
                <a:ext uri="{FF2B5EF4-FFF2-40B4-BE49-F238E27FC236}">
                  <a16:creationId xmlns:a16="http://schemas.microsoft.com/office/drawing/2014/main" id="{2B510AD2-5DCF-470A-B577-832345261E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2" y="3408"/>
              <a:ext cx="25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1800" b="1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34845" name="Text Box 47">
              <a:extLst>
                <a:ext uri="{FF2B5EF4-FFF2-40B4-BE49-F238E27FC236}">
                  <a16:creationId xmlns:a16="http://schemas.microsoft.com/office/drawing/2014/main" id="{6173619C-F1DA-4FA6-8F90-D400B8E9D3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7" y="3404"/>
              <a:ext cx="25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1800" b="1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34846" name="Text Box 48">
              <a:extLst>
                <a:ext uri="{FF2B5EF4-FFF2-40B4-BE49-F238E27FC236}">
                  <a16:creationId xmlns:a16="http://schemas.microsoft.com/office/drawing/2014/main" id="{DF22FA63-0096-4456-9EFB-28EE0B2E4F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6" y="3418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4847" name="Text Box 49">
              <a:extLst>
                <a:ext uri="{FF2B5EF4-FFF2-40B4-BE49-F238E27FC236}">
                  <a16:creationId xmlns:a16="http://schemas.microsoft.com/office/drawing/2014/main" id="{BE306212-8004-44E0-A5E1-903F6BA4BC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1" y="3418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4848" name="Text Box 50">
              <a:extLst>
                <a:ext uri="{FF2B5EF4-FFF2-40B4-BE49-F238E27FC236}">
                  <a16:creationId xmlns:a16="http://schemas.microsoft.com/office/drawing/2014/main" id="{2ED706C6-F206-4156-B215-C4959069DA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9" y="3408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4849" name="Text Box 51">
              <a:extLst>
                <a:ext uri="{FF2B5EF4-FFF2-40B4-BE49-F238E27FC236}">
                  <a16:creationId xmlns:a16="http://schemas.microsoft.com/office/drawing/2014/main" id="{EE85C6DE-9803-4030-9760-F7FA3BDE3B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7" y="3083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4850" name="Text Box 52">
              <a:extLst>
                <a:ext uri="{FF2B5EF4-FFF2-40B4-BE49-F238E27FC236}">
                  <a16:creationId xmlns:a16="http://schemas.microsoft.com/office/drawing/2014/main" id="{9AF7C408-E11E-49FF-9A45-C09C184E74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3" y="3677"/>
              <a:ext cx="22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200" b="1">
                  <a:solidFill>
                    <a:srgbClr val="000000"/>
                  </a:solidFill>
                </a:rPr>
                <a:t>z</a:t>
              </a:r>
            </a:p>
          </p:txBody>
        </p:sp>
      </p:grpSp>
      <p:graphicFrame>
        <p:nvGraphicFramePr>
          <p:cNvPr id="34823" name="Object 53">
            <a:extLst>
              <a:ext uri="{FF2B5EF4-FFF2-40B4-BE49-F238E27FC236}">
                <a16:creationId xmlns:a16="http://schemas.microsoft.com/office/drawing/2014/main" id="{D641A53F-C315-42DB-A4CE-74FD3EC726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4351698"/>
              </p:ext>
            </p:extLst>
          </p:nvPr>
        </p:nvGraphicFramePr>
        <p:xfrm>
          <a:off x="645373" y="2684463"/>
          <a:ext cx="3225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" name="Equation" r:id="rId4" imgW="3225800" imgH="368300" progId="Equation.3">
                  <p:embed/>
                </p:oleObj>
              </mc:Choice>
              <mc:Fallback>
                <p:oleObj name="Equation" r:id="rId4" imgW="3225800" imgH="368300" progId="Equation.3">
                  <p:embed/>
                  <p:pic>
                    <p:nvPicPr>
                      <p:cNvPr id="34823" name="Object 53">
                        <a:extLst>
                          <a:ext uri="{FF2B5EF4-FFF2-40B4-BE49-F238E27FC236}">
                            <a16:creationId xmlns:a16="http://schemas.microsoft.com/office/drawing/2014/main" id="{D641A53F-C315-42DB-A4CE-74FD3EC726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373" y="2684463"/>
                        <a:ext cx="32258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4" name="Object 55">
            <a:extLst>
              <a:ext uri="{FF2B5EF4-FFF2-40B4-BE49-F238E27FC236}">
                <a16:creationId xmlns:a16="http://schemas.microsoft.com/office/drawing/2014/main" id="{1C5047DE-D674-45D5-BD8E-EB3477710D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2631255"/>
              </p:ext>
            </p:extLst>
          </p:nvPr>
        </p:nvGraphicFramePr>
        <p:xfrm>
          <a:off x="594573" y="4355306"/>
          <a:ext cx="32766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" name="Equation" r:id="rId6" imgW="3276600" imgH="368300" progId="Equation.3">
                  <p:embed/>
                </p:oleObj>
              </mc:Choice>
              <mc:Fallback>
                <p:oleObj name="Equation" r:id="rId6" imgW="3276600" imgH="368300" progId="Equation.3">
                  <p:embed/>
                  <p:pic>
                    <p:nvPicPr>
                      <p:cNvPr id="34824" name="Object 55">
                        <a:extLst>
                          <a:ext uri="{FF2B5EF4-FFF2-40B4-BE49-F238E27FC236}">
                            <a16:creationId xmlns:a16="http://schemas.microsoft.com/office/drawing/2014/main" id="{1C5047DE-D674-45D5-BD8E-EB3477710D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573" y="4355306"/>
                        <a:ext cx="32766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  <p:transition advTm="98450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8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8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8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8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3">
            <a:extLst>
              <a:ext uri="{FF2B5EF4-FFF2-40B4-BE49-F238E27FC236}">
                <a16:creationId xmlns:a16="http://schemas.microsoft.com/office/drawing/2014/main" id="{0187E15A-0080-4973-937C-8896D69FCD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>
                <a:solidFill>
                  <a:srgbClr val="000000"/>
                </a:solidFill>
              </a:rPr>
              <a:t>Chapter 2 - Part 2         </a:t>
            </a:r>
            <a:fld id="{6B05C937-83BB-41D1-8882-B2A5ADFAE62A}" type="slidenum">
              <a:rPr lang="en-US" altLang="en-US" sz="160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t>3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32164E4E-83D6-4A61-B278-4061ED6090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Combining Squares</a:t>
            </a:r>
          </a:p>
        </p:txBody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AFB7B216-851D-4200-805D-21F0259454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042" y="1243644"/>
            <a:ext cx="7772400" cy="5027613"/>
          </a:xfrm>
        </p:spPr>
        <p:txBody>
          <a:bodyPr/>
          <a:lstStyle/>
          <a:p>
            <a:pPr>
              <a:spcBef>
                <a:spcPct val="50000"/>
              </a:spcBef>
              <a:buSzPct val="125000"/>
            </a:pPr>
            <a:r>
              <a:rPr lang="en-US" altLang="en-US" sz="2600" b="1" dirty="0">
                <a:cs typeface="Times New Roman" panose="02020603050405020304" pitchFamily="18" charset="0"/>
              </a:rPr>
              <a:t>By combining squares, we reduce number of literals in a product term, reducing the literal cost, thereby reducing the other two cost criteria</a:t>
            </a:r>
          </a:p>
          <a:p>
            <a:pPr>
              <a:spcBef>
                <a:spcPct val="50000"/>
              </a:spcBef>
              <a:buSzPct val="125000"/>
            </a:pPr>
            <a:r>
              <a:rPr lang="en-US" altLang="en-US" sz="2600" b="1" dirty="0"/>
              <a:t> On a 3-variable K-Map:</a:t>
            </a:r>
          </a:p>
          <a:p>
            <a:pPr lvl="1"/>
            <a:r>
              <a:rPr lang="en-US" altLang="en-US" sz="2400" b="1" dirty="0">
                <a:cs typeface="Times New Roman" panose="02020603050405020304" pitchFamily="18" charset="0"/>
              </a:rPr>
              <a:t>One square represents a </a:t>
            </a:r>
            <a:r>
              <a:rPr lang="en-US" altLang="en-US" sz="2400" b="1" dirty="0" err="1">
                <a:cs typeface="Times New Roman" panose="02020603050405020304" pitchFamily="18" charset="0"/>
              </a:rPr>
              <a:t>minterm</a:t>
            </a:r>
            <a:r>
              <a:rPr lang="en-US" altLang="en-US" sz="2400" b="1" dirty="0">
                <a:cs typeface="Times New Roman" panose="02020603050405020304" pitchFamily="18" charset="0"/>
              </a:rPr>
              <a:t> with three variables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 lvl="1"/>
            <a:r>
              <a:rPr lang="en-US" altLang="en-US" sz="2400" b="1" dirty="0">
                <a:cs typeface="Times New Roman" panose="02020603050405020304" pitchFamily="18" charset="0"/>
              </a:rPr>
              <a:t>Two adjacent squares represent a product term with two variables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 lvl="1"/>
            <a:r>
              <a:rPr lang="en-US" altLang="en-US" sz="2400" b="1" dirty="0">
                <a:cs typeface="Times New Roman" panose="02020603050405020304" pitchFamily="18" charset="0"/>
              </a:rPr>
              <a:t>Four “adjacent” terms represent a product term with one variable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 lvl="1"/>
            <a:r>
              <a:rPr lang="en-US" altLang="en-US" sz="2400" b="1" dirty="0">
                <a:cs typeface="Times New Roman" panose="02020603050405020304" pitchFamily="18" charset="0"/>
              </a:rPr>
              <a:t>Eight “adjacent” terms is the function of all ones (no variables) = 1.</a:t>
            </a:r>
            <a:endParaRPr lang="en-US" altLang="en-US" sz="2400" dirty="0"/>
          </a:p>
        </p:txBody>
      </p:sp>
    </p:spTree>
    <p:custDataLst>
      <p:tags r:id="rId1"/>
    </p:custDataLst>
  </p:cSld>
  <p:clrMapOvr>
    <a:masterClrMapping/>
  </p:clrMapOvr>
  <p:transition advTm="35859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8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8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8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8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8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3">
            <a:extLst>
              <a:ext uri="{FF2B5EF4-FFF2-40B4-BE49-F238E27FC236}">
                <a16:creationId xmlns:a16="http://schemas.microsoft.com/office/drawing/2014/main" id="{C76C8C06-CE71-4F4F-B2E4-6D3D6ED832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99"/>
              </a:buCl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>
                <a:solidFill>
                  <a:srgbClr val="000000"/>
                </a:solidFill>
              </a:rPr>
              <a:t>Chapter 2 - Part 2         </a:t>
            </a:r>
            <a:fld id="{B1DAE395-A4CA-409D-B10D-7FCC70544E76}" type="slidenum">
              <a:rPr lang="en-US" altLang="en-US" sz="160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t>4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90F49063-A53D-4A24-B8E7-6F5479187E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Example: Combining Squares</a:t>
            </a: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337D3D03-EE46-4596-9A33-4DEDBFAEBA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 b="1" dirty="0">
                <a:cs typeface="Times New Roman" panose="02020603050405020304" pitchFamily="18" charset="0"/>
              </a:rPr>
              <a:t>Example: Let</a:t>
            </a:r>
            <a:endParaRPr lang="en-US" altLang="en-US" sz="2800" dirty="0"/>
          </a:p>
          <a:p>
            <a:endParaRPr lang="en-US" altLang="en-US" dirty="0"/>
          </a:p>
          <a:p>
            <a:endParaRPr lang="en-US" altLang="en-US" sz="2400" dirty="0"/>
          </a:p>
          <a:p>
            <a:endParaRPr lang="en-US" altLang="en-US" sz="2000" dirty="0"/>
          </a:p>
          <a:p>
            <a:r>
              <a:rPr lang="en-US" altLang="en-US" sz="2800" b="1" dirty="0">
                <a:cs typeface="Times New Roman" panose="02020603050405020304" pitchFamily="18" charset="0"/>
              </a:rPr>
              <a:t>Applying the Minimization Theorem three times:</a:t>
            </a:r>
          </a:p>
          <a:p>
            <a:endParaRPr lang="en-US" altLang="en-US" sz="3600" b="1" dirty="0">
              <a:cs typeface="Times New Roman" panose="02020603050405020304" pitchFamily="18" charset="0"/>
            </a:endParaRPr>
          </a:p>
          <a:p>
            <a:endParaRPr lang="en-US" altLang="en-US" sz="2800" b="1" dirty="0">
              <a:cs typeface="Times New Roman" panose="02020603050405020304" pitchFamily="18" charset="0"/>
            </a:endParaRPr>
          </a:p>
          <a:p>
            <a:r>
              <a:rPr lang="en-US" altLang="en-US" sz="2800" b="1" dirty="0">
                <a:cs typeface="Times New Roman" panose="02020603050405020304" pitchFamily="18" charset="0"/>
              </a:rPr>
              <a:t>Thus the four terms that form a 2 </a:t>
            </a:r>
            <a:r>
              <a:rPr lang="en-US" altLang="en-US" b="1" dirty="0">
                <a:cs typeface="Times New Roman" panose="02020603050405020304" pitchFamily="18" charset="0"/>
              </a:rPr>
              <a:t>×</a:t>
            </a:r>
            <a:r>
              <a:rPr lang="en-US" altLang="en-US" sz="2800" b="1" dirty="0">
                <a:cs typeface="Times New Roman" panose="02020603050405020304" pitchFamily="18" charset="0"/>
              </a:rPr>
              <a:t> 2 square correspond to the term "y". </a:t>
            </a:r>
            <a:r>
              <a:rPr lang="en-US" altLang="en-US" sz="2800" dirty="0"/>
              <a:t> </a:t>
            </a:r>
          </a:p>
        </p:txBody>
      </p:sp>
      <p:grpSp>
        <p:nvGrpSpPr>
          <p:cNvPr id="36869" name="Group 69">
            <a:extLst>
              <a:ext uri="{FF2B5EF4-FFF2-40B4-BE49-F238E27FC236}">
                <a16:creationId xmlns:a16="http://schemas.microsoft.com/office/drawing/2014/main" id="{A1DDF452-ACA0-49F2-8E30-F2CFD7465C77}"/>
              </a:ext>
            </a:extLst>
          </p:cNvPr>
          <p:cNvGrpSpPr>
            <a:grpSpLocks/>
          </p:cNvGrpSpPr>
          <p:nvPr/>
        </p:nvGrpSpPr>
        <p:grpSpPr bwMode="auto">
          <a:xfrm>
            <a:off x="6734175" y="4596613"/>
            <a:ext cx="587375" cy="584200"/>
            <a:chOff x="2006" y="3147"/>
            <a:chExt cx="370" cy="368"/>
          </a:xfrm>
        </p:grpSpPr>
        <p:sp>
          <p:nvSpPr>
            <p:cNvPr id="36931" name="Rectangle 10">
              <a:extLst>
                <a:ext uri="{FF2B5EF4-FFF2-40B4-BE49-F238E27FC236}">
                  <a16:creationId xmlns:a16="http://schemas.microsoft.com/office/drawing/2014/main" id="{B0035466-76A1-4B3D-BBBE-8C29E64683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6" y="3179"/>
              <a:ext cx="14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500" b="1" dirty="0">
                  <a:solidFill>
                    <a:srgbClr val="000000"/>
                  </a:solidFill>
                </a:rPr>
                <a:t>y</a:t>
              </a:r>
              <a:endParaRPr lang="en-US" altLang="en-US" sz="3200" b="1" dirty="0">
                <a:solidFill>
                  <a:srgbClr val="000000"/>
                </a:solidFill>
              </a:endParaRPr>
            </a:p>
          </p:txBody>
        </p:sp>
        <p:sp>
          <p:nvSpPr>
            <p:cNvPr id="36932" name="Rectangle 34">
              <a:extLst>
                <a:ext uri="{FF2B5EF4-FFF2-40B4-BE49-F238E27FC236}">
                  <a16:creationId xmlns:a16="http://schemas.microsoft.com/office/drawing/2014/main" id="{D75EA02C-E3C6-4ED7-9D50-8DAF35D298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6" y="3147"/>
              <a:ext cx="15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500" b="1" dirty="0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en-US" sz="3200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6870" name="Group 68">
            <a:extLst>
              <a:ext uri="{FF2B5EF4-FFF2-40B4-BE49-F238E27FC236}">
                <a16:creationId xmlns:a16="http://schemas.microsoft.com/office/drawing/2014/main" id="{A1001DFC-09AC-49CB-88A8-B773992FB00F}"/>
              </a:ext>
            </a:extLst>
          </p:cNvPr>
          <p:cNvGrpSpPr>
            <a:grpSpLocks/>
          </p:cNvGrpSpPr>
          <p:nvPr/>
        </p:nvGrpSpPr>
        <p:grpSpPr bwMode="auto">
          <a:xfrm>
            <a:off x="4708525" y="4554538"/>
            <a:ext cx="1657350" cy="584200"/>
            <a:chOff x="2006" y="2869"/>
            <a:chExt cx="1044" cy="368"/>
          </a:xfrm>
        </p:grpSpPr>
        <p:sp>
          <p:nvSpPr>
            <p:cNvPr id="36925" name="Rectangle 11">
              <a:extLst>
                <a:ext uri="{FF2B5EF4-FFF2-40B4-BE49-F238E27FC236}">
                  <a16:creationId xmlns:a16="http://schemas.microsoft.com/office/drawing/2014/main" id="{6A712BFB-F309-451D-B520-CE73D414F0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6" y="2901"/>
              <a:ext cx="12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500" b="1" dirty="0">
                  <a:solidFill>
                    <a:srgbClr val="000000"/>
                  </a:solidFill>
                </a:rPr>
                <a:t>z</a:t>
              </a:r>
              <a:endParaRPr lang="en-US" altLang="en-US" sz="3200" b="1" dirty="0">
                <a:solidFill>
                  <a:srgbClr val="000000"/>
                </a:solidFill>
              </a:endParaRPr>
            </a:p>
          </p:txBody>
        </p:sp>
        <p:sp>
          <p:nvSpPr>
            <p:cNvPr id="36926" name="Rectangle 12">
              <a:extLst>
                <a:ext uri="{FF2B5EF4-FFF2-40B4-BE49-F238E27FC236}">
                  <a16:creationId xmlns:a16="http://schemas.microsoft.com/office/drawing/2014/main" id="{FC9584D9-1C5B-4E58-90ED-C409564C39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9" y="2901"/>
              <a:ext cx="14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500" b="1">
                  <a:solidFill>
                    <a:srgbClr val="000000"/>
                  </a:solidFill>
                </a:rPr>
                <a:t>y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6927" name="Rectangle 13">
              <a:extLst>
                <a:ext uri="{FF2B5EF4-FFF2-40B4-BE49-F238E27FC236}">
                  <a16:creationId xmlns:a16="http://schemas.microsoft.com/office/drawing/2014/main" id="{D296C083-4350-4B53-9619-8AC04526F1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6" y="2901"/>
              <a:ext cx="26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500" b="1" dirty="0" err="1">
                  <a:solidFill>
                    <a:srgbClr val="000000"/>
                  </a:solidFill>
                </a:rPr>
                <a:t>yz</a:t>
              </a:r>
              <a:endParaRPr lang="en-US" altLang="en-US" sz="3200" b="1" dirty="0">
                <a:solidFill>
                  <a:srgbClr val="000000"/>
                </a:solidFill>
              </a:endParaRPr>
            </a:p>
          </p:txBody>
        </p:sp>
        <p:sp>
          <p:nvSpPr>
            <p:cNvPr id="36928" name="Rectangle 35">
              <a:extLst>
                <a:ext uri="{FF2B5EF4-FFF2-40B4-BE49-F238E27FC236}">
                  <a16:creationId xmlns:a16="http://schemas.microsoft.com/office/drawing/2014/main" id="{E851AE16-653C-44F1-820A-791B83DDD7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4" y="2869"/>
              <a:ext cx="15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5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6929" name="Rectangle 36">
              <a:extLst>
                <a:ext uri="{FF2B5EF4-FFF2-40B4-BE49-F238E27FC236}">
                  <a16:creationId xmlns:a16="http://schemas.microsoft.com/office/drawing/2014/main" id="{7ED19E98-7EB0-4723-8B79-0A837075A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6" y="2869"/>
              <a:ext cx="15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500" b="1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6930" name="Line 9">
              <a:extLst>
                <a:ext uri="{FF2B5EF4-FFF2-40B4-BE49-F238E27FC236}">
                  <a16:creationId xmlns:a16="http://schemas.microsoft.com/office/drawing/2014/main" id="{0E2ADDEE-1DD4-4082-AC39-ACAD7098AB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0" y="2992"/>
              <a:ext cx="115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6871" name="Group 67">
            <a:extLst>
              <a:ext uri="{FF2B5EF4-FFF2-40B4-BE49-F238E27FC236}">
                <a16:creationId xmlns:a16="http://schemas.microsoft.com/office/drawing/2014/main" id="{80399DCC-A0DE-491E-81A5-796FB594E3CF}"/>
              </a:ext>
            </a:extLst>
          </p:cNvPr>
          <p:cNvGrpSpPr>
            <a:grpSpLocks/>
          </p:cNvGrpSpPr>
          <p:nvPr/>
        </p:nvGrpSpPr>
        <p:grpSpPr bwMode="auto">
          <a:xfrm>
            <a:off x="1194594" y="3771113"/>
            <a:ext cx="6456363" cy="584200"/>
            <a:chOff x="962" y="2570"/>
            <a:chExt cx="4067" cy="368"/>
          </a:xfrm>
        </p:grpSpPr>
        <p:sp>
          <p:nvSpPr>
            <p:cNvPr id="36897" name="Line 5">
              <a:extLst>
                <a:ext uri="{FF2B5EF4-FFF2-40B4-BE49-F238E27FC236}">
                  <a16:creationId xmlns:a16="http://schemas.microsoft.com/office/drawing/2014/main" id="{2260AEFE-133B-4220-BB0A-1FF835FFC5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2" y="2666"/>
              <a:ext cx="129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898" name="Line 6">
              <a:extLst>
                <a:ext uri="{FF2B5EF4-FFF2-40B4-BE49-F238E27FC236}">
                  <a16:creationId xmlns:a16="http://schemas.microsoft.com/office/drawing/2014/main" id="{20E8722F-AAB6-48C2-A89D-398728ABC1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9" y="2666"/>
              <a:ext cx="128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899" name="Line 7">
              <a:extLst>
                <a:ext uri="{FF2B5EF4-FFF2-40B4-BE49-F238E27FC236}">
                  <a16:creationId xmlns:a16="http://schemas.microsoft.com/office/drawing/2014/main" id="{C9B6D588-8619-4A39-B077-B6DE839CDD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5" y="2666"/>
              <a:ext cx="114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900" name="Line 8">
              <a:extLst>
                <a:ext uri="{FF2B5EF4-FFF2-40B4-BE49-F238E27FC236}">
                  <a16:creationId xmlns:a16="http://schemas.microsoft.com/office/drawing/2014/main" id="{A640F30E-5223-4B2E-8C24-86D17B0290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9" y="2666"/>
              <a:ext cx="114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901" name="Rectangle 14">
              <a:extLst>
                <a:ext uri="{FF2B5EF4-FFF2-40B4-BE49-F238E27FC236}">
                  <a16:creationId xmlns:a16="http://schemas.microsoft.com/office/drawing/2014/main" id="{2C7957BF-A628-4670-91C5-E1F3FA33A5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" y="2602"/>
              <a:ext cx="12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500" b="1">
                  <a:solidFill>
                    <a:srgbClr val="000000"/>
                  </a:solidFill>
                </a:rPr>
                <a:t>z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6902" name="Rectangle 15">
              <a:extLst>
                <a:ext uri="{FF2B5EF4-FFF2-40B4-BE49-F238E27FC236}">
                  <a16:creationId xmlns:a16="http://schemas.microsoft.com/office/drawing/2014/main" id="{765C0481-D2D6-4B19-8E39-348281F32E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0" y="2602"/>
              <a:ext cx="14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500" b="1">
                  <a:solidFill>
                    <a:srgbClr val="000000"/>
                  </a:solidFill>
                </a:rPr>
                <a:t>y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6903" name="Rectangle 16">
              <a:extLst>
                <a:ext uri="{FF2B5EF4-FFF2-40B4-BE49-F238E27FC236}">
                  <a16:creationId xmlns:a16="http://schemas.microsoft.com/office/drawing/2014/main" id="{9C31727F-EB6F-436B-B494-75171B5315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6" y="2602"/>
              <a:ext cx="14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500" b="1">
                  <a:solidFill>
                    <a:srgbClr val="000000"/>
                  </a:solidFill>
                </a:rPr>
                <a:t>x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6904" name="Rectangle 17">
              <a:extLst>
                <a:ext uri="{FF2B5EF4-FFF2-40B4-BE49-F238E27FC236}">
                  <a16:creationId xmlns:a16="http://schemas.microsoft.com/office/drawing/2014/main" id="{B7A06877-A263-429D-B754-362307C02C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2" y="2602"/>
              <a:ext cx="12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500" b="1">
                  <a:solidFill>
                    <a:srgbClr val="000000"/>
                  </a:solidFill>
                </a:rPr>
                <a:t>z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6905" name="Rectangle 18">
              <a:extLst>
                <a:ext uri="{FF2B5EF4-FFF2-40B4-BE49-F238E27FC236}">
                  <a16:creationId xmlns:a16="http://schemas.microsoft.com/office/drawing/2014/main" id="{3F356FB2-9B46-40B6-908B-0DD6D30127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" y="2602"/>
              <a:ext cx="14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500" b="1">
                  <a:solidFill>
                    <a:srgbClr val="000000"/>
                  </a:solidFill>
                </a:rPr>
                <a:t>y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6906" name="Rectangle 19">
              <a:extLst>
                <a:ext uri="{FF2B5EF4-FFF2-40B4-BE49-F238E27FC236}">
                  <a16:creationId xmlns:a16="http://schemas.microsoft.com/office/drawing/2014/main" id="{3D40F6F3-D00E-45B4-9258-DCC7DBFEC3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2" y="2602"/>
              <a:ext cx="14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500" b="1">
                  <a:solidFill>
                    <a:srgbClr val="000000"/>
                  </a:solidFill>
                </a:rPr>
                <a:t>x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6907" name="Rectangle 20">
              <a:extLst>
                <a:ext uri="{FF2B5EF4-FFF2-40B4-BE49-F238E27FC236}">
                  <a16:creationId xmlns:a16="http://schemas.microsoft.com/office/drawing/2014/main" id="{E4CAA3AB-8240-4F83-9D53-224B108910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8" y="2602"/>
              <a:ext cx="12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500" b="1">
                  <a:solidFill>
                    <a:srgbClr val="000000"/>
                  </a:solidFill>
                </a:rPr>
                <a:t>z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6908" name="Rectangle 21">
              <a:extLst>
                <a:ext uri="{FF2B5EF4-FFF2-40B4-BE49-F238E27FC236}">
                  <a16:creationId xmlns:a16="http://schemas.microsoft.com/office/drawing/2014/main" id="{0E4CB49D-A812-45F0-9308-FD974B349A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3" y="2602"/>
              <a:ext cx="14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500" b="1" dirty="0">
                  <a:solidFill>
                    <a:srgbClr val="000000"/>
                  </a:solidFill>
                </a:rPr>
                <a:t>y</a:t>
              </a:r>
              <a:endParaRPr lang="en-US" altLang="en-US" sz="3200" b="1" dirty="0">
                <a:solidFill>
                  <a:srgbClr val="000000"/>
                </a:solidFill>
              </a:endParaRPr>
            </a:p>
          </p:txBody>
        </p:sp>
        <p:sp>
          <p:nvSpPr>
            <p:cNvPr id="36909" name="Rectangle 22">
              <a:extLst>
                <a:ext uri="{FF2B5EF4-FFF2-40B4-BE49-F238E27FC236}">
                  <a16:creationId xmlns:a16="http://schemas.microsoft.com/office/drawing/2014/main" id="{0BF02282-2C44-44E7-9930-3552BDCBE2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9" y="2602"/>
              <a:ext cx="14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500" b="1">
                  <a:solidFill>
                    <a:srgbClr val="000000"/>
                  </a:solidFill>
                </a:rPr>
                <a:t>x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6910" name="Rectangle 23">
              <a:extLst>
                <a:ext uri="{FF2B5EF4-FFF2-40B4-BE49-F238E27FC236}">
                  <a16:creationId xmlns:a16="http://schemas.microsoft.com/office/drawing/2014/main" id="{75E9BA0E-8DEA-47A0-B469-1D504880A4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5" y="2602"/>
              <a:ext cx="12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500" b="1" dirty="0">
                  <a:solidFill>
                    <a:srgbClr val="000000"/>
                  </a:solidFill>
                </a:rPr>
                <a:t>z</a:t>
              </a:r>
              <a:endParaRPr lang="en-US" altLang="en-US" sz="3200" b="1" dirty="0">
                <a:solidFill>
                  <a:srgbClr val="000000"/>
                </a:solidFill>
              </a:endParaRPr>
            </a:p>
          </p:txBody>
        </p:sp>
        <p:sp>
          <p:nvSpPr>
            <p:cNvPr id="36911" name="Rectangle 24">
              <a:extLst>
                <a:ext uri="{FF2B5EF4-FFF2-40B4-BE49-F238E27FC236}">
                  <a16:creationId xmlns:a16="http://schemas.microsoft.com/office/drawing/2014/main" id="{E53FDA2F-31D5-405A-9B99-98317D11BE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0" y="2602"/>
              <a:ext cx="14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500" b="1">
                  <a:solidFill>
                    <a:srgbClr val="000000"/>
                  </a:solidFill>
                </a:rPr>
                <a:t>y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6912" name="Rectangle 25">
              <a:extLst>
                <a:ext uri="{FF2B5EF4-FFF2-40B4-BE49-F238E27FC236}">
                  <a16:creationId xmlns:a16="http://schemas.microsoft.com/office/drawing/2014/main" id="{89001661-572A-4508-B549-A45AF87250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5" y="2602"/>
              <a:ext cx="14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500" b="1">
                  <a:solidFill>
                    <a:srgbClr val="000000"/>
                  </a:solidFill>
                </a:rPr>
                <a:t>x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6913" name="Rectangle 26">
              <a:extLst>
                <a:ext uri="{FF2B5EF4-FFF2-40B4-BE49-F238E27FC236}">
                  <a16:creationId xmlns:a16="http://schemas.microsoft.com/office/drawing/2014/main" id="{2B842728-0C35-4BAE-A62C-BD2E4879A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3" y="2602"/>
              <a:ext cx="93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500" b="1">
                  <a:solidFill>
                    <a:srgbClr val="000000"/>
                  </a:solidFill>
                </a:rPr>
                <a:t>)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6914" name="Rectangle 27">
              <a:extLst>
                <a:ext uri="{FF2B5EF4-FFF2-40B4-BE49-F238E27FC236}">
                  <a16:creationId xmlns:a16="http://schemas.microsoft.com/office/drawing/2014/main" id="{8C183E4C-6E15-4ECF-AC9D-FD11E41153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6" y="2602"/>
              <a:ext cx="12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500" b="1">
                  <a:solidFill>
                    <a:srgbClr val="000000"/>
                  </a:solidFill>
                </a:rPr>
                <a:t>z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6915" name="Rectangle 28">
              <a:extLst>
                <a:ext uri="{FF2B5EF4-FFF2-40B4-BE49-F238E27FC236}">
                  <a16:creationId xmlns:a16="http://schemas.microsoft.com/office/drawing/2014/main" id="{108B4070-995B-4954-BC71-E02F07A731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8" y="2602"/>
              <a:ext cx="7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500" b="1" dirty="0">
                  <a:solidFill>
                    <a:srgbClr val="000000"/>
                  </a:solidFill>
                </a:rPr>
                <a:t>,</a:t>
              </a:r>
              <a:endParaRPr lang="en-US" altLang="en-US" sz="3200" b="1" dirty="0">
                <a:solidFill>
                  <a:srgbClr val="000000"/>
                </a:solidFill>
              </a:endParaRPr>
            </a:p>
          </p:txBody>
        </p:sp>
        <p:sp>
          <p:nvSpPr>
            <p:cNvPr id="36916" name="Rectangle 29">
              <a:extLst>
                <a:ext uri="{FF2B5EF4-FFF2-40B4-BE49-F238E27FC236}">
                  <a16:creationId xmlns:a16="http://schemas.microsoft.com/office/drawing/2014/main" id="{C4B673CA-BEE9-4759-BB21-20F456A130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7" y="2602"/>
              <a:ext cx="14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500" b="1">
                  <a:solidFill>
                    <a:srgbClr val="000000"/>
                  </a:solidFill>
                </a:rPr>
                <a:t>y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6917" name="Rectangle 30">
              <a:extLst>
                <a:ext uri="{FF2B5EF4-FFF2-40B4-BE49-F238E27FC236}">
                  <a16:creationId xmlns:a16="http://schemas.microsoft.com/office/drawing/2014/main" id="{7BBED77C-C8A5-4C1B-9E6F-187543176A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5" y="2602"/>
              <a:ext cx="7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500" b="1">
                  <a:solidFill>
                    <a:srgbClr val="000000"/>
                  </a:solidFill>
                </a:rPr>
                <a:t>,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6918" name="Rectangle 31">
              <a:extLst>
                <a:ext uri="{FF2B5EF4-FFF2-40B4-BE49-F238E27FC236}">
                  <a16:creationId xmlns:a16="http://schemas.microsoft.com/office/drawing/2014/main" id="{3E8944D2-0812-4265-84EA-243826B572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602"/>
              <a:ext cx="14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500" b="1" dirty="0">
                  <a:solidFill>
                    <a:srgbClr val="000000"/>
                  </a:solidFill>
                </a:rPr>
                <a:t>x</a:t>
              </a:r>
              <a:endParaRPr lang="en-US" altLang="en-US" sz="3200" b="1" dirty="0">
                <a:solidFill>
                  <a:srgbClr val="000000"/>
                </a:solidFill>
              </a:endParaRPr>
            </a:p>
          </p:txBody>
        </p:sp>
        <p:sp>
          <p:nvSpPr>
            <p:cNvPr id="36919" name="Rectangle 32">
              <a:extLst>
                <a:ext uri="{FF2B5EF4-FFF2-40B4-BE49-F238E27FC236}">
                  <a16:creationId xmlns:a16="http://schemas.microsoft.com/office/drawing/2014/main" id="{9D041FC4-7D41-4469-9C6F-55374E9BB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" y="2602"/>
              <a:ext cx="93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500" b="1" dirty="0">
                  <a:solidFill>
                    <a:srgbClr val="000000"/>
                  </a:solidFill>
                </a:rPr>
                <a:t>(</a:t>
              </a:r>
              <a:endParaRPr lang="en-US" altLang="en-US" sz="3200" b="1" dirty="0">
                <a:solidFill>
                  <a:srgbClr val="000000"/>
                </a:solidFill>
              </a:endParaRPr>
            </a:p>
          </p:txBody>
        </p:sp>
        <p:sp>
          <p:nvSpPr>
            <p:cNvPr id="36920" name="Rectangle 33">
              <a:extLst>
                <a:ext uri="{FF2B5EF4-FFF2-40B4-BE49-F238E27FC236}">
                  <a16:creationId xmlns:a16="http://schemas.microsoft.com/office/drawing/2014/main" id="{23C27771-5444-4934-AD0B-07B3687D48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" y="2602"/>
              <a:ext cx="171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500" b="1" dirty="0">
                  <a:solidFill>
                    <a:srgbClr val="000000"/>
                  </a:solidFill>
                </a:rPr>
                <a:t>F</a:t>
              </a:r>
              <a:endParaRPr lang="en-US" altLang="en-US" sz="3200" b="1" dirty="0">
                <a:solidFill>
                  <a:srgbClr val="000000"/>
                </a:solidFill>
              </a:endParaRPr>
            </a:p>
          </p:txBody>
        </p:sp>
        <p:sp>
          <p:nvSpPr>
            <p:cNvPr id="36921" name="Rectangle 37">
              <a:extLst>
                <a:ext uri="{FF2B5EF4-FFF2-40B4-BE49-F238E27FC236}">
                  <a16:creationId xmlns:a16="http://schemas.microsoft.com/office/drawing/2014/main" id="{DC2B878C-4EB9-42AF-AB36-E9F6368F4F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8" y="2570"/>
              <a:ext cx="15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5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6922" name="Rectangle 38">
              <a:extLst>
                <a:ext uri="{FF2B5EF4-FFF2-40B4-BE49-F238E27FC236}">
                  <a16:creationId xmlns:a16="http://schemas.microsoft.com/office/drawing/2014/main" id="{4DF760E8-9DE7-4E51-B4DB-FDDCC5527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5" y="2570"/>
              <a:ext cx="15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5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6923" name="Rectangle 39">
              <a:extLst>
                <a:ext uri="{FF2B5EF4-FFF2-40B4-BE49-F238E27FC236}">
                  <a16:creationId xmlns:a16="http://schemas.microsoft.com/office/drawing/2014/main" id="{718FBF80-1BA8-4F5C-AA1E-C16B869D4F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1" y="2570"/>
              <a:ext cx="15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5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  <p:sp>
          <p:nvSpPr>
            <p:cNvPr id="36924" name="Rectangle 40">
              <a:extLst>
                <a:ext uri="{FF2B5EF4-FFF2-40B4-BE49-F238E27FC236}">
                  <a16:creationId xmlns:a16="http://schemas.microsoft.com/office/drawing/2014/main" id="{38A2C10F-7276-4156-AD65-66A1EFA59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3" y="2570"/>
              <a:ext cx="15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500" b="1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en-US" sz="3200" b="1">
                <a:solidFill>
                  <a:srgbClr val="000000"/>
                </a:solidFill>
              </a:endParaRPr>
            </a:p>
          </p:txBody>
        </p:sp>
      </p:grpSp>
      <p:grpSp>
        <p:nvGrpSpPr>
          <p:cNvPr id="36872" name="Group 41">
            <a:extLst>
              <a:ext uri="{FF2B5EF4-FFF2-40B4-BE49-F238E27FC236}">
                <a16:creationId xmlns:a16="http://schemas.microsoft.com/office/drawing/2014/main" id="{4D7C2A9D-543E-4716-9E21-9725BB4D430B}"/>
              </a:ext>
            </a:extLst>
          </p:cNvPr>
          <p:cNvGrpSpPr>
            <a:grpSpLocks/>
          </p:cNvGrpSpPr>
          <p:nvPr/>
        </p:nvGrpSpPr>
        <p:grpSpPr bwMode="auto">
          <a:xfrm>
            <a:off x="4040189" y="1091408"/>
            <a:ext cx="2878137" cy="2195512"/>
            <a:chOff x="3089" y="786"/>
            <a:chExt cx="1813" cy="1383"/>
          </a:xfrm>
        </p:grpSpPr>
        <p:sp>
          <p:nvSpPr>
            <p:cNvPr id="36874" name="Line 42">
              <a:extLst>
                <a:ext uri="{FF2B5EF4-FFF2-40B4-BE49-F238E27FC236}">
                  <a16:creationId xmlns:a16="http://schemas.microsoft.com/office/drawing/2014/main" id="{C4BE7785-E842-414B-85F9-1042FC9A01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49" y="1164"/>
              <a:ext cx="1553" cy="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875" name="Line 43">
              <a:extLst>
                <a:ext uri="{FF2B5EF4-FFF2-40B4-BE49-F238E27FC236}">
                  <a16:creationId xmlns:a16="http://schemas.microsoft.com/office/drawing/2014/main" id="{31CEBBD4-B379-4ED7-A9E2-BBC7C1B19E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0" y="1169"/>
              <a:ext cx="1" cy="66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876" name="Line 44">
              <a:extLst>
                <a:ext uri="{FF2B5EF4-FFF2-40B4-BE49-F238E27FC236}">
                  <a16:creationId xmlns:a16="http://schemas.microsoft.com/office/drawing/2014/main" id="{3DA9DB6B-E4BB-42BC-8182-2E9A6A964E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42" y="1164"/>
              <a:ext cx="1" cy="98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877" name="Line 45">
              <a:extLst>
                <a:ext uri="{FF2B5EF4-FFF2-40B4-BE49-F238E27FC236}">
                  <a16:creationId xmlns:a16="http://schemas.microsoft.com/office/drawing/2014/main" id="{F6699BAC-3F60-430A-92D2-0E8F57E795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26" y="833"/>
              <a:ext cx="1" cy="99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878" name="Line 46">
              <a:extLst>
                <a:ext uri="{FF2B5EF4-FFF2-40B4-BE49-F238E27FC236}">
                  <a16:creationId xmlns:a16="http://schemas.microsoft.com/office/drawing/2014/main" id="{31B8B633-5EC0-4B33-9D1E-3BC44C0D82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08" y="1162"/>
              <a:ext cx="1" cy="100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879" name="Line 47">
              <a:extLst>
                <a:ext uri="{FF2B5EF4-FFF2-40B4-BE49-F238E27FC236}">
                  <a16:creationId xmlns:a16="http://schemas.microsoft.com/office/drawing/2014/main" id="{7EC57B77-0BC7-4BD7-8C0D-EE3047A8B6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9" y="1165"/>
              <a:ext cx="0" cy="66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880" name="Line 48">
              <a:extLst>
                <a:ext uri="{FF2B5EF4-FFF2-40B4-BE49-F238E27FC236}">
                  <a16:creationId xmlns:a16="http://schemas.microsoft.com/office/drawing/2014/main" id="{2C834478-C367-4EEF-A97B-B74C178422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93" y="1493"/>
              <a:ext cx="1807" cy="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881" name="Line 49">
              <a:extLst>
                <a:ext uri="{FF2B5EF4-FFF2-40B4-BE49-F238E27FC236}">
                  <a16:creationId xmlns:a16="http://schemas.microsoft.com/office/drawing/2014/main" id="{5B32D06C-B4D2-4420-AB19-2C939F5CCD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53" y="1827"/>
              <a:ext cx="1548" cy="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882" name="Text Box 50">
              <a:extLst>
                <a:ext uri="{FF2B5EF4-FFF2-40B4-BE49-F238E27FC236}">
                  <a16:creationId xmlns:a16="http://schemas.microsoft.com/office/drawing/2014/main" id="{4E77B464-4257-4825-A810-C50C239FF9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9" y="1434"/>
              <a:ext cx="24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200" b="1">
                  <a:solidFill>
                    <a:srgbClr val="000000"/>
                  </a:solidFill>
                </a:rPr>
                <a:t>x</a:t>
              </a:r>
            </a:p>
          </p:txBody>
        </p:sp>
        <p:sp>
          <p:nvSpPr>
            <p:cNvPr id="36883" name="Text Box 51">
              <a:extLst>
                <a:ext uri="{FF2B5EF4-FFF2-40B4-BE49-F238E27FC236}">
                  <a16:creationId xmlns:a16="http://schemas.microsoft.com/office/drawing/2014/main" id="{7E3982C7-65C8-47F7-9A39-1F0286EB77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80" y="786"/>
              <a:ext cx="24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200" b="1">
                  <a:solidFill>
                    <a:srgbClr val="000000"/>
                  </a:solidFill>
                </a:rPr>
                <a:t>y</a:t>
              </a:r>
            </a:p>
          </p:txBody>
        </p:sp>
        <p:sp>
          <p:nvSpPr>
            <p:cNvPr id="36884" name="Text Box 52">
              <a:extLst>
                <a:ext uri="{FF2B5EF4-FFF2-40B4-BE49-F238E27FC236}">
                  <a16:creationId xmlns:a16="http://schemas.microsoft.com/office/drawing/2014/main" id="{90B54CB5-A4FF-4323-8D12-A9510AC826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2" y="1172"/>
              <a:ext cx="25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18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6885" name="Text Box 53">
              <a:extLst>
                <a:ext uri="{FF2B5EF4-FFF2-40B4-BE49-F238E27FC236}">
                  <a16:creationId xmlns:a16="http://schemas.microsoft.com/office/drawing/2014/main" id="{11E9C441-1D89-49EC-806B-7D2FF631EE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3" y="1162"/>
              <a:ext cx="25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1800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36886" name="Text Box 54">
              <a:extLst>
                <a:ext uri="{FF2B5EF4-FFF2-40B4-BE49-F238E27FC236}">
                  <a16:creationId xmlns:a16="http://schemas.microsoft.com/office/drawing/2014/main" id="{2B530450-188C-4501-845B-CB015C7CD3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6" y="1166"/>
              <a:ext cx="25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180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36887" name="Text Box 55">
              <a:extLst>
                <a:ext uri="{FF2B5EF4-FFF2-40B4-BE49-F238E27FC236}">
                  <a16:creationId xmlns:a16="http://schemas.microsoft.com/office/drawing/2014/main" id="{3808017B-8FDA-4AFF-AFC5-3E3948F568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4" y="1493"/>
              <a:ext cx="25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18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36888" name="Text Box 56">
              <a:extLst>
                <a:ext uri="{FF2B5EF4-FFF2-40B4-BE49-F238E27FC236}">
                  <a16:creationId xmlns:a16="http://schemas.microsoft.com/office/drawing/2014/main" id="{5068434F-C650-4CAB-BA27-FA09C996A2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2" y="1162"/>
              <a:ext cx="25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180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6889" name="Text Box 57">
              <a:extLst>
                <a:ext uri="{FF2B5EF4-FFF2-40B4-BE49-F238E27FC236}">
                  <a16:creationId xmlns:a16="http://schemas.microsoft.com/office/drawing/2014/main" id="{EC2A06EB-4747-4424-AC45-48E01C1FFE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8" y="1498"/>
              <a:ext cx="25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180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36890" name="Text Box 58">
              <a:extLst>
                <a:ext uri="{FF2B5EF4-FFF2-40B4-BE49-F238E27FC236}">
                  <a16:creationId xmlns:a16="http://schemas.microsoft.com/office/drawing/2014/main" id="{21063BE6-D106-4246-80D6-6DC9179D8F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1" y="1497"/>
              <a:ext cx="25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180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36891" name="Text Box 59">
              <a:extLst>
                <a:ext uri="{FF2B5EF4-FFF2-40B4-BE49-F238E27FC236}">
                  <a16:creationId xmlns:a16="http://schemas.microsoft.com/office/drawing/2014/main" id="{24726304-F0A6-411B-A1DC-41749C16FB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6" y="1493"/>
              <a:ext cx="25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180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36892" name="Text Box 60">
              <a:extLst>
                <a:ext uri="{FF2B5EF4-FFF2-40B4-BE49-F238E27FC236}">
                  <a16:creationId xmlns:a16="http://schemas.microsoft.com/office/drawing/2014/main" id="{A2335181-83A1-4E9E-9156-8AE006F87B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5" y="1507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6893" name="Text Box 61">
              <a:extLst>
                <a:ext uri="{FF2B5EF4-FFF2-40B4-BE49-F238E27FC236}">
                  <a16:creationId xmlns:a16="http://schemas.microsoft.com/office/drawing/2014/main" id="{D8256DA8-4061-4D89-8334-D2609C5CD7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0" y="1507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6894" name="Text Box 62">
              <a:extLst>
                <a:ext uri="{FF2B5EF4-FFF2-40B4-BE49-F238E27FC236}">
                  <a16:creationId xmlns:a16="http://schemas.microsoft.com/office/drawing/2014/main" id="{53EF98D7-CBE5-49EC-A8B2-CAF89D7D8A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0" y="1171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6895" name="Text Box 63">
              <a:extLst>
                <a:ext uri="{FF2B5EF4-FFF2-40B4-BE49-F238E27FC236}">
                  <a16:creationId xmlns:a16="http://schemas.microsoft.com/office/drawing/2014/main" id="{E1763CBB-E108-4364-AD75-A4C051C7A2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6" y="1172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b="1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6896" name="Text Box 64">
              <a:extLst>
                <a:ext uri="{FF2B5EF4-FFF2-40B4-BE49-F238E27FC236}">
                  <a16:creationId xmlns:a16="http://schemas.microsoft.com/office/drawing/2014/main" id="{57A1318F-8E6D-43CB-817B-9492F8343C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2" y="1766"/>
              <a:ext cx="22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99"/>
                </a:buCl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Aft>
                  <a:spcPct val="0"/>
                </a:spcAft>
                <a:buClrTx/>
              </a:pPr>
              <a:r>
                <a:rPr lang="en-US" altLang="en-US" sz="3200" b="1">
                  <a:solidFill>
                    <a:srgbClr val="000000"/>
                  </a:solidFill>
                </a:rPr>
                <a:t>z</a:t>
              </a:r>
            </a:p>
          </p:txBody>
        </p:sp>
      </p:grpSp>
      <p:graphicFrame>
        <p:nvGraphicFramePr>
          <p:cNvPr id="36873" name="Object 65">
            <a:extLst>
              <a:ext uri="{FF2B5EF4-FFF2-40B4-BE49-F238E27FC236}">
                <a16:creationId xmlns:a16="http://schemas.microsoft.com/office/drawing/2014/main" id="{21C75841-6AC2-4E08-8B54-59F0FEE733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2752965"/>
              </p:ext>
            </p:extLst>
          </p:nvPr>
        </p:nvGraphicFramePr>
        <p:xfrm>
          <a:off x="1404410" y="1858962"/>
          <a:ext cx="2400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Equation" r:id="rId4" imgW="2400300" imgH="368300" progId="Equation.3">
                  <p:embed/>
                </p:oleObj>
              </mc:Choice>
              <mc:Fallback>
                <p:oleObj name="Equation" r:id="rId4" imgW="2400300" imgH="368300" progId="Equation.3">
                  <p:embed/>
                  <p:pic>
                    <p:nvPicPr>
                      <p:cNvPr id="36873" name="Object 65">
                        <a:extLst>
                          <a:ext uri="{FF2B5EF4-FFF2-40B4-BE49-F238E27FC236}">
                            <a16:creationId xmlns:a16="http://schemas.microsoft.com/office/drawing/2014/main" id="{21C75841-6AC2-4E08-8B54-59F0FEE733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4410" y="1858962"/>
                        <a:ext cx="24003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  <p:transition advTm="66606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68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8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8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68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6|1.3|73.7|17.4|107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7.9|0.9|19.9|603.3|1.4|7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84.8|2.7|13.8|42.4|189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1.8|20.1|15.7|0.7|155|6.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9999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45720" rIns="0" bIns="45720" numCol="1" anchor="t" anchorCtr="1" compatLnSpc="1">
        <a:prstTxWarp prst="textNoShape">
          <a:avLst/>
        </a:prstTxWarp>
        <a:spAutoFit/>
      </a:bodyPr>
      <a:lstStyle>
        <a:defPPr marL="742950" marR="0" indent="-28575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009999"/>
          </a:buClr>
          <a:buSzTx/>
          <a:buFontTx/>
          <a:buNone/>
          <a:tabLst/>
          <a:defRPr kumimoji="0" lang="en-US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45720" rIns="0" bIns="45720" numCol="1" anchor="t" anchorCtr="1" compatLnSpc="1">
        <a:prstTxWarp prst="textNoShape">
          <a:avLst/>
        </a:prstTxWarp>
        <a:spAutoFit/>
      </a:bodyPr>
      <a:lstStyle>
        <a:defPPr marL="742950" marR="0" indent="-28575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009999"/>
          </a:buClr>
          <a:buSzTx/>
          <a:buFontTx/>
          <a:buNone/>
          <a:tabLst/>
          <a:defRPr kumimoji="0" lang="en-US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366</Words>
  <Application>Microsoft Office PowerPoint</Application>
  <PresentationFormat>Widescreen</PresentationFormat>
  <Paragraphs>181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4" baseType="lpstr">
      <vt:lpstr>Arial</vt:lpstr>
      <vt:lpstr>Calibri</vt:lpstr>
      <vt:lpstr>Calibri Light</vt:lpstr>
      <vt:lpstr>Helvetica</vt:lpstr>
      <vt:lpstr>Symbol</vt:lpstr>
      <vt:lpstr>Times New Roman</vt:lpstr>
      <vt:lpstr>Wingdings</vt:lpstr>
      <vt:lpstr>Office Theme</vt:lpstr>
      <vt:lpstr>Default Design</vt:lpstr>
      <vt:lpstr>Equation</vt:lpstr>
      <vt:lpstr>Three Variable Maps</vt:lpstr>
      <vt:lpstr>Example Functions</vt:lpstr>
      <vt:lpstr>Combining Squares</vt:lpstr>
      <vt:lpstr>Example: Combining Squares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Three Variable Maps</dc:title>
  <dc:creator>Sultan Daud Khan</dc:creator>
  <cp:lastModifiedBy>Sultan Daud Khan</cp:lastModifiedBy>
  <cp:revision>7</cp:revision>
  <dcterms:created xsi:type="dcterms:W3CDTF">2020-04-27T21:04:34Z</dcterms:created>
  <dcterms:modified xsi:type="dcterms:W3CDTF">2020-05-13T11:56:07Z</dcterms:modified>
</cp:coreProperties>
</file>