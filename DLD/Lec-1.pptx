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7"/>
  </p:notesMasterIdLst>
  <p:sldIdLst>
    <p:sldId id="374" r:id="rId5"/>
    <p:sldId id="386" r:id="rId6"/>
    <p:sldId id="387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B593A-03E8-46B9-902F-4A1D69234645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B85B-B42F-4CFA-A335-4B0510CB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6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5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9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7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4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1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3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4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9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3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25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Charles Kime &amp; Thomas Kaminski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© 2004 Pearson Education, Inc.</a:t>
            </a:r>
            <a:b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" action="ppaction://noaction"/>
              </a:rPr>
              <a:t>Terms of Use</a:t>
            </a: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4"/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Chapter 1 – Digital Computers and Information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Logic and Computer Design Fundamentals</a:t>
            </a:r>
          </a:p>
        </p:txBody>
      </p:sp>
      <p:sp>
        <p:nvSpPr>
          <p:cNvPr id="5" name="Line 19"/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48555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B4AE5473-1078-47D4-8BAD-0CE5F751CCB8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25310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DA69216B-07A2-45E4-81EC-EFFB061E266D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5291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8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0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482E36AC-B633-429C-8D8A-B7FFA1E121DD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57320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5F4FDF22-274B-4919-83A1-4A26D8EC797F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90459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2A8EA81E-257A-4B50-9C06-0B8FBE0BE925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22257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E82DBFE7-5C8A-421A-9418-3278FCADA131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49344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3144E8EA-83BE-4864-BDD8-78843DA37F4C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55982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718E93F2-46F6-4484-AE1A-22D99C0984EF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42879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0C6819F0-D15F-41AD-BE6E-314A2C6D0A8D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14800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1251" y="1"/>
            <a:ext cx="25908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618" y="1"/>
            <a:ext cx="7573433" cy="6342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F5E13A76-A329-4383-A1F7-C1B7992B3D7C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001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Charles Kime &amp; Thomas Kaminski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© 2004 Pearson Education, Inc.</a:t>
            </a:r>
            <a:b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" action="ppaction://noaction"/>
              </a:rPr>
              <a:t>Terms of Use</a:t>
            </a:r>
            <a: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4"/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Chapter 1 – Digital Computers and Information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Logic and Computer Design Fundamentals</a:t>
            </a:r>
          </a:p>
        </p:txBody>
      </p:sp>
      <p:sp>
        <p:nvSpPr>
          <p:cNvPr id="5" name="Line 19"/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29410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805127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DA69216B-07A2-45E4-81EC-EFFB061E266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862547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8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0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482E36AC-B633-429C-8D8A-B7FFA1E121D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77075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5F4FDF22-274B-4919-83A1-4A26D8EC797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827117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2A8EA81E-257A-4B50-9C06-0B8FBE0BE925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579269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E82DBFE7-5C8A-421A-9418-3278FCADA131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651523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3144E8EA-83BE-4864-BDD8-78843DA37F4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082448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718E93F2-46F6-4484-AE1A-22D99C0984E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428930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0C6819F0-D15F-41AD-BE6E-314A2C6D0A8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54757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1251" y="1"/>
            <a:ext cx="25908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618" y="1"/>
            <a:ext cx="7573433" cy="6342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F5E13A76-A329-4383-A1F7-C1B7992B3D7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4696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xmlns="" id="{5E5BC133-A5F0-4CF9-BED8-B1D24926B1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200">
                <a:solidFill>
                  <a:schemeClr val="tx1"/>
                </a:solidFill>
              </a:rPr>
              <a:t>Charles Kime &amp; Thomas Kaminski</a:t>
            </a:r>
          </a:p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200" b="0">
                <a:solidFill>
                  <a:schemeClr val="tx1"/>
                </a:solidFill>
                <a:cs typeface="Times New Roman" panose="02020603050405020304" pitchFamily="18" charset="0"/>
              </a:rPr>
              <a:t>© 2004 Pearson Education, Inc.</a:t>
            </a:r>
            <a:br>
              <a:rPr lang="en-US" altLang="en-US" sz="2200" b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altLang="en-US" sz="2200" b="0">
                <a:solidFill>
                  <a:schemeClr val="tx1"/>
                </a:solidFill>
                <a:cs typeface="Times New Roman" panose="02020603050405020304" pitchFamily="18" charset="0"/>
                <a:hlinkClick r:id="" action="ppaction://noaction"/>
              </a:rPr>
              <a:t>Terms of Use</a:t>
            </a:r>
            <a:r>
              <a:rPr lang="en-US" altLang="en-US" sz="2200" b="0">
                <a:solidFill>
                  <a:schemeClr val="tx1"/>
                </a:solidFill>
                <a:cs typeface="Times New Roman" panose="02020603050405020304" pitchFamily="18" charset="0"/>
              </a:rPr>
              <a:t/>
            </a:r>
            <a:br>
              <a:rPr lang="en-US" altLang="en-US" sz="2200" b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altLang="en-US" sz="1800" b="0">
                <a:solidFill>
                  <a:schemeClr val="tx1"/>
                </a:solidFill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4">
            <a:extLst>
              <a:ext uri="{FF2B5EF4-FFF2-40B4-BE49-F238E27FC236}">
                <a16:creationId xmlns:a16="http://schemas.microsoft.com/office/drawing/2014/main" xmlns="" id="{921FB77F-95E1-4A08-8992-7AF1416D08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4000">
                <a:solidFill>
                  <a:schemeClr val="hlink"/>
                </a:solidFill>
                <a:latin typeface="Helvetica" panose="020B0604020202020204" pitchFamily="34" charset="0"/>
              </a:rPr>
              <a:t>Chapter 1 – Digital Computers and Information</a:t>
            </a:r>
          </a:p>
        </p:txBody>
      </p:sp>
      <p:sp>
        <p:nvSpPr>
          <p:cNvPr id="4" name="Text Box 17">
            <a:extLst>
              <a:ext uri="{FF2B5EF4-FFF2-40B4-BE49-F238E27FC236}">
                <a16:creationId xmlns:a16="http://schemas.microsoft.com/office/drawing/2014/main" xmlns="" id="{1DA402CB-5D1C-47BC-8DD0-E2385FE36B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3200">
                <a:solidFill>
                  <a:schemeClr val="tx1"/>
                </a:solidFill>
              </a:rPr>
              <a:t>Logic and Computer Design Fundamentals</a:t>
            </a:r>
          </a:p>
        </p:txBody>
      </p:sp>
      <p:sp>
        <p:nvSpPr>
          <p:cNvPr id="5" name="Line 19">
            <a:extLst>
              <a:ext uri="{FF2B5EF4-FFF2-40B4-BE49-F238E27FC236}">
                <a16:creationId xmlns:a16="http://schemas.microsoft.com/office/drawing/2014/main" xmlns="" id="{24F4FB0B-5C6F-4AB3-8192-A45E3EDFED0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36535637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27F89CE-2A3D-4D49-AB6F-D77776A25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82CB686F-C491-448E-9B9D-1130F3D480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68635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D49915D-6205-4776-B500-0D6D23717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B87F400F-C3B3-4CB8-9692-58468879E8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708868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8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0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A925B14-83A1-4941-A5DA-7904CE759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4EA2AFDD-410F-4A0F-9B0D-1941FE12FA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961472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283C217-B48E-4A99-9226-4F152E595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761F0471-0EC2-4AD0-AA50-3725FFFCD3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296297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C573ADD-F8CB-45EA-94A8-5D8334B4F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7D99BDF8-A18E-4491-AB02-015C00F007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053213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5A5E0EB-5A53-4577-BB35-A9FE2EF219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661E8041-F992-4423-B52F-C184F70A2D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300955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4D6DCF6-E55B-4179-AB16-E12E3E4934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C463CB7C-D012-4677-903A-46AE3E3123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9441950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7F36D3-F70E-4310-8096-640662D8D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BEDB9701-E22D-4188-BB60-F88825BFFC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52882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A30866-E3FA-4720-9F4E-CC0E4D1DA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06C94248-7F6A-4DEC-956B-87AFDB59E8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913123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1251" y="1"/>
            <a:ext cx="25908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618" y="1"/>
            <a:ext cx="7573433" cy="6342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2AFD300-E068-40F2-9417-9A5DD453D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AA2CB820-BB85-44DD-BE43-9877D31674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608740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7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 descr="C:\Documents and Settings\Charles R Kime\My Documents\Texts\Website\PowerPoint_Slides\Work_Area\Chapter_01\watermark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28"/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8851" y="1314451"/>
            <a:ext cx="10363200" cy="502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35067" y="6515100"/>
            <a:ext cx="255693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600" b="0" smtClean="0">
                <a:solidFill>
                  <a:schemeClr val="tx1"/>
                </a:solidFill>
                <a:cs typeface="Times New Roman" panose="02020603050405020304" pitchFamily="18" charset="0"/>
              </a:defRPr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C25B9C17-90BF-443B-9F16-1631208208B5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0" name="Line 14"/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1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5000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 descr="C:\Documents and Settings\Charles R Kime\My Documents\Texts\Website\PowerPoint_Slides\Work_Area\Chapter_01\watermark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28"/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8851" y="1314451"/>
            <a:ext cx="10363200" cy="502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35067" y="6515100"/>
            <a:ext cx="255693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600" b="0" smtClean="0">
                <a:solidFill>
                  <a:schemeClr val="tx1"/>
                </a:solidFill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C25B9C17-90BF-443B-9F16-1631208208B5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30" name="Line 14"/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1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237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5000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>
            <a:extLst>
              <a:ext uri="{FF2B5EF4-FFF2-40B4-BE49-F238E27FC236}">
                <a16:creationId xmlns:a16="http://schemas.microsoft.com/office/drawing/2014/main" xmlns="" id="{1A17CB2C-AA6A-4637-86EE-B846187E92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28">
            <a:extLst>
              <a:ext uri="{FF2B5EF4-FFF2-40B4-BE49-F238E27FC236}">
                <a16:creationId xmlns:a16="http://schemas.microsoft.com/office/drawing/2014/main" xmlns="" id="{191C5B19-1652-4537-B8DD-4EAAFF2C91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en-US" altLang="en-US" sz="2800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xmlns="" id="{F440687A-05C2-40B7-98E0-10DE23B3D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8851" y="1314451"/>
            <a:ext cx="10363200" cy="502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xmlns="" id="{A9CCEA55-32F4-432A-A619-B343FAD6FD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35067" y="6515100"/>
            <a:ext cx="255693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600" b="0">
                <a:solidFill>
                  <a:schemeClr val="tx1"/>
                </a:solidFill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Chapter 1            </a:t>
            </a:r>
            <a:fld id="{C7FF89F4-158E-4E83-B089-9FA47E3E479A}" type="slidenum">
              <a:rPr lang="en-US" altLang="en-US">
                <a:cs typeface="+mn-cs"/>
              </a:rPr>
              <a:pPr>
                <a:defRPr/>
              </a:pPr>
              <a:t>‹#›</a:t>
            </a:fld>
            <a:endParaRPr lang="en-US" altLang="en-US">
              <a:cs typeface="+mn-cs"/>
            </a:endParaRPr>
          </a:p>
        </p:txBody>
      </p:sp>
      <p:sp>
        <p:nvSpPr>
          <p:cNvPr id="1030" name="Line 14">
            <a:extLst>
              <a:ext uri="{FF2B5EF4-FFF2-40B4-BE49-F238E27FC236}">
                <a16:creationId xmlns:a16="http://schemas.microsoft.com/office/drawing/2014/main" xmlns="" id="{94A364CF-F877-4DC0-B458-CF2693AE584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1" name="Rectangle 15">
            <a:extLst>
              <a:ext uri="{FF2B5EF4-FFF2-40B4-BE49-F238E27FC236}">
                <a16:creationId xmlns:a16="http://schemas.microsoft.com/office/drawing/2014/main" xmlns="" id="{EC9EA6CB-34E6-4FB5-BBE3-73BBC9DDD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047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5000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xmlns="" id="{C85A1F29-4D0A-491C-98CE-D0E17EE30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697414"/>
            <a:ext cx="5875338" cy="2008187"/>
          </a:xfrm>
          <a:prstGeom prst="rect">
            <a:avLst/>
          </a:prstGeom>
          <a:solidFill>
            <a:srgbClr val="FFFFFF"/>
          </a:solidFill>
          <a:ln w="1588" algn="ctr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15000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0" fontAlgn="base" hangingPunct="0"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>
                <a:solidFill>
                  <a:srgbClr val="008000"/>
                </a:solidFill>
              </a:rPr>
              <a:t>Dr. Sultan Daud Khan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xmlns="" id="{F8D04404-7EB1-4F59-BA45-8CD3F2F7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 to digital logic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9142BA-271C-454C-A8D1-47F366B1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Digital logic design techniques form the basis of all digital integrated circuits.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Digital systems store, move, and process information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The information represents a broad range of phenomena from the physical and man-made world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xmlns="" id="{12E97B8F-E844-4207-AAA3-011EFBA70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15000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solidFill>
                  <a:srgbClr val="000000"/>
                </a:solidFill>
              </a:rPr>
              <a:t>Chapter 1            </a:t>
            </a:r>
            <a:fld id="{60EB80A0-8B1C-4F08-A34F-40E087CD9D1A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</a:t>
            </a:fld>
            <a:endParaRPr lang="en-US" altLang="en-US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xmlns="" id="{88595923-2462-487D-A9AC-338B7D1C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Topics to be covered in this course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xmlns="" id="{328F2887-5167-46D5-B6A1-9B731E8BB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Boolean algebra</a:t>
            </a:r>
          </a:p>
          <a:p>
            <a:r>
              <a:rPr lang="en-US" altLang="en-US" sz="2400"/>
              <a:t>Logic gates and networks</a:t>
            </a:r>
          </a:p>
          <a:p>
            <a:r>
              <a:rPr lang="en-US" altLang="en-US" sz="2400"/>
              <a:t>Combinational logic circuit synthesis and optimization</a:t>
            </a:r>
          </a:p>
          <a:p>
            <a:r>
              <a:rPr lang="en-US" altLang="en-US" sz="2400"/>
              <a:t>Number representation and arithmetic circuits</a:t>
            </a:r>
          </a:p>
          <a:p>
            <a:r>
              <a:rPr lang="en-US" altLang="en-US" sz="2400"/>
              <a:t>Flip-flops, registers, and counters</a:t>
            </a:r>
          </a:p>
          <a:p>
            <a:r>
              <a:rPr lang="en-US" altLang="en-US" sz="2400"/>
              <a:t>Finite state machines</a:t>
            </a:r>
          </a:p>
          <a:p>
            <a:r>
              <a:rPr lang="en-US" altLang="en-US" sz="2400"/>
              <a:t>Synchronous sequential circuits</a:t>
            </a:r>
          </a:p>
          <a:p>
            <a:r>
              <a:rPr lang="en-US" altLang="en-US" sz="2400"/>
              <a:t>Digital system design</a:t>
            </a:r>
          </a:p>
          <a:p>
            <a:r>
              <a:rPr lang="en-US" altLang="en-US" sz="2400"/>
              <a:t>Asynchronous sequential circuits</a:t>
            </a:r>
          </a:p>
          <a:p>
            <a:r>
              <a:rPr lang="en-US" altLang="en-US" sz="2400"/>
              <a:t>Testing and testability of logic circuits</a:t>
            </a:r>
          </a:p>
          <a:p>
            <a:endParaRPr lang="en-US" altLang="en-US" sz="2400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xmlns="" id="{70D6155D-A2F6-4993-B7F1-AE46A3275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15000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solidFill>
                  <a:srgbClr val="000000"/>
                </a:solidFill>
              </a:rPr>
              <a:t>Chapter 1            </a:t>
            </a:r>
            <a:fld id="{C7ECC357-DBD4-4B1A-B0B2-648E91DAAE79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3</a:t>
            </a:fld>
            <a:endParaRPr lang="en-US" altLang="en-US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0">
                <a:solidFill>
                  <a:srgbClr val="000000"/>
                </a:solidFill>
              </a:rPr>
              <a:t>Chapter 1            </a:t>
            </a:r>
            <a:fld id="{CEF44039-A47D-49C9-BA6D-806F78E3C201}" type="slidenum">
              <a:rPr lang="en-US" altLang="en-US" sz="1600" b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US" altLang="en-US" sz="1600" b="0">
              <a:solidFill>
                <a:srgbClr val="000000"/>
              </a:solidFill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Number Systems 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0400" y="1270001"/>
            <a:ext cx="8343900" cy="5027613"/>
          </a:xfrm>
        </p:spPr>
        <p:txBody>
          <a:bodyPr/>
          <a:lstStyle/>
          <a:p>
            <a:r>
              <a:rPr lang="en-US" altLang="en-US" dirty="0"/>
              <a:t>Number system in digital electronics is used to represent information</a:t>
            </a:r>
          </a:p>
          <a:p>
            <a:r>
              <a:rPr lang="en-US" altLang="en-US" dirty="0"/>
              <a:t>Different number systems</a:t>
            </a:r>
          </a:p>
          <a:p>
            <a:pPr lvl="1"/>
            <a:r>
              <a:rPr lang="en-US" dirty="0"/>
              <a:t> decimal,</a:t>
            </a:r>
          </a:p>
          <a:p>
            <a:pPr lvl="1"/>
            <a:r>
              <a:rPr lang="en-US" dirty="0"/>
              <a:t> binary, </a:t>
            </a:r>
          </a:p>
          <a:p>
            <a:pPr lvl="1"/>
            <a:r>
              <a:rPr lang="en-US" dirty="0"/>
              <a:t>octal, </a:t>
            </a:r>
          </a:p>
          <a:p>
            <a:pPr lvl="1"/>
            <a:r>
              <a:rPr lang="en-US" dirty="0"/>
              <a:t>and hexadecimal</a:t>
            </a:r>
            <a:endParaRPr lang="en-US" altLang="en-US" dirty="0"/>
          </a:p>
          <a:p>
            <a:r>
              <a:rPr lang="en-US" altLang="en-US" dirty="0"/>
              <a:t>Base or Radix</a:t>
            </a:r>
          </a:p>
          <a:p>
            <a:pPr lvl="1"/>
            <a:r>
              <a:rPr lang="en-US" altLang="en-US" dirty="0"/>
              <a:t>radix of the number system is the total number of the digit used in the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7399484"/>
      </p:ext>
    </p:extLst>
  </p:cSld>
  <p:clrMapOvr>
    <a:masterClrMapping/>
  </p:clrMapOvr>
  <p:transition advTm="562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B4AE5473-1078-47D4-8BAD-0CE5F751CCB8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480" y="1478605"/>
            <a:ext cx="10230928" cy="484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32910"/>
      </p:ext>
    </p:extLst>
  </p:cSld>
  <p:clrMapOvr>
    <a:masterClrMapping/>
  </p:clrMapOvr>
  <p:transition advTm="79602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Number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system is having digit 0, 1, 2, 3, 4, 5, 6, 7, 8, 9; </a:t>
            </a:r>
          </a:p>
          <a:p>
            <a:r>
              <a:rPr lang="en-US" dirty="0"/>
              <a:t>This number system is known as a decimal number system because total ten digits are involved.</a:t>
            </a:r>
          </a:p>
          <a:p>
            <a:r>
              <a:rPr lang="en-US" dirty="0"/>
              <a:t> The base of the decimal number system is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B4AE5473-1078-47D4-8BAD-0CE5F751CCB8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9853970"/>
      </p:ext>
    </p:extLst>
  </p:cSld>
  <p:clrMapOvr>
    <a:masterClrMapping/>
  </p:clrMapOvr>
  <p:transition advTm="4957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Number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Binary number system which uses only two digits 0 and1</a:t>
            </a:r>
          </a:p>
          <a:p>
            <a:endParaRPr lang="en-US" dirty="0"/>
          </a:p>
          <a:p>
            <a:r>
              <a:rPr lang="en-US" dirty="0"/>
              <a:t>The base of binary number system is 2 because it has only two digit 0 and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B4AE5473-1078-47D4-8BAD-0CE5F751CCB8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8362324"/>
      </p:ext>
    </p:extLst>
  </p:cSld>
  <p:clrMapOvr>
    <a:masterClrMapping/>
  </p:clrMapOvr>
  <p:transition advTm="103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 Number and </a:t>
            </a:r>
            <a:r>
              <a:rPr lang="en-US" dirty="0" err="1"/>
              <a:t>Hexa</a:t>
            </a:r>
            <a:r>
              <a:rPr lang="en-US" dirty="0"/>
              <a:t> decimal number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octal system has the base of eight as it uses eight digits 0, 1, 2, 3, 4, 5, 6, 7.</a:t>
            </a:r>
          </a:p>
          <a:p>
            <a:endParaRPr lang="en-US" dirty="0"/>
          </a:p>
          <a:p>
            <a:r>
              <a:rPr lang="en-US" dirty="0"/>
              <a:t>Hexadecimal number system consists of the following sixteen number of digits.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0, 1, 2, 3,  4, 5, 6, 7, 8, 9, A, B, C, D, E,  F.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B4AE5473-1078-47D4-8BAD-0CE5F751CCB8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7995326"/>
      </p:ext>
    </p:extLst>
  </p:cSld>
  <p:clrMapOvr>
    <a:masterClrMapping/>
  </p:clrMapOvr>
  <p:transition advTm="517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from Decimal to Binary Number system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968" y="1498296"/>
            <a:ext cx="4928598" cy="326751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B4AE5473-1078-47D4-8BAD-0CE5F751CCB8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5763738"/>
      </p:ext>
    </p:extLst>
  </p:cSld>
  <p:clrMapOvr>
    <a:masterClrMapping/>
  </p:clrMapOvr>
  <p:transition advTm="3724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Write down the decimal number.</a:t>
            </a:r>
          </a:p>
          <a:p>
            <a:r>
              <a:rPr lang="en-US" sz="2400" dirty="0"/>
              <a:t>Divide the number by 2.</a:t>
            </a:r>
          </a:p>
          <a:p>
            <a:r>
              <a:rPr lang="en-US" sz="2400" dirty="0"/>
              <a:t>Write the result underneath.</a:t>
            </a:r>
          </a:p>
          <a:p>
            <a:r>
              <a:rPr lang="en-US" sz="2400" dirty="0"/>
              <a:t>Write the remainder on the right hand side. This will be 0 or 1.</a:t>
            </a:r>
          </a:p>
          <a:p>
            <a:r>
              <a:rPr lang="en-US" sz="2400" dirty="0"/>
              <a:t>Divide the result of the division by 2 and again write down the remainder.</a:t>
            </a:r>
          </a:p>
          <a:p>
            <a:r>
              <a:rPr lang="en-US" sz="2400" dirty="0"/>
              <a:t>Continue dividing and writing down remainders until the result of the division is 0.</a:t>
            </a:r>
          </a:p>
          <a:p>
            <a:r>
              <a:rPr lang="en-US" sz="2400" dirty="0"/>
              <a:t>The most significant bit (MSB) is at the bottom of the column of remainders and the least significant bit (LSB) is at the top.</a:t>
            </a:r>
          </a:p>
          <a:p>
            <a:r>
              <a:rPr lang="en-US" sz="2400" dirty="0"/>
              <a:t>Read the series of 1s and 0s on the right from the bottom up. This is the binary equivalent of the decimal number.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B4AE5473-1078-47D4-8BAD-0CE5F751CCB8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954474"/>
      </p:ext>
    </p:extLst>
  </p:cSld>
  <p:clrMapOvr>
    <a:masterClrMapping/>
  </p:clrMapOvr>
  <p:transition advTm="68519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 </a:t>
            </a:r>
            <a:r>
              <a:rPr lang="en-US" dirty="0" err="1"/>
              <a:t>conv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761" y="1390569"/>
            <a:ext cx="6237239" cy="475472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Chapter 1            </a:t>
            </a:r>
            <a:fld id="{B4AE5473-1078-47D4-8BAD-0CE5F751CCB8}" type="slidenum">
              <a:rPr lang="en-US" altLang="en-US" smtClean="0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079745"/>
      </p:ext>
    </p:extLst>
  </p:cSld>
  <p:clrMapOvr>
    <a:masterClrMapping/>
  </p:clrMapOvr>
  <p:transition advTm="21606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convert Binary to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from binary to decimal involves multiplying the value of each digit (i.e. 1 or 0) by the value of the placeholder in the number</a:t>
            </a:r>
          </a:p>
          <a:p>
            <a:r>
              <a:rPr lang="en-US" dirty="0"/>
              <a:t>Write down the number.</a:t>
            </a:r>
          </a:p>
          <a:p>
            <a:r>
              <a:rPr lang="en-US" dirty="0"/>
              <a:t>Starting with the LSB, multiply the digit by the value of the place holder.</a:t>
            </a:r>
          </a:p>
          <a:p>
            <a:r>
              <a:rPr lang="en-US" dirty="0"/>
              <a:t>Continue doing this until you reach the MSB.</a:t>
            </a:r>
          </a:p>
          <a:p>
            <a:r>
              <a:rPr lang="en-US" dirty="0"/>
              <a:t>Add the results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8162670"/>
      </p:ext>
    </p:extLst>
  </p:cSld>
  <p:clrMapOvr>
    <a:masterClrMapping/>
  </p:clrMapOvr>
  <p:transition advTm="589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(conversion from binary to decimal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143" y="1337121"/>
            <a:ext cx="6566863" cy="498227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972394"/>
      </p:ext>
    </p:extLst>
  </p:cSld>
  <p:clrMapOvr>
    <a:masterClrMapping/>
  </p:clrMapOvr>
  <p:transition advTm="192092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decimal fraction to binary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divide the number into two parts, i.e., integer part and fractional part and deal each part independently.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Convert the integral part of decimal to binary equivalent</a:t>
            </a:r>
          </a:p>
          <a:p>
            <a:endParaRPr lang="en-US" sz="2400" dirty="0"/>
          </a:p>
          <a:p>
            <a:r>
              <a:rPr lang="en-US" sz="2400" dirty="0"/>
              <a:t>Convert the fractional part of decimal to binary equivalent</a:t>
            </a:r>
          </a:p>
          <a:p>
            <a:pPr lvl="1"/>
            <a:r>
              <a:rPr lang="en-US" sz="2400" dirty="0"/>
              <a:t>Multiply the fractional decimal number by 2.</a:t>
            </a:r>
          </a:p>
          <a:p>
            <a:pPr lvl="1"/>
            <a:r>
              <a:rPr lang="en-US" sz="2400" dirty="0"/>
              <a:t>Integer part of resultant decimal number will be first digit of fraction binary number. </a:t>
            </a:r>
          </a:p>
          <a:p>
            <a:pPr lvl="1"/>
            <a:r>
              <a:rPr lang="en-US" sz="2400" dirty="0"/>
              <a:t>Repeat step 1 using only fractional part of decimal number and then step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4912287"/>
      </p:ext>
    </p:extLst>
  </p:cSld>
  <p:clrMapOvr>
    <a:masterClrMapping/>
  </p:clrMapOvr>
  <p:transition advTm="1200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43" y="1276708"/>
            <a:ext cx="8272732" cy="506531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626660"/>
      </p:ext>
    </p:extLst>
  </p:cSld>
  <p:clrMapOvr>
    <a:masterClrMapping/>
  </p:clrMapOvr>
  <p:transition advTm="214287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Binary fraction to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n = 110.101</a:t>
            </a:r>
          </a:p>
          <a:p>
            <a:r>
              <a:rPr lang="en-US" dirty="0"/>
              <a:t>Output: 6.625</a:t>
            </a:r>
          </a:p>
          <a:p>
            <a:endParaRPr lang="en-US" dirty="0"/>
          </a:p>
          <a:p>
            <a:r>
              <a:rPr lang="en-US" dirty="0"/>
              <a:t>Input: n = 101.1101</a:t>
            </a:r>
          </a:p>
          <a:p>
            <a:r>
              <a:rPr lang="en-US" dirty="0"/>
              <a:t>Output: 5.8125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3005567"/>
      </p:ext>
    </p:extLst>
  </p:cSld>
  <p:clrMapOvr>
    <a:masterClrMapping/>
  </p:clrMapOvr>
  <p:transition advTm="3343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steps for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A) Convert the integral part of binary to decimal equivalent</a:t>
            </a:r>
          </a:p>
          <a:p>
            <a:r>
              <a:rPr lang="en-US" sz="2000" dirty="0"/>
              <a:t>Multiply each digit separately from left side of radix point till the first digit by 2</a:t>
            </a:r>
            <a:r>
              <a:rPr lang="en-US" sz="2000" baseline="30000" dirty="0"/>
              <a:t>0</a:t>
            </a:r>
            <a:r>
              <a:rPr lang="en-US" sz="2000" dirty="0"/>
              <a:t>, 2</a:t>
            </a:r>
            <a:r>
              <a:rPr lang="en-US" sz="2000" baseline="30000" dirty="0"/>
              <a:t>1</a:t>
            </a:r>
            <a:r>
              <a:rPr lang="en-US" sz="2000" dirty="0"/>
              <a:t>, 2</a:t>
            </a:r>
            <a:r>
              <a:rPr lang="en-US" sz="2000" baseline="30000" dirty="0"/>
              <a:t>2</a:t>
            </a:r>
            <a:r>
              <a:rPr lang="en-US" sz="2000" dirty="0"/>
              <a:t>,… respectively.</a:t>
            </a:r>
          </a:p>
          <a:p>
            <a:r>
              <a:rPr lang="en-US" sz="2000" dirty="0"/>
              <a:t>Add all the result coming from step 1.</a:t>
            </a:r>
          </a:p>
          <a:p>
            <a:r>
              <a:rPr lang="en-US" sz="2000" dirty="0"/>
              <a:t>Equivalent integral decimal number would be the result obtained in step 2.</a:t>
            </a:r>
          </a:p>
          <a:p>
            <a:r>
              <a:rPr lang="en-US" dirty="0"/>
              <a:t>B) Convert the fractional part of binary to decimal equivalent</a:t>
            </a:r>
          </a:p>
          <a:p>
            <a:r>
              <a:rPr lang="en-US" sz="2000" dirty="0"/>
              <a:t>Divide each digit from right side of radix point till the end by 2</a:t>
            </a:r>
            <a:r>
              <a:rPr lang="en-US" sz="2000" baseline="30000" dirty="0"/>
              <a:t>1</a:t>
            </a:r>
            <a:r>
              <a:rPr lang="en-US" sz="2000" dirty="0"/>
              <a:t>, 2</a:t>
            </a:r>
            <a:r>
              <a:rPr lang="en-US" sz="2000" baseline="30000" dirty="0"/>
              <a:t>2</a:t>
            </a:r>
            <a:r>
              <a:rPr lang="en-US" sz="2000" dirty="0"/>
              <a:t>, 2</a:t>
            </a:r>
            <a:r>
              <a:rPr lang="en-US" sz="2000" baseline="30000" dirty="0"/>
              <a:t>3</a:t>
            </a:r>
            <a:r>
              <a:rPr lang="en-US" sz="2000" dirty="0"/>
              <a:t>, … respectively.</a:t>
            </a:r>
          </a:p>
          <a:p>
            <a:r>
              <a:rPr lang="en-US" sz="2000" dirty="0"/>
              <a:t>Add all the result coming from step 1.</a:t>
            </a:r>
          </a:p>
          <a:p>
            <a:r>
              <a:rPr lang="en-US" sz="2000" dirty="0"/>
              <a:t>Equivalent fractional decimal number would be the result obtained in step 2.</a:t>
            </a:r>
          </a:p>
          <a:p>
            <a:r>
              <a:rPr lang="en-US" dirty="0"/>
              <a:t>C) Add both integral and fractional part of decimal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0138630"/>
      </p:ext>
    </p:extLst>
  </p:cSld>
  <p:clrMapOvr>
    <a:masterClrMapping/>
  </p:clrMapOvr>
  <p:transition advTm="20499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743" y="1138687"/>
            <a:ext cx="8151324" cy="554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69218"/>
      </p:ext>
    </p:extLst>
  </p:cSld>
  <p:clrMapOvr>
    <a:masterClrMapping/>
  </p:clrMapOvr>
  <p:transition advTm="10839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Octal Number to Binary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: Octal = 345</a:t>
            </a:r>
          </a:p>
          <a:p>
            <a:r>
              <a:rPr lang="en-US" dirty="0"/>
              <a:t>Output : Binary = 011100101</a:t>
            </a:r>
          </a:p>
          <a:p>
            <a:r>
              <a:rPr lang="en-US" dirty="0"/>
              <a:t>Explanation : </a:t>
            </a:r>
          </a:p>
          <a:p>
            <a:pPr lvl="1"/>
            <a:r>
              <a:rPr lang="en-US" dirty="0"/>
              <a:t>Equivalent binary value of 3: 011</a:t>
            </a:r>
          </a:p>
          <a:p>
            <a:pPr lvl="1"/>
            <a:r>
              <a:rPr lang="en-US" dirty="0"/>
              <a:t>Equivalent binary value of 4: 100</a:t>
            </a:r>
          </a:p>
          <a:p>
            <a:pPr lvl="1"/>
            <a:r>
              <a:rPr lang="en-US" dirty="0"/>
              <a:t>Equivalent binary value of 5: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5304373"/>
      </p:ext>
    </p:extLst>
  </p:cSld>
  <p:clrMapOvr>
    <a:masterClrMapping/>
  </p:clrMapOvr>
  <p:transition advTm="1784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Steps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6770" y="1572986"/>
            <a:ext cx="10012224" cy="74751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370" y="2239262"/>
            <a:ext cx="4445165" cy="44451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9233330"/>
      </p:ext>
    </p:extLst>
  </p:cSld>
  <p:clrMapOvr>
    <a:masterClrMapping/>
  </p:clrMapOvr>
  <p:transition advTm="3896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Convert Hexadecimal Number to Binary</a:t>
            </a:r>
            <a:br>
              <a:rPr lang="en-US" b="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Hexadecimal = 1AC5</a:t>
            </a:r>
          </a:p>
          <a:p>
            <a:r>
              <a:rPr lang="en-US" dirty="0"/>
              <a:t>Output: Binary = 0001101011000101</a:t>
            </a:r>
          </a:p>
          <a:p>
            <a:r>
              <a:rPr lang="en-US" dirty="0"/>
              <a:t>Explanation:</a:t>
            </a:r>
          </a:p>
          <a:p>
            <a:r>
              <a:rPr lang="en-US" dirty="0"/>
              <a:t>    Equivalent binary value of 1: 0001</a:t>
            </a:r>
          </a:p>
          <a:p>
            <a:r>
              <a:rPr lang="en-US" dirty="0"/>
              <a:t>    Equivalent binary value of A: 1010</a:t>
            </a:r>
          </a:p>
          <a:p>
            <a:r>
              <a:rPr lang="en-US" dirty="0"/>
              <a:t>    Equivalent binary value of C: 1100</a:t>
            </a:r>
          </a:p>
          <a:p>
            <a:r>
              <a:rPr lang="en-US" dirty="0"/>
              <a:t>    Equivalent binary value of 5: 0101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0386920"/>
      </p:ext>
    </p:extLst>
  </p:cSld>
  <p:clrMapOvr>
    <a:masterClrMapping/>
  </p:clrMapOvr>
  <p:transition advTm="1165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Steps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6556" y="1317610"/>
            <a:ext cx="10019321" cy="64385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Chapter 1            </a:t>
            </a:r>
            <a:fld id="{B4AE5473-1078-47D4-8BAD-0CE5F751CCB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459" y="1961467"/>
            <a:ext cx="5001323" cy="48965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6851847"/>
      </p:ext>
    </p:extLst>
  </p:cSld>
  <p:clrMapOvr>
    <a:masterClrMapping/>
  </p:clrMapOvr>
  <p:transition advTm="5830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8|2.9|4.3|1.6|1.6|3.7|5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7.1|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3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3.3|16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|13|2.1|12|8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7.8|22.1|3.6|11.1|2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5|2.7|5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40.3|78|3.7|46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6.8|5.2|1|122.8|0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14.2|2.1|3.5|27.8|26.5|12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4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9">
      <a:dk1>
        <a:srgbClr val="000000"/>
      </a:dk1>
      <a:lt1>
        <a:srgbClr val="FFFFFF"/>
      </a:lt1>
      <a:dk2>
        <a:srgbClr val="008000"/>
      </a:dk2>
      <a:lt2>
        <a:srgbClr val="808080"/>
      </a:lt2>
      <a:accent1>
        <a:srgbClr val="00CC99"/>
      </a:accent1>
      <a:accent2>
        <a:srgbClr val="0080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007300"/>
      </a:accent6>
      <a:hlink>
        <a:srgbClr val="009999"/>
      </a:hlink>
      <a:folHlink>
        <a:srgbClr val="006666"/>
      </a:folHlink>
    </a:clrScheme>
    <a:fontScheme name="Default Design">
      <a:majorFont>
        <a:latin typeface="Helvetic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588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588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E70000"/>
        </a:accent6>
        <a:hlink>
          <a:srgbClr val="FF00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FFFFFF"/>
        </a:lt1>
        <a:dk2>
          <a:srgbClr val="008000"/>
        </a:dk2>
        <a:lt2>
          <a:srgbClr val="808080"/>
        </a:lt2>
        <a:accent1>
          <a:srgbClr val="00CC99"/>
        </a:accent1>
        <a:accent2>
          <a:srgbClr val="0080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007300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efault Design">
  <a:themeElements>
    <a:clrScheme name="Default Design 9">
      <a:dk1>
        <a:srgbClr val="000000"/>
      </a:dk1>
      <a:lt1>
        <a:srgbClr val="FFFFFF"/>
      </a:lt1>
      <a:dk2>
        <a:srgbClr val="008000"/>
      </a:dk2>
      <a:lt2>
        <a:srgbClr val="808080"/>
      </a:lt2>
      <a:accent1>
        <a:srgbClr val="00CC99"/>
      </a:accent1>
      <a:accent2>
        <a:srgbClr val="0080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007300"/>
      </a:accent6>
      <a:hlink>
        <a:srgbClr val="009999"/>
      </a:hlink>
      <a:folHlink>
        <a:srgbClr val="006666"/>
      </a:folHlink>
    </a:clrScheme>
    <a:fontScheme name="Default Design">
      <a:majorFont>
        <a:latin typeface="Helvetic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588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588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E70000"/>
        </a:accent6>
        <a:hlink>
          <a:srgbClr val="FF00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FFFFFF"/>
        </a:lt1>
        <a:dk2>
          <a:srgbClr val="008000"/>
        </a:dk2>
        <a:lt2>
          <a:srgbClr val="808080"/>
        </a:lt2>
        <a:accent1>
          <a:srgbClr val="00CC99"/>
        </a:accent1>
        <a:accent2>
          <a:srgbClr val="0080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007300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efault Design">
  <a:themeElements>
    <a:clrScheme name="Default Design 9">
      <a:dk1>
        <a:srgbClr val="000000"/>
      </a:dk1>
      <a:lt1>
        <a:srgbClr val="FFFFFF"/>
      </a:lt1>
      <a:dk2>
        <a:srgbClr val="008000"/>
      </a:dk2>
      <a:lt2>
        <a:srgbClr val="808080"/>
      </a:lt2>
      <a:accent1>
        <a:srgbClr val="00CC99"/>
      </a:accent1>
      <a:accent2>
        <a:srgbClr val="0080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007300"/>
      </a:accent6>
      <a:hlink>
        <a:srgbClr val="009999"/>
      </a:hlink>
      <a:folHlink>
        <a:srgbClr val="006666"/>
      </a:folHlink>
    </a:clrScheme>
    <a:fontScheme name="Default Design">
      <a:majorFont>
        <a:latin typeface="Helvetic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588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588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E70000"/>
        </a:accent6>
        <a:hlink>
          <a:srgbClr val="FF00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FFFFFF"/>
        </a:lt1>
        <a:dk2>
          <a:srgbClr val="008000"/>
        </a:dk2>
        <a:lt2>
          <a:srgbClr val="808080"/>
        </a:lt2>
        <a:accent1>
          <a:srgbClr val="00CC99"/>
        </a:accent1>
        <a:accent2>
          <a:srgbClr val="0080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007300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816</Words>
  <Application>Microsoft Office PowerPoint</Application>
  <PresentationFormat>Widescreen</PresentationFormat>
  <Paragraphs>124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Light</vt:lpstr>
      <vt:lpstr>Helvetica</vt:lpstr>
      <vt:lpstr>Times New Roman</vt:lpstr>
      <vt:lpstr>Wingdings</vt:lpstr>
      <vt:lpstr>Office Theme</vt:lpstr>
      <vt:lpstr>Default Design</vt:lpstr>
      <vt:lpstr>1_Default Design</vt:lpstr>
      <vt:lpstr>2_Default Design</vt:lpstr>
      <vt:lpstr>PowerPoint Presentation</vt:lpstr>
      <vt:lpstr>Introduction to digital logic design</vt:lpstr>
      <vt:lpstr>Topics to be covered in this course</vt:lpstr>
      <vt:lpstr>Number Systems </vt:lpstr>
      <vt:lpstr>PowerPoint Presentation</vt:lpstr>
      <vt:lpstr>Decimal Number System</vt:lpstr>
      <vt:lpstr>Binary Number System</vt:lpstr>
      <vt:lpstr>Octal Number and Hexa decimal number system</vt:lpstr>
      <vt:lpstr>Conversion from Decimal to Binary Number system</vt:lpstr>
      <vt:lpstr>Procedure</vt:lpstr>
      <vt:lpstr>Example ( conv</vt:lpstr>
      <vt:lpstr>Steps to convert Binary to Decimal</vt:lpstr>
      <vt:lpstr>Example (conversion from binary to decimal</vt:lpstr>
      <vt:lpstr>Convert decimal fraction to binary number</vt:lpstr>
      <vt:lpstr>Example</vt:lpstr>
      <vt:lpstr>Convert Binary fraction to Decimal</vt:lpstr>
      <vt:lpstr>Important steps for conversion</vt:lpstr>
      <vt:lpstr>Example</vt:lpstr>
      <vt:lpstr>Convert Octal Number to Binary Number</vt:lpstr>
      <vt:lpstr>Important Steps </vt:lpstr>
      <vt:lpstr>Convert Hexadecimal Number to Binary </vt:lpstr>
      <vt:lpstr>Important Steps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Nutech</dc:creator>
  <cp:lastModifiedBy>Windows User</cp:lastModifiedBy>
  <cp:revision>27</cp:revision>
  <dcterms:created xsi:type="dcterms:W3CDTF">2020-04-18T07:13:17Z</dcterms:created>
  <dcterms:modified xsi:type="dcterms:W3CDTF">2025-02-20T06:35:22Z</dcterms:modified>
</cp:coreProperties>
</file>