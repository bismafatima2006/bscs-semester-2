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B593A-03E8-46B9-902F-4A1D69234645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CB85B-B42F-4CFA-A335-4B0510CB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6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5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9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74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43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1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3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4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9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6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3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25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 userDrawn="1"/>
        </p:nvSpPr>
        <p:spPr bwMode="auto">
          <a:xfrm>
            <a:off x="2444751" y="5167314"/>
            <a:ext cx="7884583" cy="153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Charles Kime &amp; Thomas Kaminski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© 2004 Pearson Education, Inc.</a:t>
            </a:r>
            <a:b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" action="ppaction://noaction"/>
              </a:rPr>
              <a:t>Terms of Use</a:t>
            </a:r>
            <a: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(Hyperlinks are active in View Show mode)</a:t>
            </a:r>
          </a:p>
        </p:txBody>
      </p:sp>
      <p:sp>
        <p:nvSpPr>
          <p:cNvPr id="3" name="Text Box 14"/>
          <p:cNvSpPr txBox="1">
            <a:spLocks noChangeArrowheads="1"/>
          </p:cNvSpPr>
          <p:nvPr userDrawn="1"/>
        </p:nvSpPr>
        <p:spPr bwMode="auto">
          <a:xfrm>
            <a:off x="1735667" y="2847976"/>
            <a:ext cx="9304867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Chapter 1 – Digital Computers and Information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1206500" y="2179639"/>
            <a:ext cx="10363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Logic and Computer Design Fundamentals</a:t>
            </a:r>
          </a:p>
        </p:txBody>
      </p:sp>
      <p:sp>
        <p:nvSpPr>
          <p:cNvPr id="5" name="Line 19"/>
          <p:cNvSpPr>
            <a:spLocks noChangeShapeType="1"/>
          </p:cNvSpPr>
          <p:nvPr userDrawn="1"/>
        </p:nvSpPr>
        <p:spPr bwMode="auto">
          <a:xfrm>
            <a:off x="772585" y="1935163"/>
            <a:ext cx="10687049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48653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60448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DA69216B-07A2-45E4-81EC-EFFB061E266D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97422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8851" y="1314451"/>
            <a:ext cx="5080000" cy="5027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2051" y="1314451"/>
            <a:ext cx="5080000" cy="5027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482E36AC-B633-429C-8D8A-B7FFA1E121DD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25338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5F4FDF22-274B-4919-83A1-4A26D8EC797F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55504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2A8EA81E-257A-4B50-9C06-0B8FBE0BE925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186502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E82DBFE7-5C8A-421A-9418-3278FCADA131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87018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3144E8EA-83BE-4864-BDD8-78843DA37F4C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39509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718E93F2-46F6-4484-AE1A-22D99C0984EF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608095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0C6819F0-D15F-41AD-BE6E-314A2C6D0A8D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58351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1251" y="1"/>
            <a:ext cx="2590800" cy="6342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618" y="1"/>
            <a:ext cx="7573433" cy="63420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F5E13A76-A329-4383-A1F7-C1B7992B3D7C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47737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7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3" descr="C:\Documents and Settings\Charles R Kime\My Documents\Texts\Website\PowerPoint_Slides\Work_Area\Chapter_01\watermark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5"/>
          <a:stretch>
            <a:fillRect/>
          </a:stretch>
        </p:blipFill>
        <p:spPr bwMode="auto">
          <a:xfrm>
            <a:off x="924985" y="6353175"/>
            <a:ext cx="2973916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28"/>
          <p:cNvSpPr txBox="1">
            <a:spLocks noChangeArrowheads="1"/>
          </p:cNvSpPr>
          <p:nvPr userDrawn="1"/>
        </p:nvSpPr>
        <p:spPr bwMode="auto">
          <a:xfrm>
            <a:off x="929218" y="6338888"/>
            <a:ext cx="363854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8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8851" y="1314451"/>
            <a:ext cx="10363200" cy="502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35067" y="6515100"/>
            <a:ext cx="255693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600" b="0" smtClean="0">
                <a:solidFill>
                  <a:schemeClr val="tx1"/>
                </a:solidFill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C25B9C17-90BF-443B-9F16-1631208208B5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30" name="Line 14"/>
          <p:cNvSpPr>
            <a:spLocks noChangeShapeType="1"/>
          </p:cNvSpPr>
          <p:nvPr userDrawn="1"/>
        </p:nvSpPr>
        <p:spPr bwMode="auto">
          <a:xfrm>
            <a:off x="774700" y="1173163"/>
            <a:ext cx="10687051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1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954617" y="1"/>
            <a:ext cx="10363200" cy="102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5873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5000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50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Octal to Decimal Conversion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5C2E56-0876-47B4-A4F7-DD948707B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Input : 67</a:t>
            </a:r>
          </a:p>
          <a:p>
            <a:r>
              <a:rPr lang="en-GB" dirty="0"/>
              <a:t>Output : 55</a:t>
            </a:r>
          </a:p>
        </p:txBody>
      </p:sp>
      <p:pic>
        <p:nvPicPr>
          <p:cNvPr id="10" name="Picture 9" descr="A picture containing clock&#10;&#10;Description automatically generated">
            <a:extLst>
              <a:ext uri="{FF2B5EF4-FFF2-40B4-BE49-F238E27FC236}">
                <a16:creationId xmlns:a16="http://schemas.microsoft.com/office/drawing/2014/main" xmlns="" id="{DB145AE4-55BA-47B1-8358-D9C5D7399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061" y="1539596"/>
            <a:ext cx="4327629" cy="53184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97289716"/>
      </p:ext>
    </p:extLst>
  </p:cSld>
  <p:clrMapOvr>
    <a:masterClrMapping/>
  </p:clrMapOvr>
  <p:transition advTm="8198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05EF48-9000-4A78-81BA-F31F03B08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/>
              <a:t> Hexadecimal to Decimal</a:t>
            </a:r>
            <a:br>
              <a:rPr lang="en-GB" b="0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D883D61-7797-497C-9E85-0DD97470A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Input : 67</a:t>
            </a:r>
          </a:p>
          <a:p>
            <a:r>
              <a:rPr lang="en-GB" dirty="0"/>
              <a:t>Output : 103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AF9455D-26D4-45F6-AA33-0363D6EDD6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clock&#10;&#10;Description automatically generated">
            <a:extLst>
              <a:ext uri="{FF2B5EF4-FFF2-40B4-BE49-F238E27FC236}">
                <a16:creationId xmlns:a16="http://schemas.microsoft.com/office/drawing/2014/main" xmlns="" id="{C213BBE3-94B8-4D1B-A94C-A5AB12A60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042" y="1314452"/>
            <a:ext cx="4175870" cy="53974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AD58CA81-F96F-4B47-B53A-4B3C395735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63" y="3644849"/>
            <a:ext cx="6872234" cy="91772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129278"/>
      </p:ext>
    </p:extLst>
  </p:cSld>
  <p:clrMapOvr>
    <a:masterClrMapping/>
  </p:clrMapOvr>
  <p:transition advTm="14010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8AEEF6-ABE7-487D-AB49-B4C9B964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Conversion of fraction Octal to Decimal Numbers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B02AD2C-475E-420E-A39F-344DECE6F5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9" name="Content Placeholder 8" descr="A picture containing object, clock&#10;&#10;Description automatically generated">
            <a:extLst>
              <a:ext uri="{FF2B5EF4-FFF2-40B4-BE49-F238E27FC236}">
                <a16:creationId xmlns:a16="http://schemas.microsoft.com/office/drawing/2014/main" xmlns="" id="{3D754155-887E-4A22-870A-23B1A7E79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02" y="2408237"/>
            <a:ext cx="2021109" cy="1020763"/>
          </a:xfrm>
        </p:spPr>
      </p:pic>
      <p:pic>
        <p:nvPicPr>
          <p:cNvPr id="11" name="Picture 10" descr="A close up of a clock&#10;&#10;Description automatically generated">
            <a:extLst>
              <a:ext uri="{FF2B5EF4-FFF2-40B4-BE49-F238E27FC236}">
                <a16:creationId xmlns:a16="http://schemas.microsoft.com/office/drawing/2014/main" xmlns="" id="{4B6EE929-6429-41CE-8DB4-4B8EBD375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161" y="1460280"/>
            <a:ext cx="4990392" cy="1020763"/>
          </a:xfrm>
          <a:prstGeom prst="rect">
            <a:avLst/>
          </a:prstGeom>
        </p:spPr>
      </p:pic>
      <p:pic>
        <p:nvPicPr>
          <p:cNvPr id="13" name="Picture 12" descr="A close up of a clock&#10;&#10;Description automatically generated">
            <a:extLst>
              <a:ext uri="{FF2B5EF4-FFF2-40B4-BE49-F238E27FC236}">
                <a16:creationId xmlns:a16="http://schemas.microsoft.com/office/drawing/2014/main" xmlns="" id="{8A7198AE-9F9F-4BCA-9347-C74B735269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353" y="3753148"/>
            <a:ext cx="1320645" cy="92822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57C214F9-D83D-4DE4-9013-202BCD9B77C6}"/>
              </a:ext>
            </a:extLst>
          </p:cNvPr>
          <p:cNvCxnSpPr/>
          <p:nvPr/>
        </p:nvCxnSpPr>
        <p:spPr bwMode="auto">
          <a:xfrm flipV="1">
            <a:off x="1987296" y="1970661"/>
            <a:ext cx="1402080" cy="692692"/>
          </a:xfrm>
          <a:prstGeom prst="straightConnector1">
            <a:avLst/>
          </a:prstGeom>
          <a:solidFill>
            <a:srgbClr val="FFFFFF"/>
          </a:solidFill>
          <a:ln w="5397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11EA04F3-957C-4E2C-A418-0CE2DF687A2A}"/>
              </a:ext>
            </a:extLst>
          </p:cNvPr>
          <p:cNvCxnSpPr>
            <a:endCxn id="13" idx="1"/>
          </p:cNvCxnSpPr>
          <p:nvPr/>
        </p:nvCxnSpPr>
        <p:spPr bwMode="auto">
          <a:xfrm>
            <a:off x="2267712" y="3246170"/>
            <a:ext cx="1756641" cy="971088"/>
          </a:xfrm>
          <a:prstGeom prst="straightConnector1">
            <a:avLst/>
          </a:prstGeom>
          <a:solidFill>
            <a:srgbClr val="FFFFFF"/>
          </a:solidFill>
          <a:ln w="5397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pic>
        <p:nvPicPr>
          <p:cNvPr id="25" name="Picture 24" descr="A picture containing clock&#10;&#10;Description automatically generated">
            <a:extLst>
              <a:ext uri="{FF2B5EF4-FFF2-40B4-BE49-F238E27FC236}">
                <a16:creationId xmlns:a16="http://schemas.microsoft.com/office/drawing/2014/main" xmlns="" id="{C57CA628-D1B7-456E-92AD-B622A3FCAA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628" y="4083745"/>
            <a:ext cx="3766877" cy="20315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94273612"/>
      </p:ext>
    </p:extLst>
  </p:cSld>
  <p:clrMapOvr>
    <a:masterClrMapping/>
  </p:clrMapOvr>
  <p:transition advTm="8555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65DCF0-C6D2-4A2D-8A4E-A26025F8B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Arithmetic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xmlns="" id="{A7AD2905-4481-47E2-A422-DEDC20917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96" y="1389888"/>
            <a:ext cx="9229343" cy="46517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F2F57D3-5668-4743-90C9-35C70377E2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862519"/>
      </p:ext>
    </p:extLst>
  </p:cSld>
  <p:clrMapOvr>
    <a:masterClrMapping/>
  </p:clrMapOvr>
  <p:transition advTm="16621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C6A10A-9744-48D9-9EF3-F1A0D7094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multiplication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xmlns="" id="{6E779EE6-5E22-450E-AB21-2535C9676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768" y="1195910"/>
            <a:ext cx="8375904" cy="514404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E6E7F93-13A1-4423-85E4-C9DC99693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5928004"/>
      </p:ext>
    </p:extLst>
  </p:cSld>
  <p:clrMapOvr>
    <a:masterClrMapping/>
  </p:clrMapOvr>
  <p:transition advTm="349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01968C-9DE4-4307-B31A-80B124471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Subtraction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xmlns="" id="{7A4B7163-0632-48EF-B34D-D1A23E3940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184" y="1501071"/>
            <a:ext cx="8497824" cy="461273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5DFF8CF-9422-44F3-B3E8-F7D27BEC8C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5883706"/>
      </p:ext>
    </p:extLst>
  </p:cSld>
  <p:clrMapOvr>
    <a:masterClrMapping/>
  </p:clrMapOvr>
  <p:transition advTm="6840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5A79E3-3E07-4503-AE2B-37D04B29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Hexadecimal addition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E95D53-9A61-4C7E-BF6B-FFDCC3F5C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" y="1254125"/>
            <a:ext cx="10619232" cy="5027613"/>
          </a:xfrm>
        </p:spPr>
        <p:txBody>
          <a:bodyPr/>
          <a:lstStyle/>
          <a:p>
            <a:r>
              <a:rPr lang="en-GB" dirty="0"/>
              <a:t>A</a:t>
            </a:r>
            <a:r>
              <a:rPr lang="en-GB" baseline="-25000" dirty="0"/>
              <a:t>16</a:t>
            </a:r>
            <a:r>
              <a:rPr lang="en-GB" dirty="0"/>
              <a:t> + 5</a:t>
            </a:r>
            <a:r>
              <a:rPr lang="en-GB" baseline="-25000" dirty="0"/>
              <a:t>16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dirty="0"/>
              <a:t> F</a:t>
            </a:r>
            <a:r>
              <a:rPr lang="en-GB" baseline="-25000" dirty="0"/>
              <a:t>16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EAD1D3-7512-48C4-A997-11337F4BD1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7" name="Picture 6" descr="A picture containing object, clock, meter&#10;&#10;Description automatically generated">
            <a:extLst>
              <a:ext uri="{FF2B5EF4-FFF2-40B4-BE49-F238E27FC236}">
                <a16:creationId xmlns:a16="http://schemas.microsoft.com/office/drawing/2014/main" xmlns="" id="{36867C3E-C753-46D7-9373-7ACE053EB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465" y="1455793"/>
            <a:ext cx="4035552" cy="48259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2101694"/>
      </p:ext>
    </p:extLst>
  </p:cSld>
  <p:clrMapOvr>
    <a:masterClrMapping/>
  </p:clrMapOvr>
  <p:transition advTm="23422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EE4E9A-597C-48F2-86A2-164E1B10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Convert binary to octal and hexadecimal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C1DC73-A84E-4E6F-8969-225A10CDB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octal:  partition the binary number into a group of three digits</a:t>
            </a:r>
          </a:p>
          <a:p>
            <a:r>
              <a:rPr lang="en-GB" dirty="0"/>
              <a:t>For hexadecimal: Partition the  binary number into a group of four digits.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591E5A4-4927-4AE9-B8DD-D8CECAE16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xmlns="" id="{BED84B86-A018-4CF5-98F1-5068074883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478" y="3867881"/>
            <a:ext cx="6761128" cy="801655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xmlns="" id="{A6F46C56-08AE-4E9A-A0DF-6627E5F677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314" y="3828257"/>
            <a:ext cx="2543715" cy="8016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E707C75D-653B-43F6-BAC9-1269BE99F4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29" y="4963223"/>
            <a:ext cx="6929125" cy="654252"/>
          </a:xfrm>
          <a:prstGeom prst="rect">
            <a:avLst/>
          </a:prstGeom>
        </p:spPr>
      </p:pic>
      <p:pic>
        <p:nvPicPr>
          <p:cNvPr id="12" name="Picture 11" descr="A picture containing table, drawing&#10;&#10;Description automatically generated">
            <a:extLst>
              <a:ext uri="{FF2B5EF4-FFF2-40B4-BE49-F238E27FC236}">
                <a16:creationId xmlns:a16="http://schemas.microsoft.com/office/drawing/2014/main" xmlns="" id="{EEE1BD71-FA71-4900-B2A1-468346BDD4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426" y="4963223"/>
            <a:ext cx="2019926" cy="6733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7794651"/>
      </p:ext>
    </p:extLst>
  </p:cSld>
  <p:clrMapOvr>
    <a:masterClrMapping/>
  </p:clrMapOvr>
  <p:transition advTm="3719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CD79E4-C592-492C-A1ED-A1F96E1BF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Multiplication of Octal Numbers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9468E856-7DB0-4832-87C9-F93679563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94" y="1269096"/>
            <a:ext cx="2323275" cy="62331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5A6296B-3B5C-4AA0-8F18-C04317526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2B2372F-8978-428A-993F-C9BCED93A4A0}"/>
              </a:ext>
            </a:extLst>
          </p:cNvPr>
          <p:cNvSpPr txBox="1"/>
          <p:nvPr/>
        </p:nvSpPr>
        <p:spPr>
          <a:xfrm>
            <a:off x="810694" y="2219569"/>
            <a:ext cx="13776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Method</a:t>
            </a:r>
            <a:r>
              <a:rPr lang="en-GB" dirty="0"/>
              <a:t>: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xmlns="" id="{D67A74E8-1375-48B7-B047-648F4A8868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834" y="1580755"/>
            <a:ext cx="3026165" cy="51066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26928070"/>
      </p:ext>
    </p:extLst>
  </p:cSld>
  <p:clrMapOvr>
    <a:masterClrMapping/>
  </p:clrMapOvr>
  <p:transition advTm="31924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CB4CBA-C5AF-4D3F-83D3-D791C27FA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Coded 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97BDD2-AB87-4E06-9A35-E17AFB582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Binary-coded decimal (BCD) is a class of binary encodings of decimal numbers where each decimal digit is represented by a fixed number of bits, usually four or eight.</a:t>
            </a:r>
          </a:p>
          <a:p>
            <a:r>
              <a:rPr lang="en-GB" dirty="0"/>
              <a:t>BCD numbers are decimal numbers even though they are represented in 1’s and 0’s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750CC4E-48C3-4A48-B098-B94ECC68C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C4DA999B-CE28-4367-B262-7E82CAD53F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33" y="4490150"/>
            <a:ext cx="1328059" cy="818455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xmlns="" id="{ACA57444-3283-4209-925C-4B8F321A4A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001" y="5289725"/>
            <a:ext cx="4754090" cy="1051968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35B3EFEE-666E-47EF-A793-8AF033374B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835" y="3580854"/>
            <a:ext cx="4457256" cy="12697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9043176"/>
      </p:ext>
    </p:extLst>
  </p:cSld>
  <p:clrMapOvr>
    <a:masterClrMapping/>
  </p:clrMapOvr>
  <p:transition advTm="20847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F276D6-3642-4929-A79A-9E1E451F4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ASCII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2D889A-2022-433B-A29D-54CB347B7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American Standard Code for Information Interchange</a:t>
            </a:r>
          </a:p>
          <a:p>
            <a:r>
              <a:rPr lang="en-GB" dirty="0"/>
              <a:t>Binary codes to encode alphanumeric characters</a:t>
            </a:r>
          </a:p>
          <a:p>
            <a:r>
              <a:rPr lang="en-GB" dirty="0"/>
              <a:t>7 bits are required to encode each character</a:t>
            </a:r>
          </a:p>
          <a:p>
            <a:r>
              <a:rPr lang="en-GB" dirty="0"/>
              <a:t>Why ASCII?</a:t>
            </a:r>
          </a:p>
          <a:p>
            <a:pPr lvl="1"/>
            <a:r>
              <a:rPr lang="en-GB" dirty="0"/>
              <a:t>To use a common language for exchanging files and documents.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90CA906-9A3E-448A-93B8-5E94F5A36B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20060"/>
      </p:ext>
    </p:extLst>
  </p:cSld>
  <p:clrMapOvr>
    <a:masterClrMapping/>
  </p:clrMapOvr>
  <p:transition advTm="311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xmlns="" id="{F279B726-0B2E-4158-9297-733307D69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431" y="1129165"/>
            <a:ext cx="8581292" cy="562947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8A27F3B-74F8-426E-9EF8-7C8FE384B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147690"/>
      </p:ext>
    </p:extLst>
  </p:cSld>
  <p:clrMapOvr>
    <a:masterClrMapping/>
  </p:clrMapOvr>
  <p:transition advTm="103265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40FDFB-C69A-4191-A5BD-A486A955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			Assignment # 1</a:t>
            </a:r>
          </a:p>
        </p:txBody>
      </p:sp>
      <p:pic>
        <p:nvPicPr>
          <p:cNvPr id="6" name="Content Placeholder 5" descr="A close up of a logo&#10;&#10;Description automatically generated">
            <a:extLst>
              <a:ext uri="{FF2B5EF4-FFF2-40B4-BE49-F238E27FC236}">
                <a16:creationId xmlns:a16="http://schemas.microsoft.com/office/drawing/2014/main" xmlns="" id="{A57A7599-EBB2-46CA-8EB6-F445CE04B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98" y="1376033"/>
            <a:ext cx="7330148" cy="171530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AA87375-37B0-45D8-A5F8-0BAC2A6163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xmlns="" id="{0FE697A7-9543-448A-B138-131EF9DED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88" y="3446606"/>
            <a:ext cx="8268304" cy="1254325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xmlns="" id="{1F3A3447-E70C-4F63-AF0E-FC2FFE2483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38" y="5056200"/>
            <a:ext cx="8011370" cy="12465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59295B2-7E9B-42EE-B69C-376A89D8CE6F}"/>
              </a:ext>
            </a:extLst>
          </p:cNvPr>
          <p:cNvSpPr/>
          <p:nvPr/>
        </p:nvSpPr>
        <p:spPr bwMode="auto">
          <a:xfrm>
            <a:off x="411718" y="5111005"/>
            <a:ext cx="225506" cy="180010"/>
          </a:xfrm>
          <a:prstGeom prst="rect">
            <a:avLst/>
          </a:prstGeom>
          <a:solidFill>
            <a:srgbClr val="FFFFFF"/>
          </a:solidFill>
          <a:ln w="1588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GB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69DD142A-7813-40FF-9687-3456BC7CA533}"/>
              </a:ext>
            </a:extLst>
          </p:cNvPr>
          <p:cNvSpPr/>
          <p:nvPr/>
        </p:nvSpPr>
        <p:spPr bwMode="auto">
          <a:xfrm>
            <a:off x="820615" y="5291015"/>
            <a:ext cx="415356" cy="190952"/>
          </a:xfrm>
          <a:prstGeom prst="rect">
            <a:avLst/>
          </a:prstGeom>
          <a:solidFill>
            <a:srgbClr val="FFFFFF"/>
          </a:solidFill>
          <a:ln w="1588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GB" sz="2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0072C26-6EC8-4C21-AF77-3C73860A185A}"/>
              </a:ext>
            </a:extLst>
          </p:cNvPr>
          <p:cNvSpPr/>
          <p:nvPr/>
        </p:nvSpPr>
        <p:spPr bwMode="auto">
          <a:xfrm>
            <a:off x="388644" y="3575282"/>
            <a:ext cx="225506" cy="180010"/>
          </a:xfrm>
          <a:prstGeom prst="rect">
            <a:avLst/>
          </a:prstGeom>
          <a:solidFill>
            <a:srgbClr val="FFFFFF"/>
          </a:solidFill>
          <a:ln w="1588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GB" sz="2800" b="1" dirty="0">
                <a:latin typeface="Times New Roman" panose="02020603050405020304" pitchFamily="18" charset="0"/>
              </a:rPr>
              <a:t>2</a:t>
            </a:r>
            <a:endParaRPr kumimoji="0" lang="en-GB" sz="28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162824BC-F474-4B60-8D38-BBFF11A16FD1}"/>
              </a:ext>
            </a:extLst>
          </p:cNvPr>
          <p:cNvSpPr/>
          <p:nvPr/>
        </p:nvSpPr>
        <p:spPr bwMode="auto">
          <a:xfrm>
            <a:off x="411718" y="1476980"/>
            <a:ext cx="225506" cy="180010"/>
          </a:xfrm>
          <a:prstGeom prst="rect">
            <a:avLst/>
          </a:prstGeom>
          <a:solidFill>
            <a:srgbClr val="FFFFFF"/>
          </a:solidFill>
          <a:ln w="1588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GB" sz="2800" b="1" dirty="0">
                <a:latin typeface="Times New Roman" panose="02020603050405020304" pitchFamily="18" charset="0"/>
              </a:rPr>
              <a:t>1</a:t>
            </a:r>
            <a:endParaRPr kumimoji="0" lang="en-GB" sz="28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E36F1F5E-3659-4033-926C-4581B90700B8}"/>
              </a:ext>
            </a:extLst>
          </p:cNvPr>
          <p:cNvSpPr/>
          <p:nvPr/>
        </p:nvSpPr>
        <p:spPr bwMode="auto">
          <a:xfrm>
            <a:off x="820615" y="3649786"/>
            <a:ext cx="341680" cy="273538"/>
          </a:xfrm>
          <a:prstGeom prst="rect">
            <a:avLst/>
          </a:prstGeom>
          <a:solidFill>
            <a:srgbClr val="FFFFFF"/>
          </a:solidFill>
          <a:ln w="1588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GB" sz="2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18F3C73A-22EB-48E7-AF62-10974E7C3BA7}"/>
              </a:ext>
            </a:extLst>
          </p:cNvPr>
          <p:cNvSpPr/>
          <p:nvPr/>
        </p:nvSpPr>
        <p:spPr bwMode="auto">
          <a:xfrm>
            <a:off x="832339" y="3653697"/>
            <a:ext cx="341680" cy="273538"/>
          </a:xfrm>
          <a:prstGeom prst="rect">
            <a:avLst/>
          </a:prstGeom>
          <a:solidFill>
            <a:srgbClr val="FFFFFF"/>
          </a:solidFill>
          <a:ln w="1588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GB" sz="2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56988F59-73BB-438F-A63A-9F64E3DEE1ED}"/>
              </a:ext>
            </a:extLst>
          </p:cNvPr>
          <p:cNvSpPr/>
          <p:nvPr/>
        </p:nvSpPr>
        <p:spPr bwMode="auto">
          <a:xfrm>
            <a:off x="829571" y="1520221"/>
            <a:ext cx="341680" cy="273538"/>
          </a:xfrm>
          <a:prstGeom prst="rect">
            <a:avLst/>
          </a:prstGeom>
          <a:solidFill>
            <a:srgbClr val="FFFFFF"/>
          </a:solidFill>
          <a:ln w="1588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GB" sz="2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879923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7|5.6|12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|7.1|7.4|34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21.2|14.2|34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3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92.3|19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8|8.8|16.4|110.4|15|136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9|27|15.9|8.6|17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|6.5|34.6|6.6|1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9">
      <a:dk1>
        <a:srgbClr val="000000"/>
      </a:dk1>
      <a:lt1>
        <a:srgbClr val="FFFFFF"/>
      </a:lt1>
      <a:dk2>
        <a:srgbClr val="008000"/>
      </a:dk2>
      <a:lt2>
        <a:srgbClr val="808080"/>
      </a:lt2>
      <a:accent1>
        <a:srgbClr val="00CC99"/>
      </a:accent1>
      <a:accent2>
        <a:srgbClr val="008000"/>
      </a:accent2>
      <a:accent3>
        <a:srgbClr val="FFFFFF"/>
      </a:accent3>
      <a:accent4>
        <a:srgbClr val="000000"/>
      </a:accent4>
      <a:accent5>
        <a:srgbClr val="AAE2CA"/>
      </a:accent5>
      <a:accent6>
        <a:srgbClr val="007300"/>
      </a:accent6>
      <a:hlink>
        <a:srgbClr val="009999"/>
      </a:hlink>
      <a:folHlink>
        <a:srgbClr val="006666"/>
      </a:folHlink>
    </a:clrScheme>
    <a:fontScheme name="Default Design">
      <a:majorFont>
        <a:latin typeface="Helvetic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1588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anose="05000000000000000000" pitchFamily="2" charset="2"/>
          <a:buChar char="§"/>
          <a:tabLst/>
          <a:defRPr kumimoji="0" lang="en-US" altLang="en-US" sz="28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1588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anose="05000000000000000000" pitchFamily="2" charset="2"/>
          <a:buChar char="§"/>
          <a:tabLst/>
          <a:defRPr kumimoji="0" lang="en-US" altLang="en-US" sz="28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E70000"/>
        </a:accent6>
        <a:hlink>
          <a:srgbClr val="FF00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000000"/>
        </a:dk1>
        <a:lt1>
          <a:srgbClr val="FFFFFF"/>
        </a:lt1>
        <a:dk2>
          <a:srgbClr val="008000"/>
        </a:dk2>
        <a:lt2>
          <a:srgbClr val="808080"/>
        </a:lt2>
        <a:accent1>
          <a:srgbClr val="00CC99"/>
        </a:accent1>
        <a:accent2>
          <a:srgbClr val="008000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007300"/>
        </a:accent6>
        <a:hlink>
          <a:srgbClr val="0099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2626</TotalTime>
  <Words>205</Words>
  <Application>Microsoft Office PowerPoint</Application>
  <PresentationFormat>Widescreen</PresentationFormat>
  <Paragraphs>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Helvetica</vt:lpstr>
      <vt:lpstr>Times New Roman</vt:lpstr>
      <vt:lpstr>Wingdings</vt:lpstr>
      <vt:lpstr>Office Theme</vt:lpstr>
      <vt:lpstr>Default Design</vt:lpstr>
      <vt:lpstr>Octal to Decimal Conversion</vt:lpstr>
      <vt:lpstr> Hexadecimal to Decimal </vt:lpstr>
      <vt:lpstr>Conversion of fraction Octal to Decimal Numbers</vt:lpstr>
      <vt:lpstr>Binary Arithmetic</vt:lpstr>
      <vt:lpstr>Binary multiplication</vt:lpstr>
      <vt:lpstr>Binary Subtraction</vt:lpstr>
      <vt:lpstr>Hexadecimal addition</vt:lpstr>
      <vt:lpstr>Convert binary to octal and hexadecimal numbers</vt:lpstr>
      <vt:lpstr>Multiplication of Octal Numbers</vt:lpstr>
      <vt:lpstr>Binary Coded Decimal</vt:lpstr>
      <vt:lpstr>ASCII Codes</vt:lpstr>
      <vt:lpstr>PowerPoint Presentation</vt:lpstr>
      <vt:lpstr>     Assignment # 1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Nutech</dc:creator>
  <cp:lastModifiedBy>Windows User</cp:lastModifiedBy>
  <cp:revision>61</cp:revision>
  <dcterms:created xsi:type="dcterms:W3CDTF">2020-04-18T07:13:17Z</dcterms:created>
  <dcterms:modified xsi:type="dcterms:W3CDTF">2025-02-20T06:36:31Z</dcterms:modified>
</cp:coreProperties>
</file>