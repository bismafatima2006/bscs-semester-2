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75" r:id="rId3"/>
    <p:sldId id="276" r:id="rId4"/>
    <p:sldId id="274" r:id="rId5"/>
    <p:sldId id="278" r:id="rId6"/>
    <p:sldId id="279" r:id="rId7"/>
    <p:sldId id="280" r:id="rId8"/>
    <p:sldId id="286" r:id="rId9"/>
    <p:sldId id="334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B593A-03E8-46B9-902F-4A1D69234645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B85B-B42F-4CFA-A335-4B0510CB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xmlns="" id="{AA7D5C3F-DE54-43B7-83FE-45C8B444A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B6B27B-06CE-4389-B182-D8B5487FEDC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xmlns="" id="{A992818F-2A70-4F56-AD09-44F27FC5D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xmlns="" id="{037F93EE-0624-43C8-BD25-F682B783C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The transistor without the “bubble” on its input is an N-type field effect</a:t>
            </a:r>
            <a:br>
              <a:rPr lang="en-US" altLang="en-US"/>
            </a:br>
            <a:r>
              <a:rPr lang="en-US" altLang="en-US"/>
              <a:t>transistor. It acts like a closed switch between its top and bottom terminals</a:t>
            </a:r>
            <a:br>
              <a:rPr lang="en-US" altLang="en-US"/>
            </a:br>
            <a:r>
              <a:rPr lang="en-US" altLang="en-US"/>
              <a:t>with an H (1) applied to its input on its left. It acts like an open switch with</a:t>
            </a:r>
            <a:br>
              <a:rPr lang="en-US" altLang="en-US"/>
            </a:br>
            <a:r>
              <a:rPr lang="en-US" altLang="en-US"/>
              <a:t>an L (0) applied to its input. The transistor with the “bubble” on its input is a </a:t>
            </a:r>
            <a:br>
              <a:rPr lang="en-US" altLang="en-US"/>
            </a:br>
            <a:r>
              <a:rPr lang="en-US" altLang="en-US"/>
              <a:t>P-type field effect transistor.  The +V at the top provides an H (1) and the</a:t>
            </a:r>
            <a:br>
              <a:rPr lang="en-US" altLang="en-US"/>
            </a:br>
            <a:r>
              <a:rPr lang="en-US" altLang="en-US"/>
              <a:t>Ground symbol at the bottom provides an L (0). By modeling the two types</a:t>
            </a:r>
            <a:br>
              <a:rPr lang="en-US" altLang="en-US"/>
            </a:br>
            <a:r>
              <a:rPr lang="en-US" altLang="en-US"/>
              <a:t>of field effect transistors as switches, one can see how the series and</a:t>
            </a:r>
            <a:br>
              <a:rPr lang="en-US" altLang="en-US"/>
            </a:br>
            <a:r>
              <a:rPr lang="en-US" altLang="en-US"/>
              <a:t>parallel interconnections can produce 1’s and 0’s on the outputs on the </a:t>
            </a:r>
            <a:br>
              <a:rPr lang="en-US" altLang="en-US"/>
            </a:br>
            <a:r>
              <a:rPr lang="en-US" altLang="en-US"/>
              <a:t>right in response to applied 1’s and 0’s on the inputs on the left. NOR and</a:t>
            </a:r>
          </a:p>
          <a:p>
            <a:r>
              <a:rPr lang="en-US" altLang="en-US"/>
              <a:t>NAND are OR and AND, each followed by a NOT respectively.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2742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xmlns="" id="{7156CFFE-09E4-4A16-A0D6-75F89F3F6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AC584A-43E3-4988-9BC6-005DD08BA57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5179B291-C05E-4F95-B829-675F3AC129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0DC9AA2B-31A6-46E1-99E2-6F4DB437E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Dual G = ((X</a:t>
            </a:r>
            <a:r>
              <a:rPr lang="en-US" altLang="en-US" sz="900" b="1" dirty="0">
                <a:cs typeface="Times New Roman" panose="02020603050405020304" pitchFamily="18" charset="0"/>
              </a:rPr>
              <a:t>+</a:t>
            </a:r>
            <a:r>
              <a:rPr lang="en-US" altLang="en-US" dirty="0"/>
              <a:t>Y) </a:t>
            </a:r>
            <a:r>
              <a:rPr lang="en-US" altLang="en-US" sz="9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dirty="0"/>
              <a:t> (W </a:t>
            </a:r>
            <a:r>
              <a:rPr lang="en-US" altLang="en-US" sz="9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dirty="0"/>
              <a:t> Z)') </a:t>
            </a:r>
            <a:r>
              <a:rPr lang="en-US" altLang="en-US" sz="900" dirty="0"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en-US" dirty="0"/>
              <a:t>((X</a:t>
            </a:r>
            <a:r>
              <a:rPr lang="en-US" altLang="en-US" sz="900" b="1" dirty="0">
                <a:cs typeface="Times New Roman" panose="02020603050405020304" pitchFamily="18" charset="0"/>
              </a:rPr>
              <a:t>+</a:t>
            </a:r>
            <a:r>
              <a:rPr lang="en-US" altLang="en-US" dirty="0"/>
              <a:t>Y) </a:t>
            </a:r>
            <a:r>
              <a:rPr lang="en-US" altLang="en-US" sz="9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dirty="0"/>
              <a:t>(W' </a:t>
            </a:r>
            <a:r>
              <a:rPr lang="en-US" altLang="en-US" sz="900" b="1" dirty="0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dirty="0"/>
              <a:t> Z')</a:t>
            </a:r>
          </a:p>
          <a:p>
            <a:r>
              <a:rPr lang="en-US" altLang="en-US" dirty="0"/>
              <a:t>Dual H = (A + B)(A + C)(B + C). Using the Boolean identities,</a:t>
            </a:r>
          </a:p>
          <a:p>
            <a:r>
              <a:rPr lang="en-US" altLang="en-US" dirty="0"/>
              <a:t>          = (A +BC) (B+C) = AB + AC + BC. So H is self-dual.</a:t>
            </a:r>
          </a:p>
          <a:p>
            <a:r>
              <a:rPr lang="en-US" altLang="en-US" dirty="0"/>
              <a:t>	     </a:t>
            </a:r>
          </a:p>
        </p:txBody>
      </p:sp>
    </p:spTree>
    <p:extLst>
      <p:ext uri="{BB962C8B-B14F-4D97-AF65-F5344CB8AC3E}">
        <p14:creationId xmlns:p14="http://schemas.microsoft.com/office/powerpoint/2010/main" val="221783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5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7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4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3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25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51">
            <a:extLst>
              <a:ext uri="{FF2B5EF4-FFF2-40B4-BE49-F238E27FC236}">
                <a16:creationId xmlns:a16="http://schemas.microsoft.com/office/drawing/2014/main" xmlns="" id="{4FDEDECC-3183-43D8-8235-D1F0839B0B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00" b="1"/>
              <a:t>Charles Kime &amp; Thomas Kaminski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2200">
                <a:cs typeface="Times New Roman" panose="02020603050405020304" pitchFamily="18" charset="0"/>
                <a:hlinkClick r:id="" action="ppaction://noaction"/>
              </a:rPr>
              <a:t>Terms of Use</a:t>
            </a:r>
            <a:r>
              <a:rPr lang="en-US" altLang="en-US" sz="2200">
                <a:cs typeface="Times New Roman" panose="02020603050405020304" pitchFamily="18" charset="0"/>
              </a:rPr>
              <a:t/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1800"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052">
            <a:extLst>
              <a:ext uri="{FF2B5EF4-FFF2-40B4-BE49-F238E27FC236}">
                <a16:creationId xmlns:a16="http://schemas.microsoft.com/office/drawing/2014/main" xmlns="" id="{E4E8B743-C91D-4A70-BD65-39645D2335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chemeClr val="hlink"/>
                </a:solidFill>
                <a:latin typeface="Helvetica" panose="020B0604020202020204" pitchFamily="34" charset="0"/>
              </a:rPr>
              <a:t>Chapter 2 – Combinational Logic Circuits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  <a:latin typeface="Helvetica" panose="020B0604020202020204" pitchFamily="34" charset="0"/>
              </a:rPr>
              <a:t>Part 1 – Gate Circuits and Boolean Equations</a:t>
            </a:r>
            <a:endParaRPr lang="en-US" altLang="en-US" sz="1600"/>
          </a:p>
        </p:txBody>
      </p:sp>
      <p:sp>
        <p:nvSpPr>
          <p:cNvPr id="4" name="Text Box 1053">
            <a:extLst>
              <a:ext uri="{FF2B5EF4-FFF2-40B4-BE49-F238E27FC236}">
                <a16:creationId xmlns:a16="http://schemas.microsoft.com/office/drawing/2014/main" xmlns="" id="{A89A69DD-3EE7-47B1-9258-63BFD5B235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3200" b="1"/>
              <a:t>Logic and Computer Design Fundamentals</a:t>
            </a:r>
          </a:p>
        </p:txBody>
      </p:sp>
      <p:sp>
        <p:nvSpPr>
          <p:cNvPr id="5" name="Line 1054">
            <a:extLst>
              <a:ext uri="{FF2B5EF4-FFF2-40B4-BE49-F238E27FC236}">
                <a16:creationId xmlns:a16="http://schemas.microsoft.com/office/drawing/2014/main" xmlns="" id="{4D3682BF-B30E-4D89-BA15-BF08B67F62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26218042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B31DAB-F0DF-4B55-9B0A-7EC249AC2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B3EDB963-B994-4340-BFD5-6A44A9DD33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81614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C7064F1-2FAB-446D-9D5F-692A027C6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4EDD057C-DA84-47C7-80BD-C57826715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81572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407F09C-CFAA-4790-80D0-1A57EED3A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0228AA09-BE32-4C85-9249-EF9222D4FC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37524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D7EE606-CD2E-4AD1-8563-A6CBCD501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9160640E-8646-4682-BC06-9F0CAFF42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415595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66CF84E-22A4-4A7A-B4FC-AF0E6485F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EA96DE6C-A3D6-4AF8-9C58-5E5EC00818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53608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2374934-60BD-44EB-B57D-8346D129D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261D1275-0B70-4DDC-913C-652A503EB4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66930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9017783-BD6C-460B-BA6D-4A77E9F6C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6ACBFD97-53DC-4CC9-89BB-0873651F92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7812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5B0539-5428-42D8-A6B6-B964A1332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9FAC43E8-2994-4255-87BD-DA6CB6EF3D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20400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E084DE3-1BB9-4705-966C-937218FE4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263FD446-CF6B-4188-8301-3B9AFE5957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98225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47E2B9-3F43-4E6E-B9B5-286926F69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8375BD04-BBD1-48E7-96ED-C7E13AF513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063571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" descr="C:\Documents and Settings\Charles R Kime\My Documents\Texts\Website\PowerPoint_Slides\Work_Area\Chapter_01\watermark.jpg">
            <a:extLst>
              <a:ext uri="{FF2B5EF4-FFF2-40B4-BE49-F238E27FC236}">
                <a16:creationId xmlns:a16="http://schemas.microsoft.com/office/drawing/2014/main" xmlns="" id="{BACE7723-28F1-4B3A-A178-C5273A541C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48">
            <a:extLst>
              <a:ext uri="{FF2B5EF4-FFF2-40B4-BE49-F238E27FC236}">
                <a16:creationId xmlns:a16="http://schemas.microsoft.com/office/drawing/2014/main" xmlns="" id="{44BD87F8-660D-45B9-B685-31F1AF836FA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28" name="Rectangle 49">
            <a:extLst>
              <a:ext uri="{FF2B5EF4-FFF2-40B4-BE49-F238E27FC236}">
                <a16:creationId xmlns:a16="http://schemas.microsoft.com/office/drawing/2014/main" xmlns="" id="{B3E37186-9A50-47CD-BDBD-9D599AD6B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xmlns="" id="{F32808C4-183C-4328-8E51-AD86076A2E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83133" y="6489700"/>
            <a:ext cx="317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600" smtClean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875C2F81-B19B-44C1-8284-AAA8512C15C9}" type="slidenum">
              <a:rPr lang="en-US" altLang="en-US">
                <a:cs typeface="+mn-cs"/>
              </a:rPr>
              <a:pPr>
                <a:defRPr/>
              </a:pPr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30" name="Line 51">
            <a:extLst>
              <a:ext uri="{FF2B5EF4-FFF2-40B4-BE49-F238E27FC236}">
                <a16:creationId xmlns:a16="http://schemas.microsoft.com/office/drawing/2014/main" xmlns="" id="{DD724D96-735A-4905-945F-C6F28FCADE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  <p:sp>
        <p:nvSpPr>
          <p:cNvPr id="1031" name="Rectangle 52">
            <a:extLst>
              <a:ext uri="{FF2B5EF4-FFF2-40B4-BE49-F238E27FC236}">
                <a16:creationId xmlns:a16="http://schemas.microsoft.com/office/drawing/2014/main" xmlns="" id="{B4AFD468-5F63-4012-97BF-DD70979CB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350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xmlns="" id="{A0A4530D-8509-4006-92CE-66A10F430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D348CB15-16F8-43BD-8081-C872E38AF4A1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xmlns="" id="{2EE51DAB-B276-46F1-81B1-AE1B8B90E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Logic Gates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xmlns="" id="{E7729F97-34DD-439E-81DE-121065AED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1"/>
            <a:ext cx="7772400" cy="5027613"/>
          </a:xfrm>
        </p:spPr>
        <p:txBody>
          <a:bodyPr/>
          <a:lstStyle/>
          <a:p>
            <a:r>
              <a:rPr lang="en-US" altLang="en-US" sz="2800" b="1" dirty="0"/>
              <a:t>In the earliest computers, switches were opened and closed by magnetic fields produced by energizing coils in </a:t>
            </a:r>
            <a:r>
              <a:rPr lang="en-US" altLang="en-US" sz="2800" b="1" i="1" dirty="0"/>
              <a:t>relays</a:t>
            </a:r>
            <a:r>
              <a:rPr lang="en-US" altLang="en-US" sz="2800" b="1" dirty="0"/>
              <a:t>. The switches in turn opened and closed the current paths.</a:t>
            </a:r>
          </a:p>
          <a:p>
            <a:r>
              <a:rPr lang="en-US" altLang="en-US" sz="2800" b="1" dirty="0"/>
              <a:t>Later, </a:t>
            </a:r>
            <a:r>
              <a:rPr lang="en-US" altLang="en-US" sz="2800" b="1" i="1" dirty="0"/>
              <a:t>vacuum tubes</a:t>
            </a:r>
            <a:r>
              <a:rPr lang="en-US" altLang="en-US" sz="2800" b="1" dirty="0"/>
              <a:t> that open and close current paths electronically replaced relays.</a:t>
            </a:r>
          </a:p>
          <a:p>
            <a:r>
              <a:rPr lang="en-US" altLang="en-US" sz="2800" b="1" dirty="0"/>
              <a:t>Today, </a:t>
            </a:r>
            <a:r>
              <a:rPr lang="en-US" altLang="en-US" sz="2800" b="1" i="1" dirty="0"/>
              <a:t>transistors</a:t>
            </a:r>
            <a:r>
              <a:rPr lang="en-US" altLang="en-US" sz="2800" b="1" dirty="0"/>
              <a:t> are used as electronic switches that open and close current paths.</a:t>
            </a:r>
            <a:endParaRPr lang="en-US" altLang="en-US" sz="2800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xmlns="" id="{04AE9B2C-91A3-425B-9F7D-943F3E9EB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D4C6CA2E-5715-49AC-A2AE-E4478D08B855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xmlns="" id="{F9D16EF9-A4BB-4386-950A-9A4FEDC67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Logic Gates </a:t>
            </a:r>
            <a:r>
              <a:rPr lang="en-US" altLang="en-US" sz="4000"/>
              <a:t>(continued)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xmlns="" id="{35470B22-5CBA-43C3-8679-A245DDBDE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0725" y="1163639"/>
            <a:ext cx="8205788" cy="1163637"/>
          </a:xfrm>
        </p:spPr>
        <p:txBody>
          <a:bodyPr/>
          <a:lstStyle/>
          <a:p>
            <a:r>
              <a:rPr lang="en-US" altLang="en-US" sz="2800" b="1" dirty="0"/>
              <a:t>Implementation of logic gates with transistors (See Reading  Supplement </a:t>
            </a:r>
            <a:r>
              <a:rPr lang="en-US" altLang="en-US" sz="2800" b="1" dirty="0">
                <a:latin typeface="Symbol" panose="05050102010706020507" pitchFamily="18" charset="2"/>
              </a:rPr>
              <a:t>-</a:t>
            </a:r>
            <a:r>
              <a:rPr lang="en-US" altLang="en-US" sz="2800" b="1" dirty="0"/>
              <a:t> CMOS Circuits)</a:t>
            </a:r>
          </a:p>
          <a:p>
            <a:endParaRPr lang="en-US" altLang="en-US" sz="2400" dirty="0"/>
          </a:p>
        </p:txBody>
      </p:sp>
      <p:sp>
        <p:nvSpPr>
          <p:cNvPr id="27653" name="Rectangle 9">
            <a:extLst>
              <a:ext uri="{FF2B5EF4-FFF2-40B4-BE49-F238E27FC236}">
                <a16:creationId xmlns:a16="http://schemas.microsoft.com/office/drawing/2014/main" xmlns="" id="{AF140497-58AC-4506-9DCE-006CF291D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694" y="6053136"/>
            <a:ext cx="8412163" cy="87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9999"/>
              </a:buClr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9999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2400" b="1" dirty="0">
                <a:solidFill>
                  <a:srgbClr val="000000"/>
                </a:solidFill>
              </a:rPr>
              <a:t>Transistor of logic functions are called </a:t>
            </a:r>
            <a:r>
              <a:rPr lang="en-US" altLang="en-US" sz="2400" b="1" u="sng" dirty="0">
                <a:solidFill>
                  <a:srgbClr val="000000"/>
                </a:solidFill>
              </a:rPr>
              <a:t>logic gates</a:t>
            </a:r>
            <a:r>
              <a:rPr lang="en-US" altLang="en-US" sz="2400" b="1" dirty="0">
                <a:solidFill>
                  <a:srgbClr val="000000"/>
                </a:solidFill>
              </a:rPr>
              <a:t> or just </a:t>
            </a:r>
            <a:r>
              <a:rPr lang="en-US" altLang="en-US" sz="2400" b="1" u="sng" dirty="0">
                <a:solidFill>
                  <a:srgbClr val="000000"/>
                </a:solidFill>
              </a:rPr>
              <a:t>gates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A06E695-9752-4EF3-ACDF-E306756BC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208" y="2327276"/>
            <a:ext cx="2530159" cy="3472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F988D8D-E0BF-463A-B3BE-5F03B4EE78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884" y="2120875"/>
            <a:ext cx="2911092" cy="3932261"/>
          </a:xfrm>
          <a:prstGeom prst="rect">
            <a:avLst/>
          </a:prstGeom>
        </p:spPr>
      </p:pic>
      <p:pic>
        <p:nvPicPr>
          <p:cNvPr id="7" name="Picture 6" descr="A picture containing object, clock&#10;&#10;Description automatically generated">
            <a:extLst>
              <a:ext uri="{FF2B5EF4-FFF2-40B4-BE49-F238E27FC236}">
                <a16:creationId xmlns:a16="http://schemas.microsoft.com/office/drawing/2014/main" xmlns="" id="{3B65DB2B-08BA-48A9-A32D-424837CF14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201" y="2158375"/>
            <a:ext cx="1417443" cy="35359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xmlns="" id="{90E7697A-B0DA-4DCB-A97F-845F6C822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F942C704-84FB-4C9A-91C5-DD6A71B32A57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29699" name="Picture 5" descr="C:\Documents and Settings\Charles R Kime\My Documents\Texts\Website\PowerPoint_Slides\Work_Area\Chapter_02\fig_2-01.emf">
            <a:extLst>
              <a:ext uri="{FF2B5EF4-FFF2-40B4-BE49-F238E27FC236}">
                <a16:creationId xmlns:a16="http://schemas.microsoft.com/office/drawing/2014/main" xmlns="" id="{9A1A91DC-BBF2-4611-AAD3-B9DF0D531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1666876"/>
            <a:ext cx="836771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>
            <a:extLst>
              <a:ext uri="{FF2B5EF4-FFF2-40B4-BE49-F238E27FC236}">
                <a16:creationId xmlns:a16="http://schemas.microsoft.com/office/drawing/2014/main" xmlns="" id="{F5BD38A0-0AC6-4B61-A83C-C8A91DD36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Logic Gate Symbols and Behavior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xmlns="" id="{BF1D029E-4A70-4271-92FB-5A4D426E4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16955" y="1241425"/>
            <a:ext cx="7772400" cy="5027613"/>
          </a:xfrm>
        </p:spPr>
        <p:txBody>
          <a:bodyPr/>
          <a:lstStyle/>
          <a:p>
            <a:r>
              <a:rPr lang="en-US" altLang="en-US" sz="2400" b="1" dirty="0"/>
              <a:t>Logic gates have special symbols:</a:t>
            </a:r>
          </a:p>
          <a:p>
            <a:endParaRPr lang="en-US" altLang="en-US" sz="2000" b="1" dirty="0"/>
          </a:p>
          <a:p>
            <a:endParaRPr lang="en-US" altLang="en-US" sz="2000" b="1" dirty="0"/>
          </a:p>
          <a:p>
            <a:endParaRPr lang="en-US" altLang="en-US" sz="2400" b="1" dirty="0"/>
          </a:p>
          <a:p>
            <a:r>
              <a:rPr lang="en-US" altLang="en-US" sz="2400" b="1" dirty="0"/>
              <a:t>And waveform behavior in time as follows</a:t>
            </a:r>
            <a:r>
              <a:rPr lang="en-US" altLang="en-US" sz="2800" b="1" dirty="0"/>
              <a:t>: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xmlns="" id="{A2D8A1E5-BDA5-4B71-9758-6AC69A007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C939F000-16CB-4981-A966-D88C8C197BC9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xmlns="" id="{09AEF787-225D-454B-8D20-074975CAF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>
                <a:solidFill>
                  <a:schemeClr val="tx1"/>
                </a:solidFill>
              </a:rPr>
              <a:t>Logic Diagrams and Expressions</a:t>
            </a:r>
          </a:p>
        </p:txBody>
      </p:sp>
      <p:sp>
        <p:nvSpPr>
          <p:cNvPr id="235581" name="Rectangle 61">
            <a:extLst>
              <a:ext uri="{FF2B5EF4-FFF2-40B4-BE49-F238E27FC236}">
                <a16:creationId xmlns:a16="http://schemas.microsoft.com/office/drawing/2014/main" xmlns="" id="{38B786EA-97EA-411C-A05E-E6F57BA60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5964" y="4906963"/>
            <a:ext cx="8339137" cy="1016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 b="1">
                <a:cs typeface="Times New Roman" panose="02020603050405020304" pitchFamily="18" charset="0"/>
              </a:rPr>
              <a:t>Boolean equations, truth tables and logic diagrams describe the same function!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 b="1">
                <a:cs typeface="Times New Roman" panose="02020603050405020304" pitchFamily="18" charset="0"/>
              </a:rPr>
              <a:t>Truth tables are unique; expressions and logic diagrams are not. This gives flexibility in implementing functions.</a:t>
            </a:r>
            <a:endParaRPr lang="en-US" altLang="en-US" sz="2400"/>
          </a:p>
        </p:txBody>
      </p:sp>
      <p:grpSp>
        <p:nvGrpSpPr>
          <p:cNvPr id="235680" name="Group 160">
            <a:extLst>
              <a:ext uri="{FF2B5EF4-FFF2-40B4-BE49-F238E27FC236}">
                <a16:creationId xmlns:a16="http://schemas.microsoft.com/office/drawing/2014/main" xmlns="" id="{F858B04B-F180-4706-8F5B-E8F828A6D477}"/>
              </a:ext>
            </a:extLst>
          </p:cNvPr>
          <p:cNvGrpSpPr>
            <a:grpSpLocks/>
          </p:cNvGrpSpPr>
          <p:nvPr/>
        </p:nvGrpSpPr>
        <p:grpSpPr bwMode="auto">
          <a:xfrm>
            <a:off x="5670551" y="2568575"/>
            <a:ext cx="4722813" cy="1949450"/>
            <a:chOff x="2612" y="1618"/>
            <a:chExt cx="2975" cy="1228"/>
          </a:xfrm>
        </p:grpSpPr>
        <p:sp>
          <p:nvSpPr>
            <p:cNvPr id="30786" name="Rectangle 141">
              <a:extLst>
                <a:ext uri="{FF2B5EF4-FFF2-40B4-BE49-F238E27FC236}">
                  <a16:creationId xmlns:a16="http://schemas.microsoft.com/office/drawing/2014/main" xmlns="" id="{C33DA2FD-7091-4DEB-9538-71627E6E1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" y="1901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87" name="Rectangle 142">
              <a:extLst>
                <a:ext uri="{FF2B5EF4-FFF2-40B4-BE49-F238E27FC236}">
                  <a16:creationId xmlns:a16="http://schemas.microsoft.com/office/drawing/2014/main" xmlns="" id="{11AAA533-1B60-4C66-9F30-0C709A7AB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8" y="2328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grpSp>
          <p:nvGrpSpPr>
            <p:cNvPr id="30788" name="Group 159">
              <a:extLst>
                <a:ext uri="{FF2B5EF4-FFF2-40B4-BE49-F238E27FC236}">
                  <a16:creationId xmlns:a16="http://schemas.microsoft.com/office/drawing/2014/main" xmlns="" id="{FB650D34-0C4F-443D-803A-F2E23FA3D4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8" y="1990"/>
              <a:ext cx="2666" cy="831"/>
              <a:chOff x="2749" y="1990"/>
              <a:chExt cx="2666" cy="831"/>
            </a:xfrm>
          </p:grpSpPr>
          <p:sp>
            <p:nvSpPr>
              <p:cNvPr id="30792" name="Freeform 134">
                <a:extLst>
                  <a:ext uri="{FF2B5EF4-FFF2-40B4-BE49-F238E27FC236}">
                    <a16:creationId xmlns:a16="http://schemas.microsoft.com/office/drawing/2014/main" xmlns="" id="{119BCF3D-5B05-49FF-A9BA-381ACFBE0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177"/>
                <a:ext cx="406" cy="257"/>
              </a:xfrm>
              <a:custGeom>
                <a:avLst/>
                <a:gdLst>
                  <a:gd name="T0" fmla="*/ 392 w 406"/>
                  <a:gd name="T1" fmla="*/ 255 h 257"/>
                  <a:gd name="T2" fmla="*/ 394 w 406"/>
                  <a:gd name="T3" fmla="*/ 257 h 257"/>
                  <a:gd name="T4" fmla="*/ 398 w 406"/>
                  <a:gd name="T5" fmla="*/ 257 h 257"/>
                  <a:gd name="T6" fmla="*/ 402 w 406"/>
                  <a:gd name="T7" fmla="*/ 255 h 257"/>
                  <a:gd name="T8" fmla="*/ 405 w 406"/>
                  <a:gd name="T9" fmla="*/ 252 h 257"/>
                  <a:gd name="T10" fmla="*/ 406 w 406"/>
                  <a:gd name="T11" fmla="*/ 251 h 257"/>
                  <a:gd name="T12" fmla="*/ 406 w 406"/>
                  <a:gd name="T13" fmla="*/ 246 h 257"/>
                  <a:gd name="T14" fmla="*/ 405 w 406"/>
                  <a:gd name="T15" fmla="*/ 243 h 257"/>
                  <a:gd name="T16" fmla="*/ 402 w 406"/>
                  <a:gd name="T17" fmla="*/ 239 h 257"/>
                  <a:gd name="T18" fmla="*/ 14 w 406"/>
                  <a:gd name="T19" fmla="*/ 2 h 257"/>
                  <a:gd name="T20" fmla="*/ 13 w 406"/>
                  <a:gd name="T21" fmla="*/ 0 h 257"/>
                  <a:gd name="T22" fmla="*/ 8 w 406"/>
                  <a:gd name="T23" fmla="*/ 0 h 257"/>
                  <a:gd name="T24" fmla="*/ 5 w 406"/>
                  <a:gd name="T25" fmla="*/ 2 h 257"/>
                  <a:gd name="T26" fmla="*/ 2 w 406"/>
                  <a:gd name="T27" fmla="*/ 5 h 257"/>
                  <a:gd name="T28" fmla="*/ 0 w 406"/>
                  <a:gd name="T29" fmla="*/ 6 h 257"/>
                  <a:gd name="T30" fmla="*/ 0 w 406"/>
                  <a:gd name="T31" fmla="*/ 11 h 257"/>
                  <a:gd name="T32" fmla="*/ 2 w 406"/>
                  <a:gd name="T33" fmla="*/ 14 h 257"/>
                  <a:gd name="T34" fmla="*/ 5 w 406"/>
                  <a:gd name="T35" fmla="*/ 18 h 257"/>
                  <a:gd name="T36" fmla="*/ 392 w 406"/>
                  <a:gd name="T37" fmla="*/ 255 h 25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06" h="257">
                    <a:moveTo>
                      <a:pt x="392" y="255"/>
                    </a:moveTo>
                    <a:lnTo>
                      <a:pt x="394" y="257"/>
                    </a:lnTo>
                    <a:lnTo>
                      <a:pt x="398" y="257"/>
                    </a:lnTo>
                    <a:lnTo>
                      <a:pt x="402" y="255"/>
                    </a:lnTo>
                    <a:lnTo>
                      <a:pt x="405" y="252"/>
                    </a:lnTo>
                    <a:lnTo>
                      <a:pt x="406" y="251"/>
                    </a:lnTo>
                    <a:lnTo>
                      <a:pt x="406" y="246"/>
                    </a:lnTo>
                    <a:lnTo>
                      <a:pt x="405" y="243"/>
                    </a:lnTo>
                    <a:lnTo>
                      <a:pt x="402" y="239"/>
                    </a:lnTo>
                    <a:lnTo>
                      <a:pt x="14" y="2"/>
                    </a:lnTo>
                    <a:lnTo>
                      <a:pt x="13" y="0"/>
                    </a:lnTo>
                    <a:lnTo>
                      <a:pt x="8" y="0"/>
                    </a:lnTo>
                    <a:lnTo>
                      <a:pt x="5" y="2"/>
                    </a:lnTo>
                    <a:lnTo>
                      <a:pt x="2" y="5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2" y="14"/>
                    </a:lnTo>
                    <a:lnTo>
                      <a:pt x="5" y="18"/>
                    </a:lnTo>
                    <a:lnTo>
                      <a:pt x="392" y="2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3" name="Freeform 135">
                <a:extLst>
                  <a:ext uri="{FF2B5EF4-FFF2-40B4-BE49-F238E27FC236}">
                    <a16:creationId xmlns:a16="http://schemas.microsoft.com/office/drawing/2014/main" xmlns="" id="{3A7A0A9A-631B-49EB-9187-A8F0AF9C6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415"/>
                <a:ext cx="406" cy="257"/>
              </a:xfrm>
              <a:custGeom>
                <a:avLst/>
                <a:gdLst>
                  <a:gd name="T0" fmla="*/ 402 w 406"/>
                  <a:gd name="T1" fmla="*/ 17 h 257"/>
                  <a:gd name="T2" fmla="*/ 405 w 406"/>
                  <a:gd name="T3" fmla="*/ 14 h 257"/>
                  <a:gd name="T4" fmla="*/ 406 w 406"/>
                  <a:gd name="T5" fmla="*/ 11 h 257"/>
                  <a:gd name="T6" fmla="*/ 406 w 406"/>
                  <a:gd name="T7" fmla="*/ 6 h 257"/>
                  <a:gd name="T8" fmla="*/ 403 w 406"/>
                  <a:gd name="T9" fmla="*/ 3 h 257"/>
                  <a:gd name="T10" fmla="*/ 402 w 406"/>
                  <a:gd name="T11" fmla="*/ 1 h 257"/>
                  <a:gd name="T12" fmla="*/ 398 w 406"/>
                  <a:gd name="T13" fmla="*/ 0 h 257"/>
                  <a:gd name="T14" fmla="*/ 394 w 406"/>
                  <a:gd name="T15" fmla="*/ 0 h 257"/>
                  <a:gd name="T16" fmla="*/ 392 w 406"/>
                  <a:gd name="T17" fmla="*/ 1 h 257"/>
                  <a:gd name="T18" fmla="*/ 5 w 406"/>
                  <a:gd name="T19" fmla="*/ 239 h 257"/>
                  <a:gd name="T20" fmla="*/ 2 w 406"/>
                  <a:gd name="T21" fmla="*/ 242 h 257"/>
                  <a:gd name="T22" fmla="*/ 0 w 406"/>
                  <a:gd name="T23" fmla="*/ 246 h 257"/>
                  <a:gd name="T24" fmla="*/ 0 w 406"/>
                  <a:gd name="T25" fmla="*/ 250 h 257"/>
                  <a:gd name="T26" fmla="*/ 3 w 406"/>
                  <a:gd name="T27" fmla="*/ 254 h 257"/>
                  <a:gd name="T28" fmla="*/ 5 w 406"/>
                  <a:gd name="T29" fmla="*/ 255 h 257"/>
                  <a:gd name="T30" fmla="*/ 8 w 406"/>
                  <a:gd name="T31" fmla="*/ 257 h 257"/>
                  <a:gd name="T32" fmla="*/ 13 w 406"/>
                  <a:gd name="T33" fmla="*/ 257 h 257"/>
                  <a:gd name="T34" fmla="*/ 14 w 406"/>
                  <a:gd name="T35" fmla="*/ 255 h 257"/>
                  <a:gd name="T36" fmla="*/ 402 w 406"/>
                  <a:gd name="T37" fmla="*/ 17 h 25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06" h="257">
                    <a:moveTo>
                      <a:pt x="402" y="17"/>
                    </a:moveTo>
                    <a:lnTo>
                      <a:pt x="405" y="14"/>
                    </a:lnTo>
                    <a:lnTo>
                      <a:pt x="406" y="11"/>
                    </a:lnTo>
                    <a:lnTo>
                      <a:pt x="406" y="6"/>
                    </a:lnTo>
                    <a:lnTo>
                      <a:pt x="403" y="3"/>
                    </a:lnTo>
                    <a:lnTo>
                      <a:pt x="402" y="1"/>
                    </a:lnTo>
                    <a:lnTo>
                      <a:pt x="398" y="0"/>
                    </a:lnTo>
                    <a:lnTo>
                      <a:pt x="394" y="0"/>
                    </a:lnTo>
                    <a:lnTo>
                      <a:pt x="392" y="1"/>
                    </a:lnTo>
                    <a:lnTo>
                      <a:pt x="5" y="239"/>
                    </a:lnTo>
                    <a:lnTo>
                      <a:pt x="2" y="242"/>
                    </a:lnTo>
                    <a:lnTo>
                      <a:pt x="0" y="246"/>
                    </a:lnTo>
                    <a:lnTo>
                      <a:pt x="0" y="250"/>
                    </a:lnTo>
                    <a:lnTo>
                      <a:pt x="3" y="254"/>
                    </a:lnTo>
                    <a:lnTo>
                      <a:pt x="5" y="255"/>
                    </a:lnTo>
                    <a:lnTo>
                      <a:pt x="8" y="257"/>
                    </a:lnTo>
                    <a:lnTo>
                      <a:pt x="13" y="257"/>
                    </a:lnTo>
                    <a:lnTo>
                      <a:pt x="14" y="255"/>
                    </a:lnTo>
                    <a:lnTo>
                      <a:pt x="402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4" name="Freeform 136">
                <a:extLst>
                  <a:ext uri="{FF2B5EF4-FFF2-40B4-BE49-F238E27FC236}">
                    <a16:creationId xmlns:a16="http://schemas.microsoft.com/office/drawing/2014/main" xmlns="" id="{83A3448B-B09C-4BD6-B7A1-CB1C591F2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177"/>
                <a:ext cx="19" cy="495"/>
              </a:xfrm>
              <a:custGeom>
                <a:avLst/>
                <a:gdLst>
                  <a:gd name="T0" fmla="*/ 19 w 19"/>
                  <a:gd name="T1" fmla="*/ 10 h 495"/>
                  <a:gd name="T2" fmla="*/ 19 w 19"/>
                  <a:gd name="T3" fmla="*/ 6 h 495"/>
                  <a:gd name="T4" fmla="*/ 16 w 19"/>
                  <a:gd name="T5" fmla="*/ 3 h 495"/>
                  <a:gd name="T6" fmla="*/ 13 w 19"/>
                  <a:gd name="T7" fmla="*/ 0 h 495"/>
                  <a:gd name="T8" fmla="*/ 7 w 19"/>
                  <a:gd name="T9" fmla="*/ 0 h 495"/>
                  <a:gd name="T10" fmla="*/ 3 w 19"/>
                  <a:gd name="T11" fmla="*/ 3 h 495"/>
                  <a:gd name="T12" fmla="*/ 0 w 19"/>
                  <a:gd name="T13" fmla="*/ 6 h 495"/>
                  <a:gd name="T14" fmla="*/ 0 w 19"/>
                  <a:gd name="T15" fmla="*/ 488 h 495"/>
                  <a:gd name="T16" fmla="*/ 3 w 19"/>
                  <a:gd name="T17" fmla="*/ 492 h 495"/>
                  <a:gd name="T18" fmla="*/ 7 w 19"/>
                  <a:gd name="T19" fmla="*/ 495 h 495"/>
                  <a:gd name="T20" fmla="*/ 13 w 19"/>
                  <a:gd name="T21" fmla="*/ 495 h 495"/>
                  <a:gd name="T22" fmla="*/ 16 w 19"/>
                  <a:gd name="T23" fmla="*/ 492 h 495"/>
                  <a:gd name="T24" fmla="*/ 19 w 19"/>
                  <a:gd name="T25" fmla="*/ 488 h 495"/>
                  <a:gd name="T26" fmla="*/ 19 w 19"/>
                  <a:gd name="T27" fmla="*/ 485 h 495"/>
                  <a:gd name="T28" fmla="*/ 19 w 19"/>
                  <a:gd name="T29" fmla="*/ 10 h 49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" h="495">
                    <a:moveTo>
                      <a:pt x="19" y="10"/>
                    </a:move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7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488"/>
                    </a:lnTo>
                    <a:lnTo>
                      <a:pt x="3" y="492"/>
                    </a:lnTo>
                    <a:lnTo>
                      <a:pt x="7" y="495"/>
                    </a:lnTo>
                    <a:lnTo>
                      <a:pt x="13" y="495"/>
                    </a:lnTo>
                    <a:lnTo>
                      <a:pt x="16" y="492"/>
                    </a:lnTo>
                    <a:lnTo>
                      <a:pt x="19" y="488"/>
                    </a:lnTo>
                    <a:lnTo>
                      <a:pt x="19" y="485"/>
                    </a:ln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5" name="Freeform 137">
                <a:extLst>
                  <a:ext uri="{FF2B5EF4-FFF2-40B4-BE49-F238E27FC236}">
                    <a16:creationId xmlns:a16="http://schemas.microsoft.com/office/drawing/2014/main" xmlns="" id="{4A2BE94B-2433-40F8-87D1-987F30F13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2356"/>
                <a:ext cx="137" cy="137"/>
              </a:xfrm>
              <a:custGeom>
                <a:avLst/>
                <a:gdLst>
                  <a:gd name="T0" fmla="*/ 2 w 137"/>
                  <a:gd name="T1" fmla="*/ 87 h 137"/>
                  <a:gd name="T2" fmla="*/ 10 w 137"/>
                  <a:gd name="T3" fmla="*/ 105 h 137"/>
                  <a:gd name="T4" fmla="*/ 18 w 137"/>
                  <a:gd name="T5" fmla="*/ 116 h 137"/>
                  <a:gd name="T6" fmla="*/ 27 w 137"/>
                  <a:gd name="T7" fmla="*/ 124 h 137"/>
                  <a:gd name="T8" fmla="*/ 37 w 137"/>
                  <a:gd name="T9" fmla="*/ 130 h 137"/>
                  <a:gd name="T10" fmla="*/ 51 w 137"/>
                  <a:gd name="T11" fmla="*/ 135 h 137"/>
                  <a:gd name="T12" fmla="*/ 73 w 137"/>
                  <a:gd name="T13" fmla="*/ 137 h 137"/>
                  <a:gd name="T14" fmla="*/ 91 w 137"/>
                  <a:gd name="T15" fmla="*/ 133 h 137"/>
                  <a:gd name="T16" fmla="*/ 108 w 137"/>
                  <a:gd name="T17" fmla="*/ 125 h 137"/>
                  <a:gd name="T18" fmla="*/ 116 w 137"/>
                  <a:gd name="T19" fmla="*/ 116 h 137"/>
                  <a:gd name="T20" fmla="*/ 126 w 137"/>
                  <a:gd name="T21" fmla="*/ 108 h 137"/>
                  <a:gd name="T22" fmla="*/ 133 w 137"/>
                  <a:gd name="T23" fmla="*/ 91 h 137"/>
                  <a:gd name="T24" fmla="*/ 137 w 137"/>
                  <a:gd name="T25" fmla="*/ 73 h 137"/>
                  <a:gd name="T26" fmla="*/ 135 w 137"/>
                  <a:gd name="T27" fmla="*/ 51 h 137"/>
                  <a:gd name="T28" fmla="*/ 130 w 137"/>
                  <a:gd name="T29" fmla="*/ 37 h 137"/>
                  <a:gd name="T30" fmla="*/ 124 w 137"/>
                  <a:gd name="T31" fmla="*/ 27 h 137"/>
                  <a:gd name="T32" fmla="*/ 116 w 137"/>
                  <a:gd name="T33" fmla="*/ 18 h 137"/>
                  <a:gd name="T34" fmla="*/ 105 w 137"/>
                  <a:gd name="T35" fmla="*/ 10 h 137"/>
                  <a:gd name="T36" fmla="*/ 87 w 137"/>
                  <a:gd name="T37" fmla="*/ 2 h 137"/>
                  <a:gd name="T38" fmla="*/ 51 w 137"/>
                  <a:gd name="T39" fmla="*/ 2 h 137"/>
                  <a:gd name="T40" fmla="*/ 37 w 137"/>
                  <a:gd name="T41" fmla="*/ 7 h 137"/>
                  <a:gd name="T42" fmla="*/ 27 w 137"/>
                  <a:gd name="T43" fmla="*/ 13 h 137"/>
                  <a:gd name="T44" fmla="*/ 18 w 137"/>
                  <a:gd name="T45" fmla="*/ 21 h 137"/>
                  <a:gd name="T46" fmla="*/ 10 w 137"/>
                  <a:gd name="T47" fmla="*/ 32 h 137"/>
                  <a:gd name="T48" fmla="*/ 3 w 137"/>
                  <a:gd name="T49" fmla="*/ 46 h 137"/>
                  <a:gd name="T50" fmla="*/ 0 w 137"/>
                  <a:gd name="T51" fmla="*/ 68 h 137"/>
                  <a:gd name="T52" fmla="*/ 21 w 137"/>
                  <a:gd name="T53" fmla="*/ 53 h 137"/>
                  <a:gd name="T54" fmla="*/ 24 w 137"/>
                  <a:gd name="T55" fmla="*/ 46 h 137"/>
                  <a:gd name="T56" fmla="*/ 30 w 137"/>
                  <a:gd name="T57" fmla="*/ 37 h 137"/>
                  <a:gd name="T58" fmla="*/ 41 w 137"/>
                  <a:gd name="T59" fmla="*/ 27 h 137"/>
                  <a:gd name="T60" fmla="*/ 48 w 137"/>
                  <a:gd name="T61" fmla="*/ 22 h 137"/>
                  <a:gd name="T62" fmla="*/ 57 w 137"/>
                  <a:gd name="T63" fmla="*/ 19 h 137"/>
                  <a:gd name="T64" fmla="*/ 84 w 137"/>
                  <a:gd name="T65" fmla="*/ 21 h 137"/>
                  <a:gd name="T66" fmla="*/ 92 w 137"/>
                  <a:gd name="T67" fmla="*/ 26 h 137"/>
                  <a:gd name="T68" fmla="*/ 103 w 137"/>
                  <a:gd name="T69" fmla="*/ 34 h 137"/>
                  <a:gd name="T70" fmla="*/ 111 w 137"/>
                  <a:gd name="T71" fmla="*/ 45 h 137"/>
                  <a:gd name="T72" fmla="*/ 114 w 137"/>
                  <a:gd name="T73" fmla="*/ 49 h 137"/>
                  <a:gd name="T74" fmla="*/ 118 w 137"/>
                  <a:gd name="T75" fmla="*/ 67 h 137"/>
                  <a:gd name="T76" fmla="*/ 118 w 137"/>
                  <a:gd name="T77" fmla="*/ 78 h 137"/>
                  <a:gd name="T78" fmla="*/ 114 w 137"/>
                  <a:gd name="T79" fmla="*/ 89 h 137"/>
                  <a:gd name="T80" fmla="*/ 108 w 137"/>
                  <a:gd name="T81" fmla="*/ 97 h 137"/>
                  <a:gd name="T82" fmla="*/ 97 w 137"/>
                  <a:gd name="T83" fmla="*/ 108 h 137"/>
                  <a:gd name="T84" fmla="*/ 89 w 137"/>
                  <a:gd name="T85" fmla="*/ 114 h 137"/>
                  <a:gd name="T86" fmla="*/ 78 w 137"/>
                  <a:gd name="T87" fmla="*/ 118 h 137"/>
                  <a:gd name="T88" fmla="*/ 67 w 137"/>
                  <a:gd name="T89" fmla="*/ 118 h 137"/>
                  <a:gd name="T90" fmla="*/ 49 w 137"/>
                  <a:gd name="T91" fmla="*/ 114 h 137"/>
                  <a:gd name="T92" fmla="*/ 45 w 137"/>
                  <a:gd name="T93" fmla="*/ 111 h 137"/>
                  <a:gd name="T94" fmla="*/ 34 w 137"/>
                  <a:gd name="T95" fmla="*/ 103 h 137"/>
                  <a:gd name="T96" fmla="*/ 26 w 137"/>
                  <a:gd name="T97" fmla="*/ 92 h 137"/>
                  <a:gd name="T98" fmla="*/ 21 w 137"/>
                  <a:gd name="T99" fmla="*/ 84 h 137"/>
                  <a:gd name="T100" fmla="*/ 0 w 137"/>
                  <a:gd name="T101" fmla="*/ 68 h 13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37" h="137">
                    <a:moveTo>
                      <a:pt x="0" y="68"/>
                    </a:moveTo>
                    <a:lnTo>
                      <a:pt x="0" y="81"/>
                    </a:lnTo>
                    <a:lnTo>
                      <a:pt x="2" y="84"/>
                    </a:lnTo>
                    <a:lnTo>
                      <a:pt x="2" y="87"/>
                    </a:lnTo>
                    <a:lnTo>
                      <a:pt x="3" y="91"/>
                    </a:lnTo>
                    <a:lnTo>
                      <a:pt x="3" y="92"/>
                    </a:lnTo>
                    <a:lnTo>
                      <a:pt x="8" y="103"/>
                    </a:lnTo>
                    <a:lnTo>
                      <a:pt x="10" y="105"/>
                    </a:lnTo>
                    <a:lnTo>
                      <a:pt x="11" y="108"/>
                    </a:lnTo>
                    <a:lnTo>
                      <a:pt x="13" y="110"/>
                    </a:lnTo>
                    <a:lnTo>
                      <a:pt x="15" y="113"/>
                    </a:lnTo>
                    <a:lnTo>
                      <a:pt x="18" y="116"/>
                    </a:lnTo>
                    <a:lnTo>
                      <a:pt x="21" y="116"/>
                    </a:lnTo>
                    <a:lnTo>
                      <a:pt x="21" y="119"/>
                    </a:lnTo>
                    <a:lnTo>
                      <a:pt x="24" y="122"/>
                    </a:lnTo>
                    <a:lnTo>
                      <a:pt x="27" y="124"/>
                    </a:lnTo>
                    <a:lnTo>
                      <a:pt x="29" y="125"/>
                    </a:lnTo>
                    <a:lnTo>
                      <a:pt x="32" y="127"/>
                    </a:lnTo>
                    <a:lnTo>
                      <a:pt x="34" y="129"/>
                    </a:lnTo>
                    <a:lnTo>
                      <a:pt x="37" y="130"/>
                    </a:lnTo>
                    <a:lnTo>
                      <a:pt x="41" y="133"/>
                    </a:lnTo>
                    <a:lnTo>
                      <a:pt x="46" y="133"/>
                    </a:lnTo>
                    <a:lnTo>
                      <a:pt x="49" y="135"/>
                    </a:lnTo>
                    <a:lnTo>
                      <a:pt x="51" y="135"/>
                    </a:lnTo>
                    <a:lnTo>
                      <a:pt x="54" y="137"/>
                    </a:lnTo>
                    <a:lnTo>
                      <a:pt x="64" y="137"/>
                    </a:lnTo>
                    <a:lnTo>
                      <a:pt x="75" y="135"/>
                    </a:lnTo>
                    <a:lnTo>
                      <a:pt x="73" y="137"/>
                    </a:lnTo>
                    <a:lnTo>
                      <a:pt x="81" y="137"/>
                    </a:lnTo>
                    <a:lnTo>
                      <a:pt x="84" y="135"/>
                    </a:lnTo>
                    <a:lnTo>
                      <a:pt x="87" y="135"/>
                    </a:lnTo>
                    <a:lnTo>
                      <a:pt x="91" y="133"/>
                    </a:lnTo>
                    <a:lnTo>
                      <a:pt x="92" y="133"/>
                    </a:lnTo>
                    <a:lnTo>
                      <a:pt x="103" y="129"/>
                    </a:lnTo>
                    <a:lnTo>
                      <a:pt x="105" y="127"/>
                    </a:lnTo>
                    <a:lnTo>
                      <a:pt x="108" y="125"/>
                    </a:lnTo>
                    <a:lnTo>
                      <a:pt x="110" y="124"/>
                    </a:lnTo>
                    <a:lnTo>
                      <a:pt x="113" y="122"/>
                    </a:lnTo>
                    <a:lnTo>
                      <a:pt x="116" y="119"/>
                    </a:lnTo>
                    <a:lnTo>
                      <a:pt x="116" y="116"/>
                    </a:lnTo>
                    <a:lnTo>
                      <a:pt x="119" y="116"/>
                    </a:lnTo>
                    <a:lnTo>
                      <a:pt x="122" y="113"/>
                    </a:lnTo>
                    <a:lnTo>
                      <a:pt x="124" y="110"/>
                    </a:lnTo>
                    <a:lnTo>
                      <a:pt x="126" y="108"/>
                    </a:lnTo>
                    <a:lnTo>
                      <a:pt x="127" y="105"/>
                    </a:lnTo>
                    <a:lnTo>
                      <a:pt x="129" y="103"/>
                    </a:lnTo>
                    <a:lnTo>
                      <a:pt x="133" y="92"/>
                    </a:lnTo>
                    <a:lnTo>
                      <a:pt x="133" y="91"/>
                    </a:lnTo>
                    <a:lnTo>
                      <a:pt x="135" y="87"/>
                    </a:lnTo>
                    <a:lnTo>
                      <a:pt x="135" y="84"/>
                    </a:lnTo>
                    <a:lnTo>
                      <a:pt x="137" y="81"/>
                    </a:lnTo>
                    <a:lnTo>
                      <a:pt x="137" y="73"/>
                    </a:lnTo>
                    <a:lnTo>
                      <a:pt x="135" y="75"/>
                    </a:lnTo>
                    <a:lnTo>
                      <a:pt x="137" y="64"/>
                    </a:lnTo>
                    <a:lnTo>
                      <a:pt x="137" y="54"/>
                    </a:lnTo>
                    <a:lnTo>
                      <a:pt x="135" y="51"/>
                    </a:lnTo>
                    <a:lnTo>
                      <a:pt x="135" y="49"/>
                    </a:lnTo>
                    <a:lnTo>
                      <a:pt x="133" y="46"/>
                    </a:lnTo>
                    <a:lnTo>
                      <a:pt x="133" y="41"/>
                    </a:lnTo>
                    <a:lnTo>
                      <a:pt x="130" y="37"/>
                    </a:lnTo>
                    <a:lnTo>
                      <a:pt x="129" y="34"/>
                    </a:lnTo>
                    <a:lnTo>
                      <a:pt x="127" y="32"/>
                    </a:lnTo>
                    <a:lnTo>
                      <a:pt x="126" y="29"/>
                    </a:lnTo>
                    <a:lnTo>
                      <a:pt x="124" y="27"/>
                    </a:lnTo>
                    <a:lnTo>
                      <a:pt x="122" y="24"/>
                    </a:lnTo>
                    <a:lnTo>
                      <a:pt x="119" y="21"/>
                    </a:lnTo>
                    <a:lnTo>
                      <a:pt x="116" y="21"/>
                    </a:lnTo>
                    <a:lnTo>
                      <a:pt x="116" y="18"/>
                    </a:lnTo>
                    <a:lnTo>
                      <a:pt x="113" y="15"/>
                    </a:lnTo>
                    <a:lnTo>
                      <a:pt x="110" y="13"/>
                    </a:lnTo>
                    <a:lnTo>
                      <a:pt x="108" y="11"/>
                    </a:lnTo>
                    <a:lnTo>
                      <a:pt x="105" y="10"/>
                    </a:lnTo>
                    <a:lnTo>
                      <a:pt x="103" y="8"/>
                    </a:lnTo>
                    <a:lnTo>
                      <a:pt x="92" y="3"/>
                    </a:lnTo>
                    <a:lnTo>
                      <a:pt x="91" y="3"/>
                    </a:lnTo>
                    <a:lnTo>
                      <a:pt x="87" y="2"/>
                    </a:lnTo>
                    <a:lnTo>
                      <a:pt x="84" y="2"/>
                    </a:lnTo>
                    <a:lnTo>
                      <a:pt x="81" y="0"/>
                    </a:lnTo>
                    <a:lnTo>
                      <a:pt x="54" y="0"/>
                    </a:lnTo>
                    <a:lnTo>
                      <a:pt x="51" y="2"/>
                    </a:lnTo>
                    <a:lnTo>
                      <a:pt x="49" y="2"/>
                    </a:lnTo>
                    <a:lnTo>
                      <a:pt x="46" y="3"/>
                    </a:lnTo>
                    <a:lnTo>
                      <a:pt x="41" y="3"/>
                    </a:lnTo>
                    <a:lnTo>
                      <a:pt x="37" y="7"/>
                    </a:lnTo>
                    <a:lnTo>
                      <a:pt x="34" y="8"/>
                    </a:lnTo>
                    <a:lnTo>
                      <a:pt x="32" y="10"/>
                    </a:lnTo>
                    <a:lnTo>
                      <a:pt x="29" y="11"/>
                    </a:lnTo>
                    <a:lnTo>
                      <a:pt x="27" y="13"/>
                    </a:lnTo>
                    <a:lnTo>
                      <a:pt x="24" y="15"/>
                    </a:lnTo>
                    <a:lnTo>
                      <a:pt x="21" y="18"/>
                    </a:lnTo>
                    <a:lnTo>
                      <a:pt x="21" y="21"/>
                    </a:lnTo>
                    <a:lnTo>
                      <a:pt x="18" y="21"/>
                    </a:lnTo>
                    <a:lnTo>
                      <a:pt x="15" y="24"/>
                    </a:lnTo>
                    <a:lnTo>
                      <a:pt x="13" y="27"/>
                    </a:lnTo>
                    <a:lnTo>
                      <a:pt x="11" y="29"/>
                    </a:lnTo>
                    <a:lnTo>
                      <a:pt x="10" y="32"/>
                    </a:lnTo>
                    <a:lnTo>
                      <a:pt x="8" y="34"/>
                    </a:lnTo>
                    <a:lnTo>
                      <a:pt x="7" y="37"/>
                    </a:lnTo>
                    <a:lnTo>
                      <a:pt x="3" y="41"/>
                    </a:lnTo>
                    <a:lnTo>
                      <a:pt x="3" y="46"/>
                    </a:lnTo>
                    <a:lnTo>
                      <a:pt x="2" y="49"/>
                    </a:lnTo>
                    <a:lnTo>
                      <a:pt x="2" y="51"/>
                    </a:lnTo>
                    <a:lnTo>
                      <a:pt x="0" y="54"/>
                    </a:lnTo>
                    <a:lnTo>
                      <a:pt x="0" y="68"/>
                    </a:lnTo>
                    <a:lnTo>
                      <a:pt x="19" y="68"/>
                    </a:lnTo>
                    <a:lnTo>
                      <a:pt x="19" y="57"/>
                    </a:lnTo>
                    <a:lnTo>
                      <a:pt x="21" y="54"/>
                    </a:lnTo>
                    <a:lnTo>
                      <a:pt x="21" y="53"/>
                    </a:lnTo>
                    <a:lnTo>
                      <a:pt x="22" y="49"/>
                    </a:lnTo>
                    <a:lnTo>
                      <a:pt x="22" y="48"/>
                    </a:lnTo>
                    <a:lnTo>
                      <a:pt x="22" y="49"/>
                    </a:lnTo>
                    <a:lnTo>
                      <a:pt x="24" y="46"/>
                    </a:lnTo>
                    <a:lnTo>
                      <a:pt x="26" y="45"/>
                    </a:lnTo>
                    <a:lnTo>
                      <a:pt x="27" y="41"/>
                    </a:lnTo>
                    <a:lnTo>
                      <a:pt x="29" y="40"/>
                    </a:lnTo>
                    <a:lnTo>
                      <a:pt x="30" y="37"/>
                    </a:lnTo>
                    <a:lnTo>
                      <a:pt x="34" y="34"/>
                    </a:lnTo>
                    <a:lnTo>
                      <a:pt x="37" y="30"/>
                    </a:lnTo>
                    <a:lnTo>
                      <a:pt x="40" y="29"/>
                    </a:lnTo>
                    <a:lnTo>
                      <a:pt x="41" y="27"/>
                    </a:lnTo>
                    <a:lnTo>
                      <a:pt x="45" y="26"/>
                    </a:lnTo>
                    <a:lnTo>
                      <a:pt x="46" y="24"/>
                    </a:lnTo>
                    <a:lnTo>
                      <a:pt x="49" y="22"/>
                    </a:lnTo>
                    <a:lnTo>
                      <a:pt x="48" y="22"/>
                    </a:lnTo>
                    <a:lnTo>
                      <a:pt x="49" y="22"/>
                    </a:lnTo>
                    <a:lnTo>
                      <a:pt x="53" y="21"/>
                    </a:lnTo>
                    <a:lnTo>
                      <a:pt x="54" y="21"/>
                    </a:lnTo>
                    <a:lnTo>
                      <a:pt x="57" y="19"/>
                    </a:lnTo>
                    <a:lnTo>
                      <a:pt x="68" y="19"/>
                    </a:lnTo>
                    <a:lnTo>
                      <a:pt x="78" y="19"/>
                    </a:lnTo>
                    <a:lnTo>
                      <a:pt x="81" y="21"/>
                    </a:lnTo>
                    <a:lnTo>
                      <a:pt x="84" y="21"/>
                    </a:lnTo>
                    <a:lnTo>
                      <a:pt x="87" y="22"/>
                    </a:lnTo>
                    <a:lnTo>
                      <a:pt x="89" y="22"/>
                    </a:lnTo>
                    <a:lnTo>
                      <a:pt x="91" y="24"/>
                    </a:lnTo>
                    <a:lnTo>
                      <a:pt x="92" y="26"/>
                    </a:lnTo>
                    <a:lnTo>
                      <a:pt x="95" y="27"/>
                    </a:lnTo>
                    <a:lnTo>
                      <a:pt x="97" y="29"/>
                    </a:lnTo>
                    <a:lnTo>
                      <a:pt x="100" y="30"/>
                    </a:lnTo>
                    <a:lnTo>
                      <a:pt x="103" y="34"/>
                    </a:lnTo>
                    <a:lnTo>
                      <a:pt x="107" y="37"/>
                    </a:lnTo>
                    <a:lnTo>
                      <a:pt x="108" y="40"/>
                    </a:lnTo>
                    <a:lnTo>
                      <a:pt x="110" y="41"/>
                    </a:lnTo>
                    <a:lnTo>
                      <a:pt x="111" y="45"/>
                    </a:lnTo>
                    <a:lnTo>
                      <a:pt x="113" y="46"/>
                    </a:lnTo>
                    <a:lnTo>
                      <a:pt x="114" y="49"/>
                    </a:lnTo>
                    <a:lnTo>
                      <a:pt x="114" y="48"/>
                    </a:lnTo>
                    <a:lnTo>
                      <a:pt x="114" y="49"/>
                    </a:lnTo>
                    <a:lnTo>
                      <a:pt x="116" y="53"/>
                    </a:lnTo>
                    <a:lnTo>
                      <a:pt x="116" y="54"/>
                    </a:lnTo>
                    <a:lnTo>
                      <a:pt x="118" y="57"/>
                    </a:lnTo>
                    <a:lnTo>
                      <a:pt x="118" y="67"/>
                    </a:lnTo>
                    <a:lnTo>
                      <a:pt x="121" y="73"/>
                    </a:lnTo>
                    <a:lnTo>
                      <a:pt x="122" y="62"/>
                    </a:lnTo>
                    <a:lnTo>
                      <a:pt x="118" y="67"/>
                    </a:lnTo>
                    <a:lnTo>
                      <a:pt x="118" y="78"/>
                    </a:lnTo>
                    <a:lnTo>
                      <a:pt x="116" y="81"/>
                    </a:lnTo>
                    <a:lnTo>
                      <a:pt x="116" y="84"/>
                    </a:lnTo>
                    <a:lnTo>
                      <a:pt x="114" y="87"/>
                    </a:lnTo>
                    <a:lnTo>
                      <a:pt x="114" y="89"/>
                    </a:lnTo>
                    <a:lnTo>
                      <a:pt x="113" y="91"/>
                    </a:lnTo>
                    <a:lnTo>
                      <a:pt x="111" y="92"/>
                    </a:lnTo>
                    <a:lnTo>
                      <a:pt x="110" y="95"/>
                    </a:lnTo>
                    <a:lnTo>
                      <a:pt x="108" y="97"/>
                    </a:lnTo>
                    <a:lnTo>
                      <a:pt x="107" y="100"/>
                    </a:lnTo>
                    <a:lnTo>
                      <a:pt x="103" y="103"/>
                    </a:lnTo>
                    <a:lnTo>
                      <a:pt x="100" y="106"/>
                    </a:lnTo>
                    <a:lnTo>
                      <a:pt x="97" y="108"/>
                    </a:lnTo>
                    <a:lnTo>
                      <a:pt x="95" y="110"/>
                    </a:lnTo>
                    <a:lnTo>
                      <a:pt x="92" y="111"/>
                    </a:lnTo>
                    <a:lnTo>
                      <a:pt x="91" y="113"/>
                    </a:lnTo>
                    <a:lnTo>
                      <a:pt x="89" y="114"/>
                    </a:lnTo>
                    <a:lnTo>
                      <a:pt x="87" y="114"/>
                    </a:lnTo>
                    <a:lnTo>
                      <a:pt x="84" y="116"/>
                    </a:lnTo>
                    <a:lnTo>
                      <a:pt x="81" y="116"/>
                    </a:lnTo>
                    <a:lnTo>
                      <a:pt x="78" y="118"/>
                    </a:lnTo>
                    <a:lnTo>
                      <a:pt x="67" y="118"/>
                    </a:lnTo>
                    <a:lnTo>
                      <a:pt x="62" y="122"/>
                    </a:lnTo>
                    <a:lnTo>
                      <a:pt x="73" y="121"/>
                    </a:lnTo>
                    <a:lnTo>
                      <a:pt x="67" y="118"/>
                    </a:lnTo>
                    <a:lnTo>
                      <a:pt x="57" y="118"/>
                    </a:lnTo>
                    <a:lnTo>
                      <a:pt x="54" y="116"/>
                    </a:lnTo>
                    <a:lnTo>
                      <a:pt x="53" y="116"/>
                    </a:lnTo>
                    <a:lnTo>
                      <a:pt x="49" y="114"/>
                    </a:lnTo>
                    <a:lnTo>
                      <a:pt x="48" y="114"/>
                    </a:lnTo>
                    <a:lnTo>
                      <a:pt x="49" y="114"/>
                    </a:lnTo>
                    <a:lnTo>
                      <a:pt x="46" y="113"/>
                    </a:lnTo>
                    <a:lnTo>
                      <a:pt x="45" y="111"/>
                    </a:lnTo>
                    <a:lnTo>
                      <a:pt x="41" y="110"/>
                    </a:lnTo>
                    <a:lnTo>
                      <a:pt x="40" y="108"/>
                    </a:lnTo>
                    <a:lnTo>
                      <a:pt x="37" y="106"/>
                    </a:lnTo>
                    <a:lnTo>
                      <a:pt x="34" y="103"/>
                    </a:lnTo>
                    <a:lnTo>
                      <a:pt x="30" y="100"/>
                    </a:lnTo>
                    <a:lnTo>
                      <a:pt x="29" y="97"/>
                    </a:lnTo>
                    <a:lnTo>
                      <a:pt x="27" y="95"/>
                    </a:lnTo>
                    <a:lnTo>
                      <a:pt x="26" y="92"/>
                    </a:lnTo>
                    <a:lnTo>
                      <a:pt x="24" y="91"/>
                    </a:lnTo>
                    <a:lnTo>
                      <a:pt x="22" y="89"/>
                    </a:lnTo>
                    <a:lnTo>
                      <a:pt x="22" y="87"/>
                    </a:lnTo>
                    <a:lnTo>
                      <a:pt x="21" y="84"/>
                    </a:lnTo>
                    <a:lnTo>
                      <a:pt x="21" y="81"/>
                    </a:lnTo>
                    <a:lnTo>
                      <a:pt x="19" y="78"/>
                    </a:lnTo>
                    <a:lnTo>
                      <a:pt x="19" y="68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6" name="Freeform 138">
                <a:extLst>
                  <a:ext uri="{FF2B5EF4-FFF2-40B4-BE49-F238E27FC236}">
                    <a16:creationId xmlns:a16="http://schemas.microsoft.com/office/drawing/2014/main" xmlns="" id="{4A4E1D53-AF5C-4202-B4F9-C4A1C522E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2426"/>
                <a:ext cx="287" cy="19"/>
              </a:xfrm>
              <a:custGeom>
                <a:avLst/>
                <a:gdLst>
                  <a:gd name="T0" fmla="*/ 10 w 287"/>
                  <a:gd name="T1" fmla="*/ 0 h 19"/>
                  <a:gd name="T2" fmla="*/ 6 w 287"/>
                  <a:gd name="T3" fmla="*/ 0 h 19"/>
                  <a:gd name="T4" fmla="*/ 3 w 287"/>
                  <a:gd name="T5" fmla="*/ 3 h 19"/>
                  <a:gd name="T6" fmla="*/ 0 w 287"/>
                  <a:gd name="T7" fmla="*/ 6 h 19"/>
                  <a:gd name="T8" fmla="*/ 0 w 287"/>
                  <a:gd name="T9" fmla="*/ 13 h 19"/>
                  <a:gd name="T10" fmla="*/ 3 w 287"/>
                  <a:gd name="T11" fmla="*/ 16 h 19"/>
                  <a:gd name="T12" fmla="*/ 6 w 287"/>
                  <a:gd name="T13" fmla="*/ 19 h 19"/>
                  <a:gd name="T14" fmla="*/ 281 w 287"/>
                  <a:gd name="T15" fmla="*/ 19 h 19"/>
                  <a:gd name="T16" fmla="*/ 284 w 287"/>
                  <a:gd name="T17" fmla="*/ 16 h 19"/>
                  <a:gd name="T18" fmla="*/ 287 w 287"/>
                  <a:gd name="T19" fmla="*/ 13 h 19"/>
                  <a:gd name="T20" fmla="*/ 287 w 287"/>
                  <a:gd name="T21" fmla="*/ 6 h 19"/>
                  <a:gd name="T22" fmla="*/ 284 w 287"/>
                  <a:gd name="T23" fmla="*/ 3 h 19"/>
                  <a:gd name="T24" fmla="*/ 281 w 287"/>
                  <a:gd name="T25" fmla="*/ 0 h 19"/>
                  <a:gd name="T26" fmla="*/ 278 w 287"/>
                  <a:gd name="T27" fmla="*/ 0 h 19"/>
                  <a:gd name="T28" fmla="*/ 10 w 287"/>
                  <a:gd name="T29" fmla="*/ 0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7" h="19">
                    <a:moveTo>
                      <a:pt x="10" y="0"/>
                    </a:move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281" y="19"/>
                    </a:lnTo>
                    <a:lnTo>
                      <a:pt x="284" y="16"/>
                    </a:lnTo>
                    <a:lnTo>
                      <a:pt x="287" y="13"/>
                    </a:lnTo>
                    <a:lnTo>
                      <a:pt x="287" y="6"/>
                    </a:lnTo>
                    <a:lnTo>
                      <a:pt x="284" y="3"/>
                    </a:lnTo>
                    <a:lnTo>
                      <a:pt x="281" y="0"/>
                    </a:lnTo>
                    <a:lnTo>
                      <a:pt x="278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7" name="Freeform 139">
                <a:extLst>
                  <a:ext uri="{FF2B5EF4-FFF2-40B4-BE49-F238E27FC236}">
                    <a16:creationId xmlns:a16="http://schemas.microsoft.com/office/drawing/2014/main" xmlns="" id="{9D806885-96DA-494E-834E-FFBAD9C5B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2415"/>
                <a:ext cx="287" cy="19"/>
              </a:xfrm>
              <a:custGeom>
                <a:avLst/>
                <a:gdLst>
                  <a:gd name="T0" fmla="*/ 10 w 287"/>
                  <a:gd name="T1" fmla="*/ 0 h 19"/>
                  <a:gd name="T2" fmla="*/ 6 w 287"/>
                  <a:gd name="T3" fmla="*/ 0 h 19"/>
                  <a:gd name="T4" fmla="*/ 3 w 287"/>
                  <a:gd name="T5" fmla="*/ 3 h 19"/>
                  <a:gd name="T6" fmla="*/ 0 w 287"/>
                  <a:gd name="T7" fmla="*/ 6 h 19"/>
                  <a:gd name="T8" fmla="*/ 0 w 287"/>
                  <a:gd name="T9" fmla="*/ 13 h 19"/>
                  <a:gd name="T10" fmla="*/ 3 w 287"/>
                  <a:gd name="T11" fmla="*/ 16 h 19"/>
                  <a:gd name="T12" fmla="*/ 6 w 287"/>
                  <a:gd name="T13" fmla="*/ 19 h 19"/>
                  <a:gd name="T14" fmla="*/ 281 w 287"/>
                  <a:gd name="T15" fmla="*/ 19 h 19"/>
                  <a:gd name="T16" fmla="*/ 284 w 287"/>
                  <a:gd name="T17" fmla="*/ 16 h 19"/>
                  <a:gd name="T18" fmla="*/ 287 w 287"/>
                  <a:gd name="T19" fmla="*/ 13 h 19"/>
                  <a:gd name="T20" fmla="*/ 287 w 287"/>
                  <a:gd name="T21" fmla="*/ 6 h 19"/>
                  <a:gd name="T22" fmla="*/ 284 w 287"/>
                  <a:gd name="T23" fmla="*/ 3 h 19"/>
                  <a:gd name="T24" fmla="*/ 281 w 287"/>
                  <a:gd name="T25" fmla="*/ 0 h 19"/>
                  <a:gd name="T26" fmla="*/ 278 w 287"/>
                  <a:gd name="T27" fmla="*/ 0 h 19"/>
                  <a:gd name="T28" fmla="*/ 10 w 287"/>
                  <a:gd name="T29" fmla="*/ 0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7" h="19">
                    <a:moveTo>
                      <a:pt x="10" y="0"/>
                    </a:move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281" y="19"/>
                    </a:lnTo>
                    <a:lnTo>
                      <a:pt x="284" y="16"/>
                    </a:lnTo>
                    <a:lnTo>
                      <a:pt x="287" y="13"/>
                    </a:lnTo>
                    <a:lnTo>
                      <a:pt x="287" y="6"/>
                    </a:lnTo>
                    <a:lnTo>
                      <a:pt x="284" y="3"/>
                    </a:lnTo>
                    <a:lnTo>
                      <a:pt x="281" y="0"/>
                    </a:lnTo>
                    <a:lnTo>
                      <a:pt x="278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8" name="Freeform 140">
                <a:extLst>
                  <a:ext uri="{FF2B5EF4-FFF2-40B4-BE49-F238E27FC236}">
                    <a16:creationId xmlns:a16="http://schemas.microsoft.com/office/drawing/2014/main" xmlns="" id="{806F48C8-92C1-44C8-93C2-B72919D9A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2559"/>
                <a:ext cx="287" cy="19"/>
              </a:xfrm>
              <a:custGeom>
                <a:avLst/>
                <a:gdLst>
                  <a:gd name="T0" fmla="*/ 10 w 287"/>
                  <a:gd name="T1" fmla="*/ 0 h 19"/>
                  <a:gd name="T2" fmla="*/ 7 w 287"/>
                  <a:gd name="T3" fmla="*/ 0 h 19"/>
                  <a:gd name="T4" fmla="*/ 3 w 287"/>
                  <a:gd name="T5" fmla="*/ 3 h 19"/>
                  <a:gd name="T6" fmla="*/ 0 w 287"/>
                  <a:gd name="T7" fmla="*/ 7 h 19"/>
                  <a:gd name="T8" fmla="*/ 0 w 287"/>
                  <a:gd name="T9" fmla="*/ 13 h 19"/>
                  <a:gd name="T10" fmla="*/ 3 w 287"/>
                  <a:gd name="T11" fmla="*/ 16 h 19"/>
                  <a:gd name="T12" fmla="*/ 7 w 287"/>
                  <a:gd name="T13" fmla="*/ 19 h 19"/>
                  <a:gd name="T14" fmla="*/ 281 w 287"/>
                  <a:gd name="T15" fmla="*/ 19 h 19"/>
                  <a:gd name="T16" fmla="*/ 284 w 287"/>
                  <a:gd name="T17" fmla="*/ 16 h 19"/>
                  <a:gd name="T18" fmla="*/ 287 w 287"/>
                  <a:gd name="T19" fmla="*/ 13 h 19"/>
                  <a:gd name="T20" fmla="*/ 287 w 287"/>
                  <a:gd name="T21" fmla="*/ 7 h 19"/>
                  <a:gd name="T22" fmla="*/ 284 w 287"/>
                  <a:gd name="T23" fmla="*/ 3 h 19"/>
                  <a:gd name="T24" fmla="*/ 281 w 287"/>
                  <a:gd name="T25" fmla="*/ 0 h 19"/>
                  <a:gd name="T26" fmla="*/ 278 w 287"/>
                  <a:gd name="T27" fmla="*/ 0 h 19"/>
                  <a:gd name="T28" fmla="*/ 10 w 287"/>
                  <a:gd name="T29" fmla="*/ 0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7" h="19">
                    <a:moveTo>
                      <a:pt x="10" y="0"/>
                    </a:moveTo>
                    <a:lnTo>
                      <a:pt x="7" y="0"/>
                    </a:lnTo>
                    <a:lnTo>
                      <a:pt x="3" y="3"/>
                    </a:lnTo>
                    <a:lnTo>
                      <a:pt x="0" y="7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7" y="19"/>
                    </a:lnTo>
                    <a:lnTo>
                      <a:pt x="281" y="19"/>
                    </a:lnTo>
                    <a:lnTo>
                      <a:pt x="284" y="16"/>
                    </a:lnTo>
                    <a:lnTo>
                      <a:pt x="287" y="13"/>
                    </a:lnTo>
                    <a:lnTo>
                      <a:pt x="287" y="7"/>
                    </a:lnTo>
                    <a:lnTo>
                      <a:pt x="284" y="3"/>
                    </a:lnTo>
                    <a:lnTo>
                      <a:pt x="281" y="0"/>
                    </a:lnTo>
                    <a:lnTo>
                      <a:pt x="278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9" name="Freeform 143">
                <a:extLst>
                  <a:ext uri="{FF2B5EF4-FFF2-40B4-BE49-F238E27FC236}">
                    <a16:creationId xmlns:a16="http://schemas.microsoft.com/office/drawing/2014/main" xmlns="" id="{AE47FBD5-64D0-424B-BD8B-416C920C0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326"/>
                <a:ext cx="257" cy="495"/>
              </a:xfrm>
              <a:custGeom>
                <a:avLst/>
                <a:gdLst>
                  <a:gd name="T0" fmla="*/ 3 w 257"/>
                  <a:gd name="T1" fmla="*/ 3 h 495"/>
                  <a:gd name="T2" fmla="*/ 3 w 257"/>
                  <a:gd name="T3" fmla="*/ 16 h 495"/>
                  <a:gd name="T4" fmla="*/ 43 w 257"/>
                  <a:gd name="T5" fmla="*/ 21 h 495"/>
                  <a:gd name="T6" fmla="*/ 76 w 257"/>
                  <a:gd name="T7" fmla="*/ 29 h 495"/>
                  <a:gd name="T8" fmla="*/ 108 w 257"/>
                  <a:gd name="T9" fmla="*/ 40 h 495"/>
                  <a:gd name="T10" fmla="*/ 144 w 257"/>
                  <a:gd name="T11" fmla="*/ 64 h 495"/>
                  <a:gd name="T12" fmla="*/ 171 w 257"/>
                  <a:gd name="T13" fmla="*/ 84 h 495"/>
                  <a:gd name="T14" fmla="*/ 192 w 257"/>
                  <a:gd name="T15" fmla="*/ 111 h 495"/>
                  <a:gd name="T16" fmla="*/ 216 w 257"/>
                  <a:gd name="T17" fmla="*/ 148 h 495"/>
                  <a:gd name="T18" fmla="*/ 227 w 257"/>
                  <a:gd name="T19" fmla="*/ 179 h 495"/>
                  <a:gd name="T20" fmla="*/ 235 w 257"/>
                  <a:gd name="T21" fmla="*/ 213 h 495"/>
                  <a:gd name="T22" fmla="*/ 238 w 257"/>
                  <a:gd name="T23" fmla="*/ 249 h 495"/>
                  <a:gd name="T24" fmla="*/ 236 w 257"/>
                  <a:gd name="T25" fmla="*/ 271 h 495"/>
                  <a:gd name="T26" fmla="*/ 230 w 257"/>
                  <a:gd name="T27" fmla="*/ 305 h 495"/>
                  <a:gd name="T28" fmla="*/ 219 w 257"/>
                  <a:gd name="T29" fmla="*/ 336 h 495"/>
                  <a:gd name="T30" fmla="*/ 204 w 257"/>
                  <a:gd name="T31" fmla="*/ 365 h 495"/>
                  <a:gd name="T32" fmla="*/ 178 w 257"/>
                  <a:gd name="T33" fmla="*/ 400 h 495"/>
                  <a:gd name="T34" fmla="*/ 154 w 257"/>
                  <a:gd name="T35" fmla="*/ 422 h 495"/>
                  <a:gd name="T36" fmla="*/ 117 w 257"/>
                  <a:gd name="T37" fmla="*/ 447 h 495"/>
                  <a:gd name="T38" fmla="*/ 87 w 257"/>
                  <a:gd name="T39" fmla="*/ 460 h 495"/>
                  <a:gd name="T40" fmla="*/ 55 w 257"/>
                  <a:gd name="T41" fmla="*/ 469 h 495"/>
                  <a:gd name="T42" fmla="*/ 20 w 257"/>
                  <a:gd name="T43" fmla="*/ 474 h 495"/>
                  <a:gd name="T44" fmla="*/ 6 w 257"/>
                  <a:gd name="T45" fmla="*/ 476 h 495"/>
                  <a:gd name="T46" fmla="*/ 0 w 257"/>
                  <a:gd name="T47" fmla="*/ 488 h 495"/>
                  <a:gd name="T48" fmla="*/ 9 w 257"/>
                  <a:gd name="T49" fmla="*/ 495 h 495"/>
                  <a:gd name="T50" fmla="*/ 33 w 257"/>
                  <a:gd name="T51" fmla="*/ 493 h 495"/>
                  <a:gd name="T52" fmla="*/ 70 w 257"/>
                  <a:gd name="T53" fmla="*/ 487 h 495"/>
                  <a:gd name="T54" fmla="*/ 105 w 257"/>
                  <a:gd name="T55" fmla="*/ 476 h 495"/>
                  <a:gd name="T56" fmla="*/ 136 w 257"/>
                  <a:gd name="T57" fmla="*/ 458 h 495"/>
                  <a:gd name="T58" fmla="*/ 174 w 257"/>
                  <a:gd name="T59" fmla="*/ 431 h 495"/>
                  <a:gd name="T60" fmla="*/ 200 w 257"/>
                  <a:gd name="T61" fmla="*/ 404 h 495"/>
                  <a:gd name="T62" fmla="*/ 225 w 257"/>
                  <a:gd name="T63" fmla="*/ 365 h 495"/>
                  <a:gd name="T64" fmla="*/ 241 w 257"/>
                  <a:gd name="T65" fmla="*/ 331 h 495"/>
                  <a:gd name="T66" fmla="*/ 250 w 257"/>
                  <a:gd name="T67" fmla="*/ 297 h 495"/>
                  <a:gd name="T68" fmla="*/ 255 w 257"/>
                  <a:gd name="T69" fmla="*/ 259 h 495"/>
                  <a:gd name="T70" fmla="*/ 255 w 257"/>
                  <a:gd name="T71" fmla="*/ 235 h 495"/>
                  <a:gd name="T72" fmla="*/ 250 w 257"/>
                  <a:gd name="T73" fmla="*/ 197 h 495"/>
                  <a:gd name="T74" fmla="*/ 241 w 257"/>
                  <a:gd name="T75" fmla="*/ 162 h 495"/>
                  <a:gd name="T76" fmla="*/ 225 w 257"/>
                  <a:gd name="T77" fmla="*/ 129 h 495"/>
                  <a:gd name="T78" fmla="*/ 200 w 257"/>
                  <a:gd name="T79" fmla="*/ 89 h 495"/>
                  <a:gd name="T80" fmla="*/ 174 w 257"/>
                  <a:gd name="T81" fmla="*/ 62 h 495"/>
                  <a:gd name="T82" fmla="*/ 136 w 257"/>
                  <a:gd name="T83" fmla="*/ 35 h 495"/>
                  <a:gd name="T84" fmla="*/ 105 w 257"/>
                  <a:gd name="T85" fmla="*/ 18 h 495"/>
                  <a:gd name="T86" fmla="*/ 70 w 257"/>
                  <a:gd name="T87" fmla="*/ 6 h 495"/>
                  <a:gd name="T88" fmla="*/ 33 w 257"/>
                  <a:gd name="T89" fmla="*/ 0 h 49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57" h="495">
                    <a:moveTo>
                      <a:pt x="9" y="0"/>
                    </a:move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33" y="19"/>
                    </a:lnTo>
                    <a:lnTo>
                      <a:pt x="43" y="21"/>
                    </a:lnTo>
                    <a:lnTo>
                      <a:pt x="55" y="24"/>
                    </a:lnTo>
                    <a:lnTo>
                      <a:pt x="66" y="25"/>
                    </a:lnTo>
                    <a:lnTo>
                      <a:pt x="76" y="29"/>
                    </a:lnTo>
                    <a:lnTo>
                      <a:pt x="87" y="33"/>
                    </a:lnTo>
                    <a:lnTo>
                      <a:pt x="98" y="37"/>
                    </a:lnTo>
                    <a:lnTo>
                      <a:pt x="108" y="40"/>
                    </a:lnTo>
                    <a:lnTo>
                      <a:pt x="117" y="46"/>
                    </a:lnTo>
                    <a:lnTo>
                      <a:pt x="127" y="51"/>
                    </a:lnTo>
                    <a:lnTo>
                      <a:pt x="144" y="64"/>
                    </a:lnTo>
                    <a:lnTo>
                      <a:pt x="154" y="71"/>
                    </a:lnTo>
                    <a:lnTo>
                      <a:pt x="162" y="78"/>
                    </a:lnTo>
                    <a:lnTo>
                      <a:pt x="171" y="84"/>
                    </a:lnTo>
                    <a:lnTo>
                      <a:pt x="178" y="94"/>
                    </a:lnTo>
                    <a:lnTo>
                      <a:pt x="184" y="102"/>
                    </a:lnTo>
                    <a:lnTo>
                      <a:pt x="192" y="111"/>
                    </a:lnTo>
                    <a:lnTo>
                      <a:pt x="204" y="129"/>
                    </a:lnTo>
                    <a:lnTo>
                      <a:pt x="209" y="138"/>
                    </a:lnTo>
                    <a:lnTo>
                      <a:pt x="216" y="148"/>
                    </a:lnTo>
                    <a:lnTo>
                      <a:pt x="219" y="157"/>
                    </a:lnTo>
                    <a:lnTo>
                      <a:pt x="222" y="168"/>
                    </a:lnTo>
                    <a:lnTo>
                      <a:pt x="227" y="179"/>
                    </a:lnTo>
                    <a:lnTo>
                      <a:pt x="230" y="189"/>
                    </a:lnTo>
                    <a:lnTo>
                      <a:pt x="231" y="200"/>
                    </a:lnTo>
                    <a:lnTo>
                      <a:pt x="235" y="213"/>
                    </a:lnTo>
                    <a:lnTo>
                      <a:pt x="236" y="222"/>
                    </a:lnTo>
                    <a:lnTo>
                      <a:pt x="236" y="235"/>
                    </a:lnTo>
                    <a:lnTo>
                      <a:pt x="238" y="249"/>
                    </a:lnTo>
                    <a:lnTo>
                      <a:pt x="238" y="246"/>
                    </a:lnTo>
                    <a:lnTo>
                      <a:pt x="236" y="259"/>
                    </a:lnTo>
                    <a:lnTo>
                      <a:pt x="236" y="271"/>
                    </a:lnTo>
                    <a:lnTo>
                      <a:pt x="235" y="281"/>
                    </a:lnTo>
                    <a:lnTo>
                      <a:pt x="231" y="293"/>
                    </a:lnTo>
                    <a:lnTo>
                      <a:pt x="230" y="305"/>
                    </a:lnTo>
                    <a:lnTo>
                      <a:pt x="227" y="314"/>
                    </a:lnTo>
                    <a:lnTo>
                      <a:pt x="222" y="325"/>
                    </a:lnTo>
                    <a:lnTo>
                      <a:pt x="219" y="336"/>
                    </a:lnTo>
                    <a:lnTo>
                      <a:pt x="216" y="346"/>
                    </a:lnTo>
                    <a:lnTo>
                      <a:pt x="209" y="355"/>
                    </a:lnTo>
                    <a:lnTo>
                      <a:pt x="204" y="365"/>
                    </a:lnTo>
                    <a:lnTo>
                      <a:pt x="192" y="382"/>
                    </a:lnTo>
                    <a:lnTo>
                      <a:pt x="184" y="392"/>
                    </a:lnTo>
                    <a:lnTo>
                      <a:pt x="178" y="400"/>
                    </a:lnTo>
                    <a:lnTo>
                      <a:pt x="171" y="409"/>
                    </a:lnTo>
                    <a:lnTo>
                      <a:pt x="162" y="416"/>
                    </a:lnTo>
                    <a:lnTo>
                      <a:pt x="154" y="422"/>
                    </a:lnTo>
                    <a:lnTo>
                      <a:pt x="144" y="430"/>
                    </a:lnTo>
                    <a:lnTo>
                      <a:pt x="127" y="442"/>
                    </a:lnTo>
                    <a:lnTo>
                      <a:pt x="117" y="447"/>
                    </a:lnTo>
                    <a:lnTo>
                      <a:pt x="108" y="454"/>
                    </a:lnTo>
                    <a:lnTo>
                      <a:pt x="98" y="457"/>
                    </a:lnTo>
                    <a:lnTo>
                      <a:pt x="87" y="460"/>
                    </a:lnTo>
                    <a:lnTo>
                      <a:pt x="76" y="465"/>
                    </a:lnTo>
                    <a:lnTo>
                      <a:pt x="66" y="468"/>
                    </a:lnTo>
                    <a:lnTo>
                      <a:pt x="55" y="469"/>
                    </a:lnTo>
                    <a:lnTo>
                      <a:pt x="43" y="473"/>
                    </a:lnTo>
                    <a:lnTo>
                      <a:pt x="33" y="474"/>
                    </a:lnTo>
                    <a:lnTo>
                      <a:pt x="20" y="474"/>
                    </a:lnTo>
                    <a:lnTo>
                      <a:pt x="8" y="476"/>
                    </a:lnTo>
                    <a:lnTo>
                      <a:pt x="9" y="476"/>
                    </a:lnTo>
                    <a:lnTo>
                      <a:pt x="6" y="476"/>
                    </a:lnTo>
                    <a:lnTo>
                      <a:pt x="3" y="479"/>
                    </a:lnTo>
                    <a:lnTo>
                      <a:pt x="0" y="482"/>
                    </a:lnTo>
                    <a:lnTo>
                      <a:pt x="0" y="488"/>
                    </a:lnTo>
                    <a:lnTo>
                      <a:pt x="3" y="492"/>
                    </a:lnTo>
                    <a:lnTo>
                      <a:pt x="6" y="495"/>
                    </a:lnTo>
                    <a:lnTo>
                      <a:pt x="9" y="495"/>
                    </a:lnTo>
                    <a:lnTo>
                      <a:pt x="11" y="495"/>
                    </a:lnTo>
                    <a:lnTo>
                      <a:pt x="20" y="493"/>
                    </a:lnTo>
                    <a:lnTo>
                      <a:pt x="33" y="493"/>
                    </a:lnTo>
                    <a:lnTo>
                      <a:pt x="46" y="492"/>
                    </a:lnTo>
                    <a:lnTo>
                      <a:pt x="59" y="488"/>
                    </a:lnTo>
                    <a:lnTo>
                      <a:pt x="70" y="487"/>
                    </a:lnTo>
                    <a:lnTo>
                      <a:pt x="82" y="484"/>
                    </a:lnTo>
                    <a:lnTo>
                      <a:pt x="93" y="479"/>
                    </a:lnTo>
                    <a:lnTo>
                      <a:pt x="105" y="476"/>
                    </a:lnTo>
                    <a:lnTo>
                      <a:pt x="117" y="469"/>
                    </a:lnTo>
                    <a:lnTo>
                      <a:pt x="127" y="463"/>
                    </a:lnTo>
                    <a:lnTo>
                      <a:pt x="136" y="458"/>
                    </a:lnTo>
                    <a:lnTo>
                      <a:pt x="157" y="446"/>
                    </a:lnTo>
                    <a:lnTo>
                      <a:pt x="166" y="438"/>
                    </a:lnTo>
                    <a:lnTo>
                      <a:pt x="174" y="431"/>
                    </a:lnTo>
                    <a:lnTo>
                      <a:pt x="184" y="422"/>
                    </a:lnTo>
                    <a:lnTo>
                      <a:pt x="193" y="412"/>
                    </a:lnTo>
                    <a:lnTo>
                      <a:pt x="200" y="404"/>
                    </a:lnTo>
                    <a:lnTo>
                      <a:pt x="208" y="395"/>
                    </a:lnTo>
                    <a:lnTo>
                      <a:pt x="220" y="374"/>
                    </a:lnTo>
                    <a:lnTo>
                      <a:pt x="225" y="365"/>
                    </a:lnTo>
                    <a:lnTo>
                      <a:pt x="231" y="355"/>
                    </a:lnTo>
                    <a:lnTo>
                      <a:pt x="238" y="343"/>
                    </a:lnTo>
                    <a:lnTo>
                      <a:pt x="241" y="331"/>
                    </a:lnTo>
                    <a:lnTo>
                      <a:pt x="246" y="320"/>
                    </a:lnTo>
                    <a:lnTo>
                      <a:pt x="249" y="308"/>
                    </a:lnTo>
                    <a:lnTo>
                      <a:pt x="250" y="297"/>
                    </a:lnTo>
                    <a:lnTo>
                      <a:pt x="254" y="284"/>
                    </a:lnTo>
                    <a:lnTo>
                      <a:pt x="255" y="271"/>
                    </a:lnTo>
                    <a:lnTo>
                      <a:pt x="255" y="259"/>
                    </a:lnTo>
                    <a:lnTo>
                      <a:pt x="257" y="249"/>
                    </a:lnTo>
                    <a:lnTo>
                      <a:pt x="257" y="246"/>
                    </a:lnTo>
                    <a:lnTo>
                      <a:pt x="255" y="235"/>
                    </a:lnTo>
                    <a:lnTo>
                      <a:pt x="255" y="222"/>
                    </a:lnTo>
                    <a:lnTo>
                      <a:pt x="254" y="209"/>
                    </a:lnTo>
                    <a:lnTo>
                      <a:pt x="250" y="197"/>
                    </a:lnTo>
                    <a:lnTo>
                      <a:pt x="249" y="186"/>
                    </a:lnTo>
                    <a:lnTo>
                      <a:pt x="246" y="173"/>
                    </a:lnTo>
                    <a:lnTo>
                      <a:pt x="241" y="162"/>
                    </a:lnTo>
                    <a:lnTo>
                      <a:pt x="238" y="151"/>
                    </a:lnTo>
                    <a:lnTo>
                      <a:pt x="231" y="138"/>
                    </a:lnTo>
                    <a:lnTo>
                      <a:pt x="225" y="129"/>
                    </a:lnTo>
                    <a:lnTo>
                      <a:pt x="220" y="119"/>
                    </a:lnTo>
                    <a:lnTo>
                      <a:pt x="208" y="98"/>
                    </a:lnTo>
                    <a:lnTo>
                      <a:pt x="200" y="89"/>
                    </a:lnTo>
                    <a:lnTo>
                      <a:pt x="193" y="81"/>
                    </a:lnTo>
                    <a:lnTo>
                      <a:pt x="184" y="71"/>
                    </a:lnTo>
                    <a:lnTo>
                      <a:pt x="174" y="62"/>
                    </a:lnTo>
                    <a:lnTo>
                      <a:pt x="166" y="56"/>
                    </a:lnTo>
                    <a:lnTo>
                      <a:pt x="157" y="48"/>
                    </a:lnTo>
                    <a:lnTo>
                      <a:pt x="136" y="35"/>
                    </a:lnTo>
                    <a:lnTo>
                      <a:pt x="127" y="30"/>
                    </a:lnTo>
                    <a:lnTo>
                      <a:pt x="117" y="24"/>
                    </a:lnTo>
                    <a:lnTo>
                      <a:pt x="105" y="18"/>
                    </a:lnTo>
                    <a:lnTo>
                      <a:pt x="93" y="14"/>
                    </a:lnTo>
                    <a:lnTo>
                      <a:pt x="82" y="10"/>
                    </a:lnTo>
                    <a:lnTo>
                      <a:pt x="70" y="6"/>
                    </a:lnTo>
                    <a:lnTo>
                      <a:pt x="59" y="5"/>
                    </a:lnTo>
                    <a:lnTo>
                      <a:pt x="46" y="2"/>
                    </a:lnTo>
                    <a:lnTo>
                      <a:pt x="33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0" name="Freeform 144">
                <a:extLst>
                  <a:ext uri="{FF2B5EF4-FFF2-40B4-BE49-F238E27FC236}">
                    <a16:creationId xmlns:a16="http://schemas.microsoft.com/office/drawing/2014/main" xmlns="" id="{021B93CD-BCBA-4920-85F8-92E1B72DC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326"/>
                <a:ext cx="376" cy="19"/>
              </a:xfrm>
              <a:custGeom>
                <a:avLst/>
                <a:gdLst>
                  <a:gd name="T0" fmla="*/ 367 w 376"/>
                  <a:gd name="T1" fmla="*/ 19 h 19"/>
                  <a:gd name="T2" fmla="*/ 370 w 376"/>
                  <a:gd name="T3" fmla="*/ 19 h 19"/>
                  <a:gd name="T4" fmla="*/ 373 w 376"/>
                  <a:gd name="T5" fmla="*/ 16 h 19"/>
                  <a:gd name="T6" fmla="*/ 376 w 376"/>
                  <a:gd name="T7" fmla="*/ 13 h 19"/>
                  <a:gd name="T8" fmla="*/ 376 w 376"/>
                  <a:gd name="T9" fmla="*/ 6 h 19"/>
                  <a:gd name="T10" fmla="*/ 373 w 376"/>
                  <a:gd name="T11" fmla="*/ 3 h 19"/>
                  <a:gd name="T12" fmla="*/ 370 w 376"/>
                  <a:gd name="T13" fmla="*/ 0 h 19"/>
                  <a:gd name="T14" fmla="*/ 6 w 376"/>
                  <a:gd name="T15" fmla="*/ 0 h 19"/>
                  <a:gd name="T16" fmla="*/ 3 w 376"/>
                  <a:gd name="T17" fmla="*/ 3 h 19"/>
                  <a:gd name="T18" fmla="*/ 0 w 376"/>
                  <a:gd name="T19" fmla="*/ 6 h 19"/>
                  <a:gd name="T20" fmla="*/ 0 w 376"/>
                  <a:gd name="T21" fmla="*/ 13 h 19"/>
                  <a:gd name="T22" fmla="*/ 3 w 376"/>
                  <a:gd name="T23" fmla="*/ 16 h 19"/>
                  <a:gd name="T24" fmla="*/ 6 w 376"/>
                  <a:gd name="T25" fmla="*/ 19 h 19"/>
                  <a:gd name="T26" fmla="*/ 10 w 376"/>
                  <a:gd name="T27" fmla="*/ 19 h 19"/>
                  <a:gd name="T28" fmla="*/ 367 w 376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76" h="19">
                    <a:moveTo>
                      <a:pt x="367" y="19"/>
                    </a:moveTo>
                    <a:lnTo>
                      <a:pt x="370" y="19"/>
                    </a:lnTo>
                    <a:lnTo>
                      <a:pt x="373" y="16"/>
                    </a:lnTo>
                    <a:lnTo>
                      <a:pt x="376" y="13"/>
                    </a:lnTo>
                    <a:lnTo>
                      <a:pt x="376" y="6"/>
                    </a:lnTo>
                    <a:lnTo>
                      <a:pt x="373" y="3"/>
                    </a:lnTo>
                    <a:lnTo>
                      <a:pt x="370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10" y="19"/>
                    </a:lnTo>
                    <a:lnTo>
                      <a:pt x="367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1" name="Freeform 145">
                <a:extLst>
                  <a:ext uri="{FF2B5EF4-FFF2-40B4-BE49-F238E27FC236}">
                    <a16:creationId xmlns:a16="http://schemas.microsoft.com/office/drawing/2014/main" xmlns="" id="{9750384F-81CB-45BA-9CBD-D16C51B65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802"/>
                <a:ext cx="376" cy="19"/>
              </a:xfrm>
              <a:custGeom>
                <a:avLst/>
                <a:gdLst>
                  <a:gd name="T0" fmla="*/ 367 w 376"/>
                  <a:gd name="T1" fmla="*/ 19 h 19"/>
                  <a:gd name="T2" fmla="*/ 370 w 376"/>
                  <a:gd name="T3" fmla="*/ 19 h 19"/>
                  <a:gd name="T4" fmla="*/ 373 w 376"/>
                  <a:gd name="T5" fmla="*/ 16 h 19"/>
                  <a:gd name="T6" fmla="*/ 376 w 376"/>
                  <a:gd name="T7" fmla="*/ 12 h 19"/>
                  <a:gd name="T8" fmla="*/ 376 w 376"/>
                  <a:gd name="T9" fmla="*/ 6 h 19"/>
                  <a:gd name="T10" fmla="*/ 373 w 376"/>
                  <a:gd name="T11" fmla="*/ 3 h 19"/>
                  <a:gd name="T12" fmla="*/ 370 w 376"/>
                  <a:gd name="T13" fmla="*/ 0 h 19"/>
                  <a:gd name="T14" fmla="*/ 6 w 376"/>
                  <a:gd name="T15" fmla="*/ 0 h 19"/>
                  <a:gd name="T16" fmla="*/ 3 w 376"/>
                  <a:gd name="T17" fmla="*/ 3 h 19"/>
                  <a:gd name="T18" fmla="*/ 0 w 376"/>
                  <a:gd name="T19" fmla="*/ 6 h 19"/>
                  <a:gd name="T20" fmla="*/ 0 w 376"/>
                  <a:gd name="T21" fmla="*/ 12 h 19"/>
                  <a:gd name="T22" fmla="*/ 3 w 376"/>
                  <a:gd name="T23" fmla="*/ 16 h 19"/>
                  <a:gd name="T24" fmla="*/ 6 w 376"/>
                  <a:gd name="T25" fmla="*/ 19 h 19"/>
                  <a:gd name="T26" fmla="*/ 10 w 376"/>
                  <a:gd name="T27" fmla="*/ 19 h 19"/>
                  <a:gd name="T28" fmla="*/ 367 w 376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76" h="19">
                    <a:moveTo>
                      <a:pt x="367" y="19"/>
                    </a:moveTo>
                    <a:lnTo>
                      <a:pt x="370" y="19"/>
                    </a:lnTo>
                    <a:lnTo>
                      <a:pt x="373" y="16"/>
                    </a:lnTo>
                    <a:lnTo>
                      <a:pt x="376" y="12"/>
                    </a:lnTo>
                    <a:lnTo>
                      <a:pt x="376" y="6"/>
                    </a:lnTo>
                    <a:lnTo>
                      <a:pt x="373" y="3"/>
                    </a:lnTo>
                    <a:lnTo>
                      <a:pt x="370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10" y="19"/>
                    </a:lnTo>
                    <a:lnTo>
                      <a:pt x="367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2" name="Freeform 146">
                <a:extLst>
                  <a:ext uri="{FF2B5EF4-FFF2-40B4-BE49-F238E27FC236}">
                    <a16:creationId xmlns:a16="http://schemas.microsoft.com/office/drawing/2014/main" xmlns="" id="{279F6898-69FC-4BF1-A02D-F71ECC90B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326"/>
                <a:ext cx="19" cy="495"/>
              </a:xfrm>
              <a:custGeom>
                <a:avLst/>
                <a:gdLst>
                  <a:gd name="T0" fmla="*/ 19 w 19"/>
                  <a:gd name="T1" fmla="*/ 10 h 495"/>
                  <a:gd name="T2" fmla="*/ 19 w 19"/>
                  <a:gd name="T3" fmla="*/ 6 h 495"/>
                  <a:gd name="T4" fmla="*/ 16 w 19"/>
                  <a:gd name="T5" fmla="*/ 3 h 495"/>
                  <a:gd name="T6" fmla="*/ 13 w 19"/>
                  <a:gd name="T7" fmla="*/ 0 h 495"/>
                  <a:gd name="T8" fmla="*/ 6 w 19"/>
                  <a:gd name="T9" fmla="*/ 0 h 495"/>
                  <a:gd name="T10" fmla="*/ 3 w 19"/>
                  <a:gd name="T11" fmla="*/ 3 h 495"/>
                  <a:gd name="T12" fmla="*/ 0 w 19"/>
                  <a:gd name="T13" fmla="*/ 6 h 495"/>
                  <a:gd name="T14" fmla="*/ 0 w 19"/>
                  <a:gd name="T15" fmla="*/ 488 h 495"/>
                  <a:gd name="T16" fmla="*/ 3 w 19"/>
                  <a:gd name="T17" fmla="*/ 492 h 495"/>
                  <a:gd name="T18" fmla="*/ 6 w 19"/>
                  <a:gd name="T19" fmla="*/ 495 h 495"/>
                  <a:gd name="T20" fmla="*/ 13 w 19"/>
                  <a:gd name="T21" fmla="*/ 495 h 495"/>
                  <a:gd name="T22" fmla="*/ 16 w 19"/>
                  <a:gd name="T23" fmla="*/ 492 h 495"/>
                  <a:gd name="T24" fmla="*/ 19 w 19"/>
                  <a:gd name="T25" fmla="*/ 488 h 495"/>
                  <a:gd name="T26" fmla="*/ 19 w 19"/>
                  <a:gd name="T27" fmla="*/ 485 h 495"/>
                  <a:gd name="T28" fmla="*/ 19 w 19"/>
                  <a:gd name="T29" fmla="*/ 10 h 49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" h="495">
                    <a:moveTo>
                      <a:pt x="19" y="10"/>
                    </a:move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488"/>
                    </a:lnTo>
                    <a:lnTo>
                      <a:pt x="3" y="492"/>
                    </a:lnTo>
                    <a:lnTo>
                      <a:pt x="6" y="495"/>
                    </a:lnTo>
                    <a:lnTo>
                      <a:pt x="13" y="495"/>
                    </a:lnTo>
                    <a:lnTo>
                      <a:pt x="16" y="492"/>
                    </a:lnTo>
                    <a:lnTo>
                      <a:pt x="19" y="488"/>
                    </a:lnTo>
                    <a:lnTo>
                      <a:pt x="19" y="485"/>
                    </a:ln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3" name="Freeform 147">
                <a:extLst>
                  <a:ext uri="{FF2B5EF4-FFF2-40B4-BE49-F238E27FC236}">
                    <a16:creationId xmlns:a16="http://schemas.microsoft.com/office/drawing/2014/main" xmlns="" id="{4B3934D0-4628-4449-9CEB-4087F5DEE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" y="2183"/>
                <a:ext cx="390" cy="245"/>
              </a:xfrm>
              <a:custGeom>
                <a:avLst/>
                <a:gdLst>
                  <a:gd name="T0" fmla="*/ 6 w 390"/>
                  <a:gd name="T1" fmla="*/ 0 h 245"/>
                  <a:gd name="T2" fmla="*/ 1 w 390"/>
                  <a:gd name="T3" fmla="*/ 5 h 245"/>
                  <a:gd name="T4" fmla="*/ 0 w 390"/>
                  <a:gd name="T5" fmla="*/ 13 h 245"/>
                  <a:gd name="T6" fmla="*/ 5 w 390"/>
                  <a:gd name="T7" fmla="*/ 18 h 245"/>
                  <a:gd name="T8" fmla="*/ 16 w 390"/>
                  <a:gd name="T9" fmla="*/ 21 h 245"/>
                  <a:gd name="T10" fmla="*/ 41 w 390"/>
                  <a:gd name="T11" fmla="*/ 26 h 245"/>
                  <a:gd name="T12" fmla="*/ 58 w 390"/>
                  <a:gd name="T13" fmla="*/ 31 h 245"/>
                  <a:gd name="T14" fmla="*/ 74 w 390"/>
                  <a:gd name="T15" fmla="*/ 35 h 245"/>
                  <a:gd name="T16" fmla="*/ 98 w 390"/>
                  <a:gd name="T17" fmla="*/ 42 h 245"/>
                  <a:gd name="T18" fmla="*/ 112 w 390"/>
                  <a:gd name="T19" fmla="*/ 46 h 245"/>
                  <a:gd name="T20" fmla="*/ 128 w 390"/>
                  <a:gd name="T21" fmla="*/ 51 h 245"/>
                  <a:gd name="T22" fmla="*/ 143 w 390"/>
                  <a:gd name="T23" fmla="*/ 56 h 245"/>
                  <a:gd name="T24" fmla="*/ 163 w 390"/>
                  <a:gd name="T25" fmla="*/ 64 h 245"/>
                  <a:gd name="T26" fmla="*/ 184 w 390"/>
                  <a:gd name="T27" fmla="*/ 70 h 245"/>
                  <a:gd name="T28" fmla="*/ 222 w 390"/>
                  <a:gd name="T29" fmla="*/ 89 h 245"/>
                  <a:gd name="T30" fmla="*/ 235 w 390"/>
                  <a:gd name="T31" fmla="*/ 97 h 245"/>
                  <a:gd name="T32" fmla="*/ 241 w 390"/>
                  <a:gd name="T33" fmla="*/ 102 h 245"/>
                  <a:gd name="T34" fmla="*/ 255 w 390"/>
                  <a:gd name="T35" fmla="*/ 113 h 245"/>
                  <a:gd name="T36" fmla="*/ 268 w 390"/>
                  <a:gd name="T37" fmla="*/ 119 h 245"/>
                  <a:gd name="T38" fmla="*/ 277 w 390"/>
                  <a:gd name="T39" fmla="*/ 127 h 245"/>
                  <a:gd name="T40" fmla="*/ 287 w 390"/>
                  <a:gd name="T41" fmla="*/ 135 h 245"/>
                  <a:gd name="T42" fmla="*/ 296 w 390"/>
                  <a:gd name="T43" fmla="*/ 143 h 245"/>
                  <a:gd name="T44" fmla="*/ 306 w 390"/>
                  <a:gd name="T45" fmla="*/ 151 h 245"/>
                  <a:gd name="T46" fmla="*/ 315 w 390"/>
                  <a:gd name="T47" fmla="*/ 157 h 245"/>
                  <a:gd name="T48" fmla="*/ 327 w 390"/>
                  <a:gd name="T49" fmla="*/ 172 h 245"/>
                  <a:gd name="T50" fmla="*/ 333 w 390"/>
                  <a:gd name="T51" fmla="*/ 180 h 245"/>
                  <a:gd name="T52" fmla="*/ 353 w 390"/>
                  <a:gd name="T53" fmla="*/ 207 h 245"/>
                  <a:gd name="T54" fmla="*/ 363 w 390"/>
                  <a:gd name="T55" fmla="*/ 222 h 245"/>
                  <a:gd name="T56" fmla="*/ 369 w 390"/>
                  <a:gd name="T57" fmla="*/ 233 h 245"/>
                  <a:gd name="T58" fmla="*/ 373 w 390"/>
                  <a:gd name="T59" fmla="*/ 241 h 245"/>
                  <a:gd name="T60" fmla="*/ 377 w 390"/>
                  <a:gd name="T61" fmla="*/ 245 h 245"/>
                  <a:gd name="T62" fmla="*/ 385 w 390"/>
                  <a:gd name="T63" fmla="*/ 243 h 245"/>
                  <a:gd name="T64" fmla="*/ 388 w 390"/>
                  <a:gd name="T65" fmla="*/ 240 h 245"/>
                  <a:gd name="T66" fmla="*/ 390 w 390"/>
                  <a:gd name="T67" fmla="*/ 233 h 245"/>
                  <a:gd name="T68" fmla="*/ 385 w 390"/>
                  <a:gd name="T69" fmla="*/ 224 h 245"/>
                  <a:gd name="T70" fmla="*/ 379 w 390"/>
                  <a:gd name="T71" fmla="*/ 213 h 245"/>
                  <a:gd name="T72" fmla="*/ 369 w 390"/>
                  <a:gd name="T73" fmla="*/ 197 h 245"/>
                  <a:gd name="T74" fmla="*/ 349 w 390"/>
                  <a:gd name="T75" fmla="*/ 167 h 245"/>
                  <a:gd name="T76" fmla="*/ 339 w 390"/>
                  <a:gd name="T77" fmla="*/ 159 h 245"/>
                  <a:gd name="T78" fmla="*/ 333 w 390"/>
                  <a:gd name="T79" fmla="*/ 149 h 245"/>
                  <a:gd name="T80" fmla="*/ 323 w 390"/>
                  <a:gd name="T81" fmla="*/ 140 h 245"/>
                  <a:gd name="T82" fmla="*/ 314 w 390"/>
                  <a:gd name="T83" fmla="*/ 132 h 245"/>
                  <a:gd name="T84" fmla="*/ 304 w 390"/>
                  <a:gd name="T85" fmla="*/ 124 h 245"/>
                  <a:gd name="T86" fmla="*/ 295 w 390"/>
                  <a:gd name="T87" fmla="*/ 116 h 245"/>
                  <a:gd name="T88" fmla="*/ 284 w 390"/>
                  <a:gd name="T89" fmla="*/ 108 h 245"/>
                  <a:gd name="T90" fmla="*/ 273 w 390"/>
                  <a:gd name="T91" fmla="*/ 100 h 245"/>
                  <a:gd name="T92" fmla="*/ 263 w 390"/>
                  <a:gd name="T93" fmla="*/ 92 h 245"/>
                  <a:gd name="T94" fmla="*/ 250 w 390"/>
                  <a:gd name="T95" fmla="*/ 86 h 245"/>
                  <a:gd name="T96" fmla="*/ 244 w 390"/>
                  <a:gd name="T97" fmla="*/ 81 h 245"/>
                  <a:gd name="T98" fmla="*/ 231 w 390"/>
                  <a:gd name="T99" fmla="*/ 73 h 245"/>
                  <a:gd name="T100" fmla="*/ 190 w 390"/>
                  <a:gd name="T101" fmla="*/ 54 h 245"/>
                  <a:gd name="T102" fmla="*/ 169 w 390"/>
                  <a:gd name="T103" fmla="*/ 45 h 245"/>
                  <a:gd name="T104" fmla="*/ 149 w 390"/>
                  <a:gd name="T105" fmla="*/ 37 h 245"/>
                  <a:gd name="T106" fmla="*/ 135 w 390"/>
                  <a:gd name="T107" fmla="*/ 32 h 245"/>
                  <a:gd name="T108" fmla="*/ 119 w 390"/>
                  <a:gd name="T109" fmla="*/ 27 h 245"/>
                  <a:gd name="T110" fmla="*/ 104 w 390"/>
                  <a:gd name="T111" fmla="*/ 23 h 245"/>
                  <a:gd name="T112" fmla="*/ 81 w 390"/>
                  <a:gd name="T113" fmla="*/ 16 h 245"/>
                  <a:gd name="T114" fmla="*/ 62 w 390"/>
                  <a:gd name="T115" fmla="*/ 12 h 245"/>
                  <a:gd name="T116" fmla="*/ 47 w 390"/>
                  <a:gd name="T117" fmla="*/ 7 h 245"/>
                  <a:gd name="T118" fmla="*/ 28 w 390"/>
                  <a:gd name="T119" fmla="*/ 4 h 245"/>
                  <a:gd name="T120" fmla="*/ 11 w 390"/>
                  <a:gd name="T121" fmla="*/ 0 h 24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90" h="245">
                    <a:moveTo>
                      <a:pt x="11" y="0"/>
                    </a:moveTo>
                    <a:lnTo>
                      <a:pt x="6" y="0"/>
                    </a:lnTo>
                    <a:lnTo>
                      <a:pt x="3" y="4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5" y="18"/>
                    </a:lnTo>
                    <a:lnTo>
                      <a:pt x="8" y="19"/>
                    </a:lnTo>
                    <a:lnTo>
                      <a:pt x="16" y="21"/>
                    </a:lnTo>
                    <a:lnTo>
                      <a:pt x="25" y="23"/>
                    </a:lnTo>
                    <a:lnTo>
                      <a:pt x="41" y="26"/>
                    </a:lnTo>
                    <a:lnTo>
                      <a:pt x="49" y="29"/>
                    </a:lnTo>
                    <a:lnTo>
                      <a:pt x="58" y="31"/>
                    </a:lnTo>
                    <a:lnTo>
                      <a:pt x="66" y="32"/>
                    </a:lnTo>
                    <a:lnTo>
                      <a:pt x="74" y="35"/>
                    </a:lnTo>
                    <a:lnTo>
                      <a:pt x="90" y="38"/>
                    </a:lnTo>
                    <a:lnTo>
                      <a:pt x="98" y="42"/>
                    </a:lnTo>
                    <a:lnTo>
                      <a:pt x="106" y="43"/>
                    </a:lnTo>
                    <a:lnTo>
                      <a:pt x="112" y="46"/>
                    </a:lnTo>
                    <a:lnTo>
                      <a:pt x="120" y="48"/>
                    </a:lnTo>
                    <a:lnTo>
                      <a:pt x="128" y="51"/>
                    </a:lnTo>
                    <a:lnTo>
                      <a:pt x="136" y="53"/>
                    </a:lnTo>
                    <a:lnTo>
                      <a:pt x="143" y="56"/>
                    </a:lnTo>
                    <a:lnTo>
                      <a:pt x="150" y="57"/>
                    </a:lnTo>
                    <a:lnTo>
                      <a:pt x="163" y="64"/>
                    </a:lnTo>
                    <a:lnTo>
                      <a:pt x="171" y="65"/>
                    </a:lnTo>
                    <a:lnTo>
                      <a:pt x="184" y="70"/>
                    </a:lnTo>
                    <a:lnTo>
                      <a:pt x="192" y="73"/>
                    </a:lnTo>
                    <a:lnTo>
                      <a:pt x="222" y="89"/>
                    </a:lnTo>
                    <a:lnTo>
                      <a:pt x="228" y="94"/>
                    </a:lnTo>
                    <a:lnTo>
                      <a:pt x="235" y="97"/>
                    </a:lnTo>
                    <a:lnTo>
                      <a:pt x="239" y="102"/>
                    </a:lnTo>
                    <a:lnTo>
                      <a:pt x="241" y="102"/>
                    </a:lnTo>
                    <a:lnTo>
                      <a:pt x="250" y="108"/>
                    </a:lnTo>
                    <a:lnTo>
                      <a:pt x="255" y="113"/>
                    </a:lnTo>
                    <a:lnTo>
                      <a:pt x="263" y="116"/>
                    </a:lnTo>
                    <a:lnTo>
                      <a:pt x="268" y="119"/>
                    </a:lnTo>
                    <a:lnTo>
                      <a:pt x="274" y="124"/>
                    </a:lnTo>
                    <a:lnTo>
                      <a:pt x="277" y="127"/>
                    </a:lnTo>
                    <a:lnTo>
                      <a:pt x="282" y="132"/>
                    </a:lnTo>
                    <a:lnTo>
                      <a:pt x="287" y="135"/>
                    </a:lnTo>
                    <a:lnTo>
                      <a:pt x="292" y="140"/>
                    </a:lnTo>
                    <a:lnTo>
                      <a:pt x="296" y="143"/>
                    </a:lnTo>
                    <a:lnTo>
                      <a:pt x="301" y="148"/>
                    </a:lnTo>
                    <a:lnTo>
                      <a:pt x="306" y="151"/>
                    </a:lnTo>
                    <a:lnTo>
                      <a:pt x="311" y="156"/>
                    </a:lnTo>
                    <a:lnTo>
                      <a:pt x="315" y="157"/>
                    </a:lnTo>
                    <a:lnTo>
                      <a:pt x="317" y="162"/>
                    </a:lnTo>
                    <a:lnTo>
                      <a:pt x="327" y="172"/>
                    </a:lnTo>
                    <a:lnTo>
                      <a:pt x="331" y="175"/>
                    </a:lnTo>
                    <a:lnTo>
                      <a:pt x="333" y="180"/>
                    </a:lnTo>
                    <a:lnTo>
                      <a:pt x="338" y="184"/>
                    </a:lnTo>
                    <a:lnTo>
                      <a:pt x="353" y="207"/>
                    </a:lnTo>
                    <a:lnTo>
                      <a:pt x="357" y="213"/>
                    </a:lnTo>
                    <a:lnTo>
                      <a:pt x="363" y="222"/>
                    </a:lnTo>
                    <a:lnTo>
                      <a:pt x="366" y="229"/>
                    </a:lnTo>
                    <a:lnTo>
                      <a:pt x="369" y="233"/>
                    </a:lnTo>
                    <a:lnTo>
                      <a:pt x="373" y="240"/>
                    </a:lnTo>
                    <a:lnTo>
                      <a:pt x="373" y="241"/>
                    </a:lnTo>
                    <a:lnTo>
                      <a:pt x="376" y="243"/>
                    </a:lnTo>
                    <a:lnTo>
                      <a:pt x="377" y="245"/>
                    </a:lnTo>
                    <a:lnTo>
                      <a:pt x="382" y="245"/>
                    </a:lnTo>
                    <a:lnTo>
                      <a:pt x="385" y="243"/>
                    </a:lnTo>
                    <a:lnTo>
                      <a:pt x="387" y="243"/>
                    </a:lnTo>
                    <a:lnTo>
                      <a:pt x="388" y="240"/>
                    </a:lnTo>
                    <a:lnTo>
                      <a:pt x="390" y="238"/>
                    </a:lnTo>
                    <a:lnTo>
                      <a:pt x="390" y="233"/>
                    </a:lnTo>
                    <a:lnTo>
                      <a:pt x="388" y="230"/>
                    </a:lnTo>
                    <a:lnTo>
                      <a:pt x="385" y="224"/>
                    </a:lnTo>
                    <a:lnTo>
                      <a:pt x="382" y="219"/>
                    </a:lnTo>
                    <a:lnTo>
                      <a:pt x="379" y="213"/>
                    </a:lnTo>
                    <a:lnTo>
                      <a:pt x="373" y="203"/>
                    </a:lnTo>
                    <a:lnTo>
                      <a:pt x="369" y="197"/>
                    </a:lnTo>
                    <a:lnTo>
                      <a:pt x="353" y="172"/>
                    </a:lnTo>
                    <a:lnTo>
                      <a:pt x="349" y="167"/>
                    </a:lnTo>
                    <a:lnTo>
                      <a:pt x="344" y="162"/>
                    </a:lnTo>
                    <a:lnTo>
                      <a:pt x="339" y="159"/>
                    </a:lnTo>
                    <a:lnTo>
                      <a:pt x="338" y="154"/>
                    </a:lnTo>
                    <a:lnTo>
                      <a:pt x="333" y="149"/>
                    </a:lnTo>
                    <a:lnTo>
                      <a:pt x="328" y="145"/>
                    </a:lnTo>
                    <a:lnTo>
                      <a:pt x="323" y="140"/>
                    </a:lnTo>
                    <a:lnTo>
                      <a:pt x="319" y="135"/>
                    </a:lnTo>
                    <a:lnTo>
                      <a:pt x="314" y="132"/>
                    </a:lnTo>
                    <a:lnTo>
                      <a:pt x="309" y="127"/>
                    </a:lnTo>
                    <a:lnTo>
                      <a:pt x="304" y="124"/>
                    </a:lnTo>
                    <a:lnTo>
                      <a:pt x="300" y="119"/>
                    </a:lnTo>
                    <a:lnTo>
                      <a:pt x="295" y="116"/>
                    </a:lnTo>
                    <a:lnTo>
                      <a:pt x="290" y="111"/>
                    </a:lnTo>
                    <a:lnTo>
                      <a:pt x="284" y="108"/>
                    </a:lnTo>
                    <a:lnTo>
                      <a:pt x="277" y="103"/>
                    </a:lnTo>
                    <a:lnTo>
                      <a:pt x="273" y="100"/>
                    </a:lnTo>
                    <a:lnTo>
                      <a:pt x="268" y="97"/>
                    </a:lnTo>
                    <a:lnTo>
                      <a:pt x="263" y="92"/>
                    </a:lnTo>
                    <a:lnTo>
                      <a:pt x="255" y="89"/>
                    </a:lnTo>
                    <a:lnTo>
                      <a:pt x="250" y="86"/>
                    </a:lnTo>
                    <a:lnTo>
                      <a:pt x="252" y="86"/>
                    </a:lnTo>
                    <a:lnTo>
                      <a:pt x="244" y="81"/>
                    </a:lnTo>
                    <a:lnTo>
                      <a:pt x="238" y="78"/>
                    </a:lnTo>
                    <a:lnTo>
                      <a:pt x="231" y="73"/>
                    </a:lnTo>
                    <a:lnTo>
                      <a:pt x="198" y="57"/>
                    </a:lnTo>
                    <a:lnTo>
                      <a:pt x="190" y="54"/>
                    </a:lnTo>
                    <a:lnTo>
                      <a:pt x="177" y="46"/>
                    </a:lnTo>
                    <a:lnTo>
                      <a:pt x="169" y="45"/>
                    </a:lnTo>
                    <a:lnTo>
                      <a:pt x="157" y="38"/>
                    </a:lnTo>
                    <a:lnTo>
                      <a:pt x="149" y="37"/>
                    </a:lnTo>
                    <a:lnTo>
                      <a:pt x="143" y="34"/>
                    </a:lnTo>
                    <a:lnTo>
                      <a:pt x="135" y="32"/>
                    </a:lnTo>
                    <a:lnTo>
                      <a:pt x="127" y="29"/>
                    </a:lnTo>
                    <a:lnTo>
                      <a:pt x="119" y="27"/>
                    </a:lnTo>
                    <a:lnTo>
                      <a:pt x="112" y="24"/>
                    </a:lnTo>
                    <a:lnTo>
                      <a:pt x="104" y="23"/>
                    </a:lnTo>
                    <a:lnTo>
                      <a:pt x="97" y="19"/>
                    </a:lnTo>
                    <a:lnTo>
                      <a:pt x="81" y="16"/>
                    </a:lnTo>
                    <a:lnTo>
                      <a:pt x="73" y="13"/>
                    </a:lnTo>
                    <a:lnTo>
                      <a:pt x="62" y="12"/>
                    </a:lnTo>
                    <a:lnTo>
                      <a:pt x="55" y="10"/>
                    </a:lnTo>
                    <a:lnTo>
                      <a:pt x="47" y="7"/>
                    </a:lnTo>
                    <a:lnTo>
                      <a:pt x="36" y="5"/>
                    </a:lnTo>
                    <a:lnTo>
                      <a:pt x="28" y="4"/>
                    </a:lnTo>
                    <a:lnTo>
                      <a:pt x="19" y="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4" name="Freeform 148">
                <a:extLst>
                  <a:ext uri="{FF2B5EF4-FFF2-40B4-BE49-F238E27FC236}">
                    <a16:creationId xmlns:a16="http://schemas.microsoft.com/office/drawing/2014/main" xmlns="" id="{EE5F1C74-5751-435B-97F2-B64AB58F7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8" y="2183"/>
                <a:ext cx="187" cy="19"/>
              </a:xfrm>
              <a:custGeom>
                <a:avLst/>
                <a:gdLst>
                  <a:gd name="T0" fmla="*/ 178 w 187"/>
                  <a:gd name="T1" fmla="*/ 19 h 19"/>
                  <a:gd name="T2" fmla="*/ 181 w 187"/>
                  <a:gd name="T3" fmla="*/ 19 h 19"/>
                  <a:gd name="T4" fmla="*/ 184 w 187"/>
                  <a:gd name="T5" fmla="*/ 16 h 19"/>
                  <a:gd name="T6" fmla="*/ 187 w 187"/>
                  <a:gd name="T7" fmla="*/ 13 h 19"/>
                  <a:gd name="T8" fmla="*/ 187 w 187"/>
                  <a:gd name="T9" fmla="*/ 7 h 19"/>
                  <a:gd name="T10" fmla="*/ 184 w 187"/>
                  <a:gd name="T11" fmla="*/ 4 h 19"/>
                  <a:gd name="T12" fmla="*/ 181 w 187"/>
                  <a:gd name="T13" fmla="*/ 0 h 19"/>
                  <a:gd name="T14" fmla="*/ 6 w 187"/>
                  <a:gd name="T15" fmla="*/ 0 h 19"/>
                  <a:gd name="T16" fmla="*/ 3 w 187"/>
                  <a:gd name="T17" fmla="*/ 4 h 19"/>
                  <a:gd name="T18" fmla="*/ 0 w 187"/>
                  <a:gd name="T19" fmla="*/ 7 h 19"/>
                  <a:gd name="T20" fmla="*/ 0 w 187"/>
                  <a:gd name="T21" fmla="*/ 13 h 19"/>
                  <a:gd name="T22" fmla="*/ 3 w 187"/>
                  <a:gd name="T23" fmla="*/ 16 h 19"/>
                  <a:gd name="T24" fmla="*/ 6 w 187"/>
                  <a:gd name="T25" fmla="*/ 19 h 19"/>
                  <a:gd name="T26" fmla="*/ 9 w 187"/>
                  <a:gd name="T27" fmla="*/ 19 h 19"/>
                  <a:gd name="T28" fmla="*/ 178 w 187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87" h="19">
                    <a:moveTo>
                      <a:pt x="178" y="19"/>
                    </a:moveTo>
                    <a:lnTo>
                      <a:pt x="181" y="19"/>
                    </a:lnTo>
                    <a:lnTo>
                      <a:pt x="184" y="16"/>
                    </a:lnTo>
                    <a:lnTo>
                      <a:pt x="187" y="13"/>
                    </a:lnTo>
                    <a:lnTo>
                      <a:pt x="187" y="7"/>
                    </a:lnTo>
                    <a:lnTo>
                      <a:pt x="184" y="4"/>
                    </a:lnTo>
                    <a:lnTo>
                      <a:pt x="181" y="0"/>
                    </a:lnTo>
                    <a:lnTo>
                      <a:pt x="6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9" y="19"/>
                    </a:lnTo>
                    <a:lnTo>
                      <a:pt x="178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5" name="Freeform 149">
                <a:extLst>
                  <a:ext uri="{FF2B5EF4-FFF2-40B4-BE49-F238E27FC236}">
                    <a16:creationId xmlns:a16="http://schemas.microsoft.com/office/drawing/2014/main" xmlns="" id="{D0ED9A58-2419-4541-9C6B-CFBDDB0C19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" y="2413"/>
                <a:ext cx="390" cy="244"/>
              </a:xfrm>
              <a:custGeom>
                <a:avLst/>
                <a:gdLst>
                  <a:gd name="T0" fmla="*/ 5 w 390"/>
                  <a:gd name="T1" fmla="*/ 227 h 244"/>
                  <a:gd name="T2" fmla="*/ 0 w 390"/>
                  <a:gd name="T3" fmla="*/ 232 h 244"/>
                  <a:gd name="T4" fmla="*/ 1 w 390"/>
                  <a:gd name="T5" fmla="*/ 240 h 244"/>
                  <a:gd name="T6" fmla="*/ 6 w 390"/>
                  <a:gd name="T7" fmla="*/ 244 h 244"/>
                  <a:gd name="T8" fmla="*/ 20 w 390"/>
                  <a:gd name="T9" fmla="*/ 241 h 244"/>
                  <a:gd name="T10" fmla="*/ 38 w 390"/>
                  <a:gd name="T11" fmla="*/ 238 h 244"/>
                  <a:gd name="T12" fmla="*/ 63 w 390"/>
                  <a:gd name="T13" fmla="*/ 232 h 244"/>
                  <a:gd name="T14" fmla="*/ 81 w 390"/>
                  <a:gd name="T15" fmla="*/ 227 h 244"/>
                  <a:gd name="T16" fmla="*/ 104 w 390"/>
                  <a:gd name="T17" fmla="*/ 221 h 244"/>
                  <a:gd name="T18" fmla="*/ 119 w 390"/>
                  <a:gd name="T19" fmla="*/ 216 h 244"/>
                  <a:gd name="T20" fmla="*/ 135 w 390"/>
                  <a:gd name="T21" fmla="*/ 211 h 244"/>
                  <a:gd name="T22" fmla="*/ 149 w 390"/>
                  <a:gd name="T23" fmla="*/ 206 h 244"/>
                  <a:gd name="T24" fmla="*/ 169 w 390"/>
                  <a:gd name="T25" fmla="*/ 199 h 244"/>
                  <a:gd name="T26" fmla="*/ 190 w 390"/>
                  <a:gd name="T27" fmla="*/ 187 h 244"/>
                  <a:gd name="T28" fmla="*/ 250 w 390"/>
                  <a:gd name="T29" fmla="*/ 159 h 244"/>
                  <a:gd name="T30" fmla="*/ 257 w 390"/>
                  <a:gd name="T31" fmla="*/ 154 h 244"/>
                  <a:gd name="T32" fmla="*/ 268 w 390"/>
                  <a:gd name="T33" fmla="*/ 146 h 244"/>
                  <a:gd name="T34" fmla="*/ 279 w 390"/>
                  <a:gd name="T35" fmla="*/ 138 h 244"/>
                  <a:gd name="T36" fmla="*/ 290 w 390"/>
                  <a:gd name="T37" fmla="*/ 130 h 244"/>
                  <a:gd name="T38" fmla="*/ 300 w 390"/>
                  <a:gd name="T39" fmla="*/ 122 h 244"/>
                  <a:gd name="T40" fmla="*/ 309 w 390"/>
                  <a:gd name="T41" fmla="*/ 114 h 244"/>
                  <a:gd name="T42" fmla="*/ 323 w 390"/>
                  <a:gd name="T43" fmla="*/ 102 h 244"/>
                  <a:gd name="T44" fmla="*/ 346 w 390"/>
                  <a:gd name="T45" fmla="*/ 80 h 244"/>
                  <a:gd name="T46" fmla="*/ 353 w 390"/>
                  <a:gd name="T47" fmla="*/ 70 h 244"/>
                  <a:gd name="T48" fmla="*/ 382 w 390"/>
                  <a:gd name="T49" fmla="*/ 24 h 244"/>
                  <a:gd name="T50" fmla="*/ 390 w 390"/>
                  <a:gd name="T51" fmla="*/ 11 h 244"/>
                  <a:gd name="T52" fmla="*/ 388 w 390"/>
                  <a:gd name="T53" fmla="*/ 5 h 244"/>
                  <a:gd name="T54" fmla="*/ 385 w 390"/>
                  <a:gd name="T55" fmla="*/ 2 h 244"/>
                  <a:gd name="T56" fmla="*/ 377 w 390"/>
                  <a:gd name="T57" fmla="*/ 0 h 244"/>
                  <a:gd name="T58" fmla="*/ 373 w 390"/>
                  <a:gd name="T59" fmla="*/ 3 h 244"/>
                  <a:gd name="T60" fmla="*/ 366 w 390"/>
                  <a:gd name="T61" fmla="*/ 15 h 244"/>
                  <a:gd name="T62" fmla="*/ 338 w 390"/>
                  <a:gd name="T63" fmla="*/ 57 h 244"/>
                  <a:gd name="T64" fmla="*/ 330 w 390"/>
                  <a:gd name="T65" fmla="*/ 67 h 244"/>
                  <a:gd name="T66" fmla="*/ 315 w 390"/>
                  <a:gd name="T67" fmla="*/ 84 h 244"/>
                  <a:gd name="T68" fmla="*/ 301 w 390"/>
                  <a:gd name="T69" fmla="*/ 95 h 244"/>
                  <a:gd name="T70" fmla="*/ 292 w 390"/>
                  <a:gd name="T71" fmla="*/ 103 h 244"/>
                  <a:gd name="T72" fmla="*/ 282 w 390"/>
                  <a:gd name="T73" fmla="*/ 111 h 244"/>
                  <a:gd name="T74" fmla="*/ 273 w 390"/>
                  <a:gd name="T75" fmla="*/ 119 h 244"/>
                  <a:gd name="T76" fmla="*/ 261 w 390"/>
                  <a:gd name="T77" fmla="*/ 127 h 244"/>
                  <a:gd name="T78" fmla="*/ 250 w 390"/>
                  <a:gd name="T79" fmla="*/ 135 h 244"/>
                  <a:gd name="T80" fmla="*/ 239 w 390"/>
                  <a:gd name="T81" fmla="*/ 145 h 244"/>
                  <a:gd name="T82" fmla="*/ 192 w 390"/>
                  <a:gd name="T83" fmla="*/ 168 h 244"/>
                  <a:gd name="T84" fmla="*/ 171 w 390"/>
                  <a:gd name="T85" fmla="*/ 178 h 244"/>
                  <a:gd name="T86" fmla="*/ 157 w 390"/>
                  <a:gd name="T87" fmla="*/ 181 h 244"/>
                  <a:gd name="T88" fmla="*/ 143 w 390"/>
                  <a:gd name="T89" fmla="*/ 187 h 244"/>
                  <a:gd name="T90" fmla="*/ 128 w 390"/>
                  <a:gd name="T91" fmla="*/ 192 h 244"/>
                  <a:gd name="T92" fmla="*/ 112 w 390"/>
                  <a:gd name="T93" fmla="*/ 197 h 244"/>
                  <a:gd name="T94" fmla="*/ 98 w 390"/>
                  <a:gd name="T95" fmla="*/ 202 h 244"/>
                  <a:gd name="T96" fmla="*/ 74 w 390"/>
                  <a:gd name="T97" fmla="*/ 208 h 244"/>
                  <a:gd name="T98" fmla="*/ 57 w 390"/>
                  <a:gd name="T99" fmla="*/ 213 h 244"/>
                  <a:gd name="T100" fmla="*/ 31 w 390"/>
                  <a:gd name="T101" fmla="*/ 219 h 244"/>
                  <a:gd name="T102" fmla="*/ 14 w 390"/>
                  <a:gd name="T103" fmla="*/ 222 h 244"/>
                  <a:gd name="T104" fmla="*/ 8 w 390"/>
                  <a:gd name="T105" fmla="*/ 225 h 24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90" h="244">
                    <a:moveTo>
                      <a:pt x="8" y="225"/>
                    </a:moveTo>
                    <a:lnTo>
                      <a:pt x="5" y="227"/>
                    </a:lnTo>
                    <a:lnTo>
                      <a:pt x="1" y="230"/>
                    </a:lnTo>
                    <a:lnTo>
                      <a:pt x="0" y="232"/>
                    </a:lnTo>
                    <a:lnTo>
                      <a:pt x="0" y="237"/>
                    </a:lnTo>
                    <a:lnTo>
                      <a:pt x="1" y="240"/>
                    </a:lnTo>
                    <a:lnTo>
                      <a:pt x="5" y="243"/>
                    </a:lnTo>
                    <a:lnTo>
                      <a:pt x="6" y="244"/>
                    </a:lnTo>
                    <a:lnTo>
                      <a:pt x="12" y="244"/>
                    </a:lnTo>
                    <a:lnTo>
                      <a:pt x="20" y="241"/>
                    </a:lnTo>
                    <a:lnTo>
                      <a:pt x="28" y="240"/>
                    </a:lnTo>
                    <a:lnTo>
                      <a:pt x="38" y="238"/>
                    </a:lnTo>
                    <a:lnTo>
                      <a:pt x="47" y="235"/>
                    </a:lnTo>
                    <a:lnTo>
                      <a:pt x="63" y="232"/>
                    </a:lnTo>
                    <a:lnTo>
                      <a:pt x="73" y="229"/>
                    </a:lnTo>
                    <a:lnTo>
                      <a:pt x="81" y="227"/>
                    </a:lnTo>
                    <a:lnTo>
                      <a:pt x="89" y="224"/>
                    </a:lnTo>
                    <a:lnTo>
                      <a:pt x="104" y="221"/>
                    </a:lnTo>
                    <a:lnTo>
                      <a:pt x="112" y="218"/>
                    </a:lnTo>
                    <a:lnTo>
                      <a:pt x="119" y="216"/>
                    </a:lnTo>
                    <a:lnTo>
                      <a:pt x="127" y="213"/>
                    </a:lnTo>
                    <a:lnTo>
                      <a:pt x="135" y="211"/>
                    </a:lnTo>
                    <a:lnTo>
                      <a:pt x="143" y="208"/>
                    </a:lnTo>
                    <a:lnTo>
                      <a:pt x="149" y="206"/>
                    </a:lnTo>
                    <a:lnTo>
                      <a:pt x="157" y="202"/>
                    </a:lnTo>
                    <a:lnTo>
                      <a:pt x="169" y="199"/>
                    </a:lnTo>
                    <a:lnTo>
                      <a:pt x="177" y="194"/>
                    </a:lnTo>
                    <a:lnTo>
                      <a:pt x="190" y="187"/>
                    </a:lnTo>
                    <a:lnTo>
                      <a:pt x="198" y="184"/>
                    </a:lnTo>
                    <a:lnTo>
                      <a:pt x="250" y="159"/>
                    </a:lnTo>
                    <a:lnTo>
                      <a:pt x="252" y="157"/>
                    </a:lnTo>
                    <a:lnTo>
                      <a:pt x="257" y="154"/>
                    </a:lnTo>
                    <a:lnTo>
                      <a:pt x="263" y="151"/>
                    </a:lnTo>
                    <a:lnTo>
                      <a:pt x="268" y="146"/>
                    </a:lnTo>
                    <a:lnTo>
                      <a:pt x="274" y="143"/>
                    </a:lnTo>
                    <a:lnTo>
                      <a:pt x="279" y="138"/>
                    </a:lnTo>
                    <a:lnTo>
                      <a:pt x="285" y="135"/>
                    </a:lnTo>
                    <a:lnTo>
                      <a:pt x="290" y="130"/>
                    </a:lnTo>
                    <a:lnTo>
                      <a:pt x="295" y="127"/>
                    </a:lnTo>
                    <a:lnTo>
                      <a:pt x="300" y="122"/>
                    </a:lnTo>
                    <a:lnTo>
                      <a:pt x="304" y="119"/>
                    </a:lnTo>
                    <a:lnTo>
                      <a:pt x="309" y="114"/>
                    </a:lnTo>
                    <a:lnTo>
                      <a:pt x="314" y="111"/>
                    </a:lnTo>
                    <a:lnTo>
                      <a:pt x="323" y="102"/>
                    </a:lnTo>
                    <a:lnTo>
                      <a:pt x="333" y="92"/>
                    </a:lnTo>
                    <a:lnTo>
                      <a:pt x="346" y="80"/>
                    </a:lnTo>
                    <a:lnTo>
                      <a:pt x="349" y="75"/>
                    </a:lnTo>
                    <a:lnTo>
                      <a:pt x="353" y="70"/>
                    </a:lnTo>
                    <a:lnTo>
                      <a:pt x="379" y="30"/>
                    </a:lnTo>
                    <a:lnTo>
                      <a:pt x="382" y="24"/>
                    </a:lnTo>
                    <a:lnTo>
                      <a:pt x="388" y="15"/>
                    </a:lnTo>
                    <a:lnTo>
                      <a:pt x="390" y="11"/>
                    </a:lnTo>
                    <a:lnTo>
                      <a:pt x="390" y="7"/>
                    </a:lnTo>
                    <a:lnTo>
                      <a:pt x="388" y="5"/>
                    </a:lnTo>
                    <a:lnTo>
                      <a:pt x="387" y="2"/>
                    </a:lnTo>
                    <a:lnTo>
                      <a:pt x="385" y="2"/>
                    </a:lnTo>
                    <a:lnTo>
                      <a:pt x="382" y="0"/>
                    </a:lnTo>
                    <a:lnTo>
                      <a:pt x="377" y="0"/>
                    </a:lnTo>
                    <a:lnTo>
                      <a:pt x="376" y="2"/>
                    </a:lnTo>
                    <a:lnTo>
                      <a:pt x="373" y="3"/>
                    </a:lnTo>
                    <a:lnTo>
                      <a:pt x="373" y="5"/>
                    </a:lnTo>
                    <a:lnTo>
                      <a:pt x="366" y="15"/>
                    </a:lnTo>
                    <a:lnTo>
                      <a:pt x="363" y="21"/>
                    </a:lnTo>
                    <a:lnTo>
                      <a:pt x="338" y="57"/>
                    </a:lnTo>
                    <a:lnTo>
                      <a:pt x="333" y="62"/>
                    </a:lnTo>
                    <a:lnTo>
                      <a:pt x="330" y="67"/>
                    </a:lnTo>
                    <a:lnTo>
                      <a:pt x="317" y="80"/>
                    </a:lnTo>
                    <a:lnTo>
                      <a:pt x="315" y="84"/>
                    </a:lnTo>
                    <a:lnTo>
                      <a:pt x="311" y="86"/>
                    </a:lnTo>
                    <a:lnTo>
                      <a:pt x="301" y="95"/>
                    </a:lnTo>
                    <a:lnTo>
                      <a:pt x="296" y="99"/>
                    </a:lnTo>
                    <a:lnTo>
                      <a:pt x="292" y="103"/>
                    </a:lnTo>
                    <a:lnTo>
                      <a:pt x="287" y="107"/>
                    </a:lnTo>
                    <a:lnTo>
                      <a:pt x="282" y="111"/>
                    </a:lnTo>
                    <a:lnTo>
                      <a:pt x="277" y="114"/>
                    </a:lnTo>
                    <a:lnTo>
                      <a:pt x="273" y="119"/>
                    </a:lnTo>
                    <a:lnTo>
                      <a:pt x="266" y="122"/>
                    </a:lnTo>
                    <a:lnTo>
                      <a:pt x="261" y="127"/>
                    </a:lnTo>
                    <a:lnTo>
                      <a:pt x="255" y="130"/>
                    </a:lnTo>
                    <a:lnTo>
                      <a:pt x="250" y="135"/>
                    </a:lnTo>
                    <a:lnTo>
                      <a:pt x="244" y="138"/>
                    </a:lnTo>
                    <a:lnTo>
                      <a:pt x="239" y="145"/>
                    </a:lnTo>
                    <a:lnTo>
                      <a:pt x="241" y="143"/>
                    </a:lnTo>
                    <a:lnTo>
                      <a:pt x="192" y="168"/>
                    </a:lnTo>
                    <a:lnTo>
                      <a:pt x="184" y="172"/>
                    </a:lnTo>
                    <a:lnTo>
                      <a:pt x="171" y="178"/>
                    </a:lnTo>
                    <a:lnTo>
                      <a:pt x="163" y="179"/>
                    </a:lnTo>
                    <a:lnTo>
                      <a:pt x="157" y="181"/>
                    </a:lnTo>
                    <a:lnTo>
                      <a:pt x="150" y="186"/>
                    </a:lnTo>
                    <a:lnTo>
                      <a:pt x="143" y="187"/>
                    </a:lnTo>
                    <a:lnTo>
                      <a:pt x="136" y="189"/>
                    </a:lnTo>
                    <a:lnTo>
                      <a:pt x="128" y="192"/>
                    </a:lnTo>
                    <a:lnTo>
                      <a:pt x="120" y="194"/>
                    </a:lnTo>
                    <a:lnTo>
                      <a:pt x="112" y="197"/>
                    </a:lnTo>
                    <a:lnTo>
                      <a:pt x="106" y="199"/>
                    </a:lnTo>
                    <a:lnTo>
                      <a:pt x="98" y="202"/>
                    </a:lnTo>
                    <a:lnTo>
                      <a:pt x="82" y="205"/>
                    </a:lnTo>
                    <a:lnTo>
                      <a:pt x="74" y="208"/>
                    </a:lnTo>
                    <a:lnTo>
                      <a:pt x="66" y="210"/>
                    </a:lnTo>
                    <a:lnTo>
                      <a:pt x="57" y="213"/>
                    </a:lnTo>
                    <a:lnTo>
                      <a:pt x="41" y="216"/>
                    </a:lnTo>
                    <a:lnTo>
                      <a:pt x="31" y="219"/>
                    </a:lnTo>
                    <a:lnTo>
                      <a:pt x="25" y="221"/>
                    </a:lnTo>
                    <a:lnTo>
                      <a:pt x="14" y="222"/>
                    </a:lnTo>
                    <a:lnTo>
                      <a:pt x="6" y="225"/>
                    </a:lnTo>
                    <a:lnTo>
                      <a:pt x="8" y="2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6" name="Freeform 150">
                <a:extLst>
                  <a:ext uri="{FF2B5EF4-FFF2-40B4-BE49-F238E27FC236}">
                    <a16:creationId xmlns:a16="http://schemas.microsoft.com/office/drawing/2014/main" xmlns="" id="{25FB7501-EBB4-42D6-8565-E02036A48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8" y="2638"/>
                <a:ext cx="187" cy="19"/>
              </a:xfrm>
              <a:custGeom>
                <a:avLst/>
                <a:gdLst>
                  <a:gd name="T0" fmla="*/ 178 w 187"/>
                  <a:gd name="T1" fmla="*/ 19 h 19"/>
                  <a:gd name="T2" fmla="*/ 181 w 187"/>
                  <a:gd name="T3" fmla="*/ 19 h 19"/>
                  <a:gd name="T4" fmla="*/ 184 w 187"/>
                  <a:gd name="T5" fmla="*/ 16 h 19"/>
                  <a:gd name="T6" fmla="*/ 187 w 187"/>
                  <a:gd name="T7" fmla="*/ 13 h 19"/>
                  <a:gd name="T8" fmla="*/ 187 w 187"/>
                  <a:gd name="T9" fmla="*/ 7 h 19"/>
                  <a:gd name="T10" fmla="*/ 184 w 187"/>
                  <a:gd name="T11" fmla="*/ 4 h 19"/>
                  <a:gd name="T12" fmla="*/ 181 w 187"/>
                  <a:gd name="T13" fmla="*/ 0 h 19"/>
                  <a:gd name="T14" fmla="*/ 6 w 187"/>
                  <a:gd name="T15" fmla="*/ 0 h 19"/>
                  <a:gd name="T16" fmla="*/ 3 w 187"/>
                  <a:gd name="T17" fmla="*/ 4 h 19"/>
                  <a:gd name="T18" fmla="*/ 0 w 187"/>
                  <a:gd name="T19" fmla="*/ 7 h 19"/>
                  <a:gd name="T20" fmla="*/ 0 w 187"/>
                  <a:gd name="T21" fmla="*/ 13 h 19"/>
                  <a:gd name="T22" fmla="*/ 3 w 187"/>
                  <a:gd name="T23" fmla="*/ 16 h 19"/>
                  <a:gd name="T24" fmla="*/ 6 w 187"/>
                  <a:gd name="T25" fmla="*/ 19 h 19"/>
                  <a:gd name="T26" fmla="*/ 9 w 187"/>
                  <a:gd name="T27" fmla="*/ 19 h 19"/>
                  <a:gd name="T28" fmla="*/ 178 w 187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87" h="19">
                    <a:moveTo>
                      <a:pt x="178" y="19"/>
                    </a:moveTo>
                    <a:lnTo>
                      <a:pt x="181" y="19"/>
                    </a:lnTo>
                    <a:lnTo>
                      <a:pt x="184" y="16"/>
                    </a:lnTo>
                    <a:lnTo>
                      <a:pt x="187" y="13"/>
                    </a:lnTo>
                    <a:lnTo>
                      <a:pt x="187" y="7"/>
                    </a:lnTo>
                    <a:lnTo>
                      <a:pt x="184" y="4"/>
                    </a:lnTo>
                    <a:lnTo>
                      <a:pt x="181" y="0"/>
                    </a:lnTo>
                    <a:lnTo>
                      <a:pt x="6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9" y="19"/>
                    </a:lnTo>
                    <a:lnTo>
                      <a:pt x="178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7" name="Freeform 151">
                <a:extLst>
                  <a:ext uri="{FF2B5EF4-FFF2-40B4-BE49-F238E27FC236}">
                    <a16:creationId xmlns:a16="http://schemas.microsoft.com/office/drawing/2014/main" xmlns="" id="{CB15CC9B-BEA7-4448-9979-1BF21DE43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2" y="2177"/>
                <a:ext cx="80" cy="469"/>
              </a:xfrm>
              <a:custGeom>
                <a:avLst/>
                <a:gdLst>
                  <a:gd name="T0" fmla="*/ 14 w 80"/>
                  <a:gd name="T1" fmla="*/ 2 h 469"/>
                  <a:gd name="T2" fmla="*/ 7 w 80"/>
                  <a:gd name="T3" fmla="*/ 0 h 469"/>
                  <a:gd name="T4" fmla="*/ 1 w 80"/>
                  <a:gd name="T5" fmla="*/ 5 h 469"/>
                  <a:gd name="T6" fmla="*/ 0 w 80"/>
                  <a:gd name="T7" fmla="*/ 11 h 469"/>
                  <a:gd name="T8" fmla="*/ 4 w 80"/>
                  <a:gd name="T9" fmla="*/ 19 h 469"/>
                  <a:gd name="T10" fmla="*/ 15 w 80"/>
                  <a:gd name="T11" fmla="*/ 44 h 469"/>
                  <a:gd name="T12" fmla="*/ 26 w 80"/>
                  <a:gd name="T13" fmla="*/ 73 h 469"/>
                  <a:gd name="T14" fmla="*/ 34 w 80"/>
                  <a:gd name="T15" fmla="*/ 95 h 469"/>
                  <a:gd name="T16" fmla="*/ 39 w 80"/>
                  <a:gd name="T17" fmla="*/ 109 h 469"/>
                  <a:gd name="T18" fmla="*/ 46 w 80"/>
                  <a:gd name="T19" fmla="*/ 133 h 469"/>
                  <a:gd name="T20" fmla="*/ 50 w 80"/>
                  <a:gd name="T21" fmla="*/ 154 h 469"/>
                  <a:gd name="T22" fmla="*/ 53 w 80"/>
                  <a:gd name="T23" fmla="*/ 168 h 469"/>
                  <a:gd name="T24" fmla="*/ 55 w 80"/>
                  <a:gd name="T25" fmla="*/ 182 h 469"/>
                  <a:gd name="T26" fmla="*/ 58 w 80"/>
                  <a:gd name="T27" fmla="*/ 197 h 469"/>
                  <a:gd name="T28" fmla="*/ 60 w 80"/>
                  <a:gd name="T29" fmla="*/ 211 h 469"/>
                  <a:gd name="T30" fmla="*/ 61 w 80"/>
                  <a:gd name="T31" fmla="*/ 247 h 469"/>
                  <a:gd name="T32" fmla="*/ 60 w 80"/>
                  <a:gd name="T33" fmla="*/ 251 h 469"/>
                  <a:gd name="T34" fmla="*/ 58 w 80"/>
                  <a:gd name="T35" fmla="*/ 285 h 469"/>
                  <a:gd name="T36" fmla="*/ 55 w 80"/>
                  <a:gd name="T37" fmla="*/ 306 h 469"/>
                  <a:gd name="T38" fmla="*/ 53 w 80"/>
                  <a:gd name="T39" fmla="*/ 320 h 469"/>
                  <a:gd name="T40" fmla="*/ 46 w 80"/>
                  <a:gd name="T41" fmla="*/ 352 h 469"/>
                  <a:gd name="T42" fmla="*/ 39 w 80"/>
                  <a:gd name="T43" fmla="*/ 371 h 469"/>
                  <a:gd name="T44" fmla="*/ 34 w 80"/>
                  <a:gd name="T45" fmla="*/ 384 h 469"/>
                  <a:gd name="T46" fmla="*/ 25 w 80"/>
                  <a:gd name="T47" fmla="*/ 409 h 469"/>
                  <a:gd name="T48" fmla="*/ 15 w 80"/>
                  <a:gd name="T49" fmla="*/ 428 h 469"/>
                  <a:gd name="T50" fmla="*/ 4 w 80"/>
                  <a:gd name="T51" fmla="*/ 449 h 469"/>
                  <a:gd name="T52" fmla="*/ 1 w 80"/>
                  <a:gd name="T53" fmla="*/ 455 h 469"/>
                  <a:gd name="T54" fmla="*/ 0 w 80"/>
                  <a:gd name="T55" fmla="*/ 463 h 469"/>
                  <a:gd name="T56" fmla="*/ 6 w 80"/>
                  <a:gd name="T57" fmla="*/ 469 h 469"/>
                  <a:gd name="T58" fmla="*/ 15 w 80"/>
                  <a:gd name="T59" fmla="*/ 466 h 469"/>
                  <a:gd name="T60" fmla="*/ 19 w 80"/>
                  <a:gd name="T61" fmla="*/ 463 h 469"/>
                  <a:gd name="T62" fmla="*/ 26 w 80"/>
                  <a:gd name="T63" fmla="*/ 444 h 469"/>
                  <a:gd name="T64" fmla="*/ 38 w 80"/>
                  <a:gd name="T65" fmla="*/ 423 h 469"/>
                  <a:gd name="T66" fmla="*/ 46 w 80"/>
                  <a:gd name="T67" fmla="*/ 409 h 469"/>
                  <a:gd name="T68" fmla="*/ 53 w 80"/>
                  <a:gd name="T69" fmla="*/ 390 h 469"/>
                  <a:gd name="T70" fmla="*/ 58 w 80"/>
                  <a:gd name="T71" fmla="*/ 377 h 469"/>
                  <a:gd name="T72" fmla="*/ 65 w 80"/>
                  <a:gd name="T73" fmla="*/ 358 h 469"/>
                  <a:gd name="T74" fmla="*/ 72 w 80"/>
                  <a:gd name="T75" fmla="*/ 324 h 469"/>
                  <a:gd name="T76" fmla="*/ 74 w 80"/>
                  <a:gd name="T77" fmla="*/ 309 h 469"/>
                  <a:gd name="T78" fmla="*/ 77 w 80"/>
                  <a:gd name="T79" fmla="*/ 289 h 469"/>
                  <a:gd name="T80" fmla="*/ 79 w 80"/>
                  <a:gd name="T81" fmla="*/ 254 h 469"/>
                  <a:gd name="T82" fmla="*/ 80 w 80"/>
                  <a:gd name="T83" fmla="*/ 244 h 469"/>
                  <a:gd name="T84" fmla="*/ 79 w 80"/>
                  <a:gd name="T85" fmla="*/ 208 h 469"/>
                  <a:gd name="T86" fmla="*/ 77 w 80"/>
                  <a:gd name="T87" fmla="*/ 194 h 469"/>
                  <a:gd name="T88" fmla="*/ 74 w 80"/>
                  <a:gd name="T89" fmla="*/ 179 h 469"/>
                  <a:gd name="T90" fmla="*/ 72 w 80"/>
                  <a:gd name="T91" fmla="*/ 165 h 469"/>
                  <a:gd name="T92" fmla="*/ 69 w 80"/>
                  <a:gd name="T93" fmla="*/ 151 h 469"/>
                  <a:gd name="T94" fmla="*/ 65 w 80"/>
                  <a:gd name="T95" fmla="*/ 127 h 469"/>
                  <a:gd name="T96" fmla="*/ 58 w 80"/>
                  <a:gd name="T97" fmla="*/ 103 h 469"/>
                  <a:gd name="T98" fmla="*/ 53 w 80"/>
                  <a:gd name="T99" fmla="*/ 89 h 469"/>
                  <a:gd name="T100" fmla="*/ 46 w 80"/>
                  <a:gd name="T101" fmla="*/ 67 h 469"/>
                  <a:gd name="T102" fmla="*/ 31 w 80"/>
                  <a:gd name="T103" fmla="*/ 35 h 469"/>
                  <a:gd name="T104" fmla="*/ 20 w 80"/>
                  <a:gd name="T105" fmla="*/ 13 h 469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80" h="469">
                    <a:moveTo>
                      <a:pt x="17" y="5"/>
                    </a:moveTo>
                    <a:lnTo>
                      <a:pt x="14" y="2"/>
                    </a:lnTo>
                    <a:lnTo>
                      <a:pt x="12" y="0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1" y="5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1" y="14"/>
                    </a:lnTo>
                    <a:lnTo>
                      <a:pt x="4" y="19"/>
                    </a:lnTo>
                    <a:lnTo>
                      <a:pt x="11" y="37"/>
                    </a:lnTo>
                    <a:lnTo>
                      <a:pt x="15" y="44"/>
                    </a:lnTo>
                    <a:lnTo>
                      <a:pt x="19" y="49"/>
                    </a:lnTo>
                    <a:lnTo>
                      <a:pt x="26" y="73"/>
                    </a:lnTo>
                    <a:lnTo>
                      <a:pt x="28" y="79"/>
                    </a:lnTo>
                    <a:lnTo>
                      <a:pt x="34" y="95"/>
                    </a:lnTo>
                    <a:lnTo>
                      <a:pt x="36" y="103"/>
                    </a:lnTo>
                    <a:lnTo>
                      <a:pt x="39" y="109"/>
                    </a:lnTo>
                    <a:lnTo>
                      <a:pt x="42" y="125"/>
                    </a:lnTo>
                    <a:lnTo>
                      <a:pt x="46" y="133"/>
                    </a:lnTo>
                    <a:lnTo>
                      <a:pt x="47" y="138"/>
                    </a:lnTo>
                    <a:lnTo>
                      <a:pt x="50" y="154"/>
                    </a:lnTo>
                    <a:lnTo>
                      <a:pt x="52" y="160"/>
                    </a:lnTo>
                    <a:lnTo>
                      <a:pt x="53" y="168"/>
                    </a:lnTo>
                    <a:lnTo>
                      <a:pt x="55" y="174"/>
                    </a:lnTo>
                    <a:lnTo>
                      <a:pt x="55" y="182"/>
                    </a:lnTo>
                    <a:lnTo>
                      <a:pt x="57" y="190"/>
                    </a:lnTo>
                    <a:lnTo>
                      <a:pt x="58" y="197"/>
                    </a:lnTo>
                    <a:lnTo>
                      <a:pt x="58" y="205"/>
                    </a:lnTo>
                    <a:lnTo>
                      <a:pt x="60" y="211"/>
                    </a:lnTo>
                    <a:lnTo>
                      <a:pt x="60" y="239"/>
                    </a:lnTo>
                    <a:lnTo>
                      <a:pt x="61" y="247"/>
                    </a:lnTo>
                    <a:lnTo>
                      <a:pt x="61" y="244"/>
                    </a:lnTo>
                    <a:lnTo>
                      <a:pt x="60" y="251"/>
                    </a:lnTo>
                    <a:lnTo>
                      <a:pt x="60" y="279"/>
                    </a:lnTo>
                    <a:lnTo>
                      <a:pt x="58" y="285"/>
                    </a:lnTo>
                    <a:lnTo>
                      <a:pt x="58" y="293"/>
                    </a:lnTo>
                    <a:lnTo>
                      <a:pt x="55" y="306"/>
                    </a:lnTo>
                    <a:lnTo>
                      <a:pt x="55" y="312"/>
                    </a:lnTo>
                    <a:lnTo>
                      <a:pt x="53" y="320"/>
                    </a:lnTo>
                    <a:lnTo>
                      <a:pt x="47" y="346"/>
                    </a:lnTo>
                    <a:lnTo>
                      <a:pt x="46" y="352"/>
                    </a:lnTo>
                    <a:lnTo>
                      <a:pt x="42" y="358"/>
                    </a:lnTo>
                    <a:lnTo>
                      <a:pt x="39" y="371"/>
                    </a:lnTo>
                    <a:lnTo>
                      <a:pt x="36" y="377"/>
                    </a:lnTo>
                    <a:lnTo>
                      <a:pt x="34" y="384"/>
                    </a:lnTo>
                    <a:lnTo>
                      <a:pt x="28" y="396"/>
                    </a:lnTo>
                    <a:lnTo>
                      <a:pt x="25" y="409"/>
                    </a:lnTo>
                    <a:lnTo>
                      <a:pt x="22" y="417"/>
                    </a:lnTo>
                    <a:lnTo>
                      <a:pt x="15" y="428"/>
                    </a:lnTo>
                    <a:lnTo>
                      <a:pt x="11" y="435"/>
                    </a:lnTo>
                    <a:lnTo>
                      <a:pt x="4" y="449"/>
                    </a:lnTo>
                    <a:lnTo>
                      <a:pt x="0" y="457"/>
                    </a:lnTo>
                    <a:lnTo>
                      <a:pt x="1" y="455"/>
                    </a:lnTo>
                    <a:lnTo>
                      <a:pt x="0" y="457"/>
                    </a:lnTo>
                    <a:lnTo>
                      <a:pt x="0" y="463"/>
                    </a:lnTo>
                    <a:lnTo>
                      <a:pt x="3" y="466"/>
                    </a:lnTo>
                    <a:lnTo>
                      <a:pt x="6" y="469"/>
                    </a:lnTo>
                    <a:lnTo>
                      <a:pt x="12" y="469"/>
                    </a:lnTo>
                    <a:lnTo>
                      <a:pt x="15" y="466"/>
                    </a:lnTo>
                    <a:lnTo>
                      <a:pt x="17" y="465"/>
                    </a:lnTo>
                    <a:lnTo>
                      <a:pt x="19" y="463"/>
                    </a:lnTo>
                    <a:lnTo>
                      <a:pt x="20" y="455"/>
                    </a:lnTo>
                    <a:lnTo>
                      <a:pt x="26" y="444"/>
                    </a:lnTo>
                    <a:lnTo>
                      <a:pt x="31" y="438"/>
                    </a:lnTo>
                    <a:lnTo>
                      <a:pt x="38" y="423"/>
                    </a:lnTo>
                    <a:lnTo>
                      <a:pt x="41" y="415"/>
                    </a:lnTo>
                    <a:lnTo>
                      <a:pt x="46" y="409"/>
                    </a:lnTo>
                    <a:lnTo>
                      <a:pt x="47" y="403"/>
                    </a:lnTo>
                    <a:lnTo>
                      <a:pt x="53" y="390"/>
                    </a:lnTo>
                    <a:lnTo>
                      <a:pt x="55" y="384"/>
                    </a:lnTo>
                    <a:lnTo>
                      <a:pt x="58" y="377"/>
                    </a:lnTo>
                    <a:lnTo>
                      <a:pt x="61" y="365"/>
                    </a:lnTo>
                    <a:lnTo>
                      <a:pt x="65" y="358"/>
                    </a:lnTo>
                    <a:lnTo>
                      <a:pt x="66" y="349"/>
                    </a:lnTo>
                    <a:lnTo>
                      <a:pt x="72" y="324"/>
                    </a:lnTo>
                    <a:lnTo>
                      <a:pt x="74" y="316"/>
                    </a:lnTo>
                    <a:lnTo>
                      <a:pt x="74" y="309"/>
                    </a:lnTo>
                    <a:lnTo>
                      <a:pt x="77" y="297"/>
                    </a:lnTo>
                    <a:lnTo>
                      <a:pt x="77" y="289"/>
                    </a:lnTo>
                    <a:lnTo>
                      <a:pt x="79" y="282"/>
                    </a:lnTo>
                    <a:lnTo>
                      <a:pt x="79" y="254"/>
                    </a:lnTo>
                    <a:lnTo>
                      <a:pt x="80" y="247"/>
                    </a:lnTo>
                    <a:lnTo>
                      <a:pt x="80" y="244"/>
                    </a:lnTo>
                    <a:lnTo>
                      <a:pt x="79" y="236"/>
                    </a:lnTo>
                    <a:lnTo>
                      <a:pt x="79" y="208"/>
                    </a:lnTo>
                    <a:lnTo>
                      <a:pt x="77" y="201"/>
                    </a:lnTo>
                    <a:lnTo>
                      <a:pt x="77" y="194"/>
                    </a:lnTo>
                    <a:lnTo>
                      <a:pt x="76" y="187"/>
                    </a:lnTo>
                    <a:lnTo>
                      <a:pt x="74" y="179"/>
                    </a:lnTo>
                    <a:lnTo>
                      <a:pt x="74" y="171"/>
                    </a:lnTo>
                    <a:lnTo>
                      <a:pt x="72" y="165"/>
                    </a:lnTo>
                    <a:lnTo>
                      <a:pt x="71" y="157"/>
                    </a:lnTo>
                    <a:lnTo>
                      <a:pt x="69" y="151"/>
                    </a:lnTo>
                    <a:lnTo>
                      <a:pt x="66" y="135"/>
                    </a:lnTo>
                    <a:lnTo>
                      <a:pt x="65" y="127"/>
                    </a:lnTo>
                    <a:lnTo>
                      <a:pt x="61" y="119"/>
                    </a:lnTo>
                    <a:lnTo>
                      <a:pt x="58" y="103"/>
                    </a:lnTo>
                    <a:lnTo>
                      <a:pt x="55" y="97"/>
                    </a:lnTo>
                    <a:lnTo>
                      <a:pt x="53" y="89"/>
                    </a:lnTo>
                    <a:lnTo>
                      <a:pt x="47" y="73"/>
                    </a:lnTo>
                    <a:lnTo>
                      <a:pt x="46" y="67"/>
                    </a:lnTo>
                    <a:lnTo>
                      <a:pt x="34" y="43"/>
                    </a:lnTo>
                    <a:lnTo>
                      <a:pt x="31" y="35"/>
                    </a:lnTo>
                    <a:lnTo>
                      <a:pt x="26" y="27"/>
                    </a:lnTo>
                    <a:lnTo>
                      <a:pt x="20" y="13"/>
                    </a:lnTo>
                    <a:lnTo>
                      <a:pt x="1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8" name="Freeform 152">
                <a:extLst>
                  <a:ext uri="{FF2B5EF4-FFF2-40B4-BE49-F238E27FC236}">
                    <a16:creationId xmlns:a16="http://schemas.microsoft.com/office/drawing/2014/main" xmlns="" id="{2E7D5A88-EE09-4D80-92DA-562CFB9C6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" y="2256"/>
                <a:ext cx="228" cy="19"/>
              </a:xfrm>
              <a:custGeom>
                <a:avLst/>
                <a:gdLst>
                  <a:gd name="T0" fmla="*/ 219 w 228"/>
                  <a:gd name="T1" fmla="*/ 19 h 19"/>
                  <a:gd name="T2" fmla="*/ 222 w 228"/>
                  <a:gd name="T3" fmla="*/ 19 h 19"/>
                  <a:gd name="T4" fmla="*/ 225 w 228"/>
                  <a:gd name="T5" fmla="*/ 16 h 19"/>
                  <a:gd name="T6" fmla="*/ 228 w 228"/>
                  <a:gd name="T7" fmla="*/ 13 h 19"/>
                  <a:gd name="T8" fmla="*/ 228 w 228"/>
                  <a:gd name="T9" fmla="*/ 7 h 19"/>
                  <a:gd name="T10" fmla="*/ 225 w 228"/>
                  <a:gd name="T11" fmla="*/ 4 h 19"/>
                  <a:gd name="T12" fmla="*/ 222 w 228"/>
                  <a:gd name="T13" fmla="*/ 0 h 19"/>
                  <a:gd name="T14" fmla="*/ 6 w 228"/>
                  <a:gd name="T15" fmla="*/ 0 h 19"/>
                  <a:gd name="T16" fmla="*/ 3 w 228"/>
                  <a:gd name="T17" fmla="*/ 4 h 19"/>
                  <a:gd name="T18" fmla="*/ 0 w 228"/>
                  <a:gd name="T19" fmla="*/ 7 h 19"/>
                  <a:gd name="T20" fmla="*/ 0 w 228"/>
                  <a:gd name="T21" fmla="*/ 13 h 19"/>
                  <a:gd name="T22" fmla="*/ 3 w 228"/>
                  <a:gd name="T23" fmla="*/ 16 h 19"/>
                  <a:gd name="T24" fmla="*/ 6 w 228"/>
                  <a:gd name="T25" fmla="*/ 19 h 19"/>
                  <a:gd name="T26" fmla="*/ 9 w 228"/>
                  <a:gd name="T27" fmla="*/ 19 h 19"/>
                  <a:gd name="T28" fmla="*/ 219 w 228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8" h="19">
                    <a:moveTo>
                      <a:pt x="219" y="19"/>
                    </a:moveTo>
                    <a:lnTo>
                      <a:pt x="222" y="19"/>
                    </a:lnTo>
                    <a:lnTo>
                      <a:pt x="225" y="16"/>
                    </a:lnTo>
                    <a:lnTo>
                      <a:pt x="228" y="13"/>
                    </a:lnTo>
                    <a:lnTo>
                      <a:pt x="228" y="7"/>
                    </a:lnTo>
                    <a:lnTo>
                      <a:pt x="225" y="4"/>
                    </a:lnTo>
                    <a:lnTo>
                      <a:pt x="222" y="0"/>
                    </a:lnTo>
                    <a:lnTo>
                      <a:pt x="6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9" y="19"/>
                    </a:lnTo>
                    <a:lnTo>
                      <a:pt x="219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9" name="Freeform 153">
                <a:extLst>
                  <a:ext uri="{FF2B5EF4-FFF2-40B4-BE49-F238E27FC236}">
                    <a16:creationId xmlns:a16="http://schemas.microsoft.com/office/drawing/2014/main" xmlns="" id="{F046373E-D805-46AC-8965-89440D376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" y="1990"/>
                <a:ext cx="19" cy="285"/>
              </a:xfrm>
              <a:custGeom>
                <a:avLst/>
                <a:gdLst>
                  <a:gd name="T0" fmla="*/ 0 w 19"/>
                  <a:gd name="T1" fmla="*/ 276 h 285"/>
                  <a:gd name="T2" fmla="*/ 0 w 19"/>
                  <a:gd name="T3" fmla="*/ 279 h 285"/>
                  <a:gd name="T4" fmla="*/ 3 w 19"/>
                  <a:gd name="T5" fmla="*/ 282 h 285"/>
                  <a:gd name="T6" fmla="*/ 6 w 19"/>
                  <a:gd name="T7" fmla="*/ 285 h 285"/>
                  <a:gd name="T8" fmla="*/ 12 w 19"/>
                  <a:gd name="T9" fmla="*/ 285 h 285"/>
                  <a:gd name="T10" fmla="*/ 16 w 19"/>
                  <a:gd name="T11" fmla="*/ 282 h 285"/>
                  <a:gd name="T12" fmla="*/ 19 w 19"/>
                  <a:gd name="T13" fmla="*/ 279 h 285"/>
                  <a:gd name="T14" fmla="*/ 19 w 19"/>
                  <a:gd name="T15" fmla="*/ 6 h 285"/>
                  <a:gd name="T16" fmla="*/ 16 w 19"/>
                  <a:gd name="T17" fmla="*/ 3 h 285"/>
                  <a:gd name="T18" fmla="*/ 12 w 19"/>
                  <a:gd name="T19" fmla="*/ 0 h 285"/>
                  <a:gd name="T20" fmla="*/ 6 w 19"/>
                  <a:gd name="T21" fmla="*/ 0 h 285"/>
                  <a:gd name="T22" fmla="*/ 3 w 19"/>
                  <a:gd name="T23" fmla="*/ 3 h 285"/>
                  <a:gd name="T24" fmla="*/ 0 w 19"/>
                  <a:gd name="T25" fmla="*/ 6 h 285"/>
                  <a:gd name="T26" fmla="*/ 0 w 19"/>
                  <a:gd name="T27" fmla="*/ 9 h 285"/>
                  <a:gd name="T28" fmla="*/ 0 w 19"/>
                  <a:gd name="T29" fmla="*/ 276 h 2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" h="285">
                    <a:moveTo>
                      <a:pt x="0" y="276"/>
                    </a:moveTo>
                    <a:lnTo>
                      <a:pt x="0" y="279"/>
                    </a:lnTo>
                    <a:lnTo>
                      <a:pt x="3" y="282"/>
                    </a:lnTo>
                    <a:lnTo>
                      <a:pt x="6" y="285"/>
                    </a:lnTo>
                    <a:lnTo>
                      <a:pt x="12" y="285"/>
                    </a:lnTo>
                    <a:lnTo>
                      <a:pt x="16" y="282"/>
                    </a:lnTo>
                    <a:lnTo>
                      <a:pt x="19" y="279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2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10" name="Freeform 154">
                <a:extLst>
                  <a:ext uri="{FF2B5EF4-FFF2-40B4-BE49-F238E27FC236}">
                    <a16:creationId xmlns:a16="http://schemas.microsoft.com/office/drawing/2014/main" xmlns="" id="{A6A610A3-2261-4696-9E24-CBB1CC555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9" y="1990"/>
                <a:ext cx="1743" cy="19"/>
              </a:xfrm>
              <a:custGeom>
                <a:avLst/>
                <a:gdLst>
                  <a:gd name="T0" fmla="*/ 1733 w 1743"/>
                  <a:gd name="T1" fmla="*/ 19 h 19"/>
                  <a:gd name="T2" fmla="*/ 1736 w 1743"/>
                  <a:gd name="T3" fmla="*/ 19 h 19"/>
                  <a:gd name="T4" fmla="*/ 1740 w 1743"/>
                  <a:gd name="T5" fmla="*/ 16 h 19"/>
                  <a:gd name="T6" fmla="*/ 1743 w 1743"/>
                  <a:gd name="T7" fmla="*/ 13 h 19"/>
                  <a:gd name="T8" fmla="*/ 1743 w 1743"/>
                  <a:gd name="T9" fmla="*/ 6 h 19"/>
                  <a:gd name="T10" fmla="*/ 1740 w 1743"/>
                  <a:gd name="T11" fmla="*/ 3 h 19"/>
                  <a:gd name="T12" fmla="*/ 1736 w 1743"/>
                  <a:gd name="T13" fmla="*/ 0 h 19"/>
                  <a:gd name="T14" fmla="*/ 6 w 1743"/>
                  <a:gd name="T15" fmla="*/ 0 h 19"/>
                  <a:gd name="T16" fmla="*/ 3 w 1743"/>
                  <a:gd name="T17" fmla="*/ 3 h 19"/>
                  <a:gd name="T18" fmla="*/ 0 w 1743"/>
                  <a:gd name="T19" fmla="*/ 6 h 19"/>
                  <a:gd name="T20" fmla="*/ 0 w 1743"/>
                  <a:gd name="T21" fmla="*/ 13 h 19"/>
                  <a:gd name="T22" fmla="*/ 3 w 1743"/>
                  <a:gd name="T23" fmla="*/ 16 h 19"/>
                  <a:gd name="T24" fmla="*/ 6 w 1743"/>
                  <a:gd name="T25" fmla="*/ 19 h 19"/>
                  <a:gd name="T26" fmla="*/ 9 w 1743"/>
                  <a:gd name="T27" fmla="*/ 19 h 19"/>
                  <a:gd name="T28" fmla="*/ 1733 w 1743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743" h="19">
                    <a:moveTo>
                      <a:pt x="1733" y="19"/>
                    </a:moveTo>
                    <a:lnTo>
                      <a:pt x="1736" y="19"/>
                    </a:lnTo>
                    <a:lnTo>
                      <a:pt x="1740" y="16"/>
                    </a:lnTo>
                    <a:lnTo>
                      <a:pt x="1743" y="13"/>
                    </a:lnTo>
                    <a:lnTo>
                      <a:pt x="1743" y="6"/>
                    </a:lnTo>
                    <a:lnTo>
                      <a:pt x="1740" y="3"/>
                    </a:lnTo>
                    <a:lnTo>
                      <a:pt x="1736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9" y="19"/>
                    </a:lnTo>
                    <a:lnTo>
                      <a:pt x="173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11" name="Freeform 155">
                <a:extLst>
                  <a:ext uri="{FF2B5EF4-FFF2-40B4-BE49-F238E27FC236}">
                    <a16:creationId xmlns:a16="http://schemas.microsoft.com/office/drawing/2014/main" xmlns="" id="{1454C9B7-58FC-4457-A7E8-EE0D6F3D9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9" y="2732"/>
                <a:ext cx="1089" cy="19"/>
              </a:xfrm>
              <a:custGeom>
                <a:avLst/>
                <a:gdLst>
                  <a:gd name="T0" fmla="*/ 1080 w 1089"/>
                  <a:gd name="T1" fmla="*/ 19 h 19"/>
                  <a:gd name="T2" fmla="*/ 1083 w 1089"/>
                  <a:gd name="T3" fmla="*/ 19 h 19"/>
                  <a:gd name="T4" fmla="*/ 1086 w 1089"/>
                  <a:gd name="T5" fmla="*/ 16 h 19"/>
                  <a:gd name="T6" fmla="*/ 1089 w 1089"/>
                  <a:gd name="T7" fmla="*/ 13 h 19"/>
                  <a:gd name="T8" fmla="*/ 1089 w 1089"/>
                  <a:gd name="T9" fmla="*/ 6 h 19"/>
                  <a:gd name="T10" fmla="*/ 1086 w 1089"/>
                  <a:gd name="T11" fmla="*/ 3 h 19"/>
                  <a:gd name="T12" fmla="*/ 1083 w 1089"/>
                  <a:gd name="T13" fmla="*/ 0 h 19"/>
                  <a:gd name="T14" fmla="*/ 6 w 1089"/>
                  <a:gd name="T15" fmla="*/ 0 h 19"/>
                  <a:gd name="T16" fmla="*/ 3 w 1089"/>
                  <a:gd name="T17" fmla="*/ 3 h 19"/>
                  <a:gd name="T18" fmla="*/ 0 w 1089"/>
                  <a:gd name="T19" fmla="*/ 6 h 19"/>
                  <a:gd name="T20" fmla="*/ 0 w 1089"/>
                  <a:gd name="T21" fmla="*/ 13 h 19"/>
                  <a:gd name="T22" fmla="*/ 3 w 1089"/>
                  <a:gd name="T23" fmla="*/ 16 h 19"/>
                  <a:gd name="T24" fmla="*/ 6 w 1089"/>
                  <a:gd name="T25" fmla="*/ 19 h 19"/>
                  <a:gd name="T26" fmla="*/ 9 w 1089"/>
                  <a:gd name="T27" fmla="*/ 19 h 19"/>
                  <a:gd name="T28" fmla="*/ 1080 w 1089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89" h="19">
                    <a:moveTo>
                      <a:pt x="1080" y="19"/>
                    </a:moveTo>
                    <a:lnTo>
                      <a:pt x="1083" y="19"/>
                    </a:lnTo>
                    <a:lnTo>
                      <a:pt x="1086" y="16"/>
                    </a:lnTo>
                    <a:lnTo>
                      <a:pt x="1089" y="13"/>
                    </a:lnTo>
                    <a:lnTo>
                      <a:pt x="1089" y="6"/>
                    </a:lnTo>
                    <a:lnTo>
                      <a:pt x="1086" y="3"/>
                    </a:lnTo>
                    <a:lnTo>
                      <a:pt x="1083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9" y="19"/>
                    </a:lnTo>
                    <a:lnTo>
                      <a:pt x="108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12" name="Freeform 156">
                <a:extLst>
                  <a:ext uri="{FF2B5EF4-FFF2-40B4-BE49-F238E27FC236}">
                    <a16:creationId xmlns:a16="http://schemas.microsoft.com/office/drawing/2014/main" xmlns="" id="{402E1377-B4BE-4542-A234-80B8ABA93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7" y="2405"/>
                <a:ext cx="198" cy="19"/>
              </a:xfrm>
              <a:custGeom>
                <a:avLst/>
                <a:gdLst>
                  <a:gd name="T0" fmla="*/ 9 w 198"/>
                  <a:gd name="T1" fmla="*/ 0 h 19"/>
                  <a:gd name="T2" fmla="*/ 6 w 198"/>
                  <a:gd name="T3" fmla="*/ 0 h 19"/>
                  <a:gd name="T4" fmla="*/ 3 w 198"/>
                  <a:gd name="T5" fmla="*/ 4 h 19"/>
                  <a:gd name="T6" fmla="*/ 0 w 198"/>
                  <a:gd name="T7" fmla="*/ 7 h 19"/>
                  <a:gd name="T8" fmla="*/ 0 w 198"/>
                  <a:gd name="T9" fmla="*/ 13 h 19"/>
                  <a:gd name="T10" fmla="*/ 3 w 198"/>
                  <a:gd name="T11" fmla="*/ 16 h 19"/>
                  <a:gd name="T12" fmla="*/ 6 w 198"/>
                  <a:gd name="T13" fmla="*/ 19 h 19"/>
                  <a:gd name="T14" fmla="*/ 192 w 198"/>
                  <a:gd name="T15" fmla="*/ 19 h 19"/>
                  <a:gd name="T16" fmla="*/ 195 w 198"/>
                  <a:gd name="T17" fmla="*/ 16 h 19"/>
                  <a:gd name="T18" fmla="*/ 198 w 198"/>
                  <a:gd name="T19" fmla="*/ 13 h 19"/>
                  <a:gd name="T20" fmla="*/ 198 w 198"/>
                  <a:gd name="T21" fmla="*/ 7 h 19"/>
                  <a:gd name="T22" fmla="*/ 195 w 198"/>
                  <a:gd name="T23" fmla="*/ 4 h 19"/>
                  <a:gd name="T24" fmla="*/ 192 w 198"/>
                  <a:gd name="T25" fmla="*/ 0 h 19"/>
                  <a:gd name="T26" fmla="*/ 188 w 198"/>
                  <a:gd name="T27" fmla="*/ 0 h 19"/>
                  <a:gd name="T28" fmla="*/ 9 w 198"/>
                  <a:gd name="T29" fmla="*/ 0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8" h="19">
                    <a:moveTo>
                      <a:pt x="9" y="0"/>
                    </a:moveTo>
                    <a:lnTo>
                      <a:pt x="6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6" y="19"/>
                    </a:lnTo>
                    <a:lnTo>
                      <a:pt x="192" y="19"/>
                    </a:lnTo>
                    <a:lnTo>
                      <a:pt x="195" y="16"/>
                    </a:lnTo>
                    <a:lnTo>
                      <a:pt x="198" y="13"/>
                    </a:lnTo>
                    <a:lnTo>
                      <a:pt x="198" y="7"/>
                    </a:lnTo>
                    <a:lnTo>
                      <a:pt x="195" y="4"/>
                    </a:lnTo>
                    <a:lnTo>
                      <a:pt x="192" y="0"/>
                    </a:lnTo>
                    <a:lnTo>
                      <a:pt x="188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89" name="Rectangle 157">
              <a:extLst>
                <a:ext uri="{FF2B5EF4-FFF2-40B4-BE49-F238E27FC236}">
                  <a16:creationId xmlns:a16="http://schemas.microsoft.com/office/drawing/2014/main" xmlns="" id="{16C7D69E-363A-41D7-BCF6-4F33677B5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" y="2310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F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90" name="Rectangle 158">
              <a:extLst>
                <a:ext uri="{FF2B5EF4-FFF2-40B4-BE49-F238E27FC236}">
                  <a16:creationId xmlns:a16="http://schemas.microsoft.com/office/drawing/2014/main" xmlns="" id="{0E25BF8C-9A51-462A-A94D-02BAEA88F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654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91" name="Text Box 65">
              <a:extLst>
                <a:ext uri="{FF2B5EF4-FFF2-40B4-BE49-F238E27FC236}">
                  <a16:creationId xmlns:a16="http://schemas.microsoft.com/office/drawing/2014/main" xmlns="" id="{9BB2E153-8CDB-4433-A5C3-B45E7FF5C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1618"/>
              <a:ext cx="15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Logic Diagram</a:t>
              </a:r>
            </a:p>
          </p:txBody>
        </p:sp>
      </p:grpSp>
      <p:grpSp>
        <p:nvGrpSpPr>
          <p:cNvPr id="235698" name="Group 178">
            <a:extLst>
              <a:ext uri="{FF2B5EF4-FFF2-40B4-BE49-F238E27FC236}">
                <a16:creationId xmlns:a16="http://schemas.microsoft.com/office/drawing/2014/main" xmlns="" id="{F9022455-9CE7-4AB1-AA6B-3D6E96E59A01}"/>
              </a:ext>
            </a:extLst>
          </p:cNvPr>
          <p:cNvGrpSpPr>
            <a:grpSpLocks/>
          </p:cNvGrpSpPr>
          <p:nvPr/>
        </p:nvGrpSpPr>
        <p:grpSpPr bwMode="auto">
          <a:xfrm>
            <a:off x="6205538" y="1171575"/>
            <a:ext cx="3357562" cy="1155700"/>
            <a:chOff x="2949" y="738"/>
            <a:chExt cx="2115" cy="728"/>
          </a:xfrm>
        </p:grpSpPr>
        <p:sp>
          <p:nvSpPr>
            <p:cNvPr id="30774" name="Text Box 11">
              <a:extLst>
                <a:ext uri="{FF2B5EF4-FFF2-40B4-BE49-F238E27FC236}">
                  <a16:creationId xmlns:a16="http://schemas.microsoft.com/office/drawing/2014/main" xmlns="" id="{CB8114E6-1EBE-4E67-9350-10796624C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738"/>
              <a:ext cx="21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Equation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grpSp>
          <p:nvGrpSpPr>
            <p:cNvPr id="30775" name="Group 177">
              <a:extLst>
                <a:ext uri="{FF2B5EF4-FFF2-40B4-BE49-F238E27FC236}">
                  <a16:creationId xmlns:a16="http://schemas.microsoft.com/office/drawing/2014/main" xmlns="" id="{7B3DE27B-EA1B-4C22-ACA4-458F5B274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2" y="1140"/>
              <a:ext cx="1204" cy="326"/>
              <a:chOff x="3172" y="1140"/>
              <a:chExt cx="1204" cy="326"/>
            </a:xfrm>
          </p:grpSpPr>
          <p:sp>
            <p:nvSpPr>
              <p:cNvPr id="30776" name="Line 164">
                <a:extLst>
                  <a:ext uri="{FF2B5EF4-FFF2-40B4-BE49-F238E27FC236}">
                    <a16:creationId xmlns:a16="http://schemas.microsoft.com/office/drawing/2014/main" xmlns="" id="{D5B4D064-6590-4084-A889-20E4C85FD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2" y="1187"/>
                <a:ext cx="205" cy="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7" name="Rectangle 165">
                <a:extLst>
                  <a:ext uri="{FF2B5EF4-FFF2-40B4-BE49-F238E27FC236}">
                    <a16:creationId xmlns:a16="http://schemas.microsoft.com/office/drawing/2014/main" xmlns="" id="{28DBA588-0140-4BC4-A92F-3CB5AEF65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168"/>
                <a:ext cx="165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Z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78" name="Rectangle 167">
                <a:extLst>
                  <a:ext uri="{FF2B5EF4-FFF2-40B4-BE49-F238E27FC236}">
                    <a16:creationId xmlns:a16="http://schemas.microsoft.com/office/drawing/2014/main" xmlns="" id="{7AF9EDFF-B89D-415C-89BC-D4CA812FE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168"/>
                <a:ext cx="179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Y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79" name="Rectangle 168">
                <a:extLst>
                  <a:ext uri="{FF2B5EF4-FFF2-40B4-BE49-F238E27FC236}">
                    <a16:creationId xmlns:a16="http://schemas.microsoft.com/office/drawing/2014/main" xmlns="" id="{DAF58B46-C4BF-4E5A-8973-BF439ED21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3" y="1168"/>
                <a:ext cx="62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0" name="Rectangle 169">
                <a:extLst>
                  <a:ext uri="{FF2B5EF4-FFF2-40B4-BE49-F238E27FC236}">
                    <a16:creationId xmlns:a16="http://schemas.microsoft.com/office/drawing/2014/main" xmlns="" id="{1D0DD5E9-D968-40B2-9D12-F94C8A280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1168"/>
                <a:ext cx="241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X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1" name="Rectangle 170">
                <a:extLst>
                  <a:ext uri="{FF2B5EF4-FFF2-40B4-BE49-F238E27FC236}">
                    <a16:creationId xmlns:a16="http://schemas.microsoft.com/office/drawing/2014/main" xmlns="" id="{DE588B00-5250-488B-B9EF-6AA982C1A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168"/>
                <a:ext cx="62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2" name="Rectangle 171">
                <a:extLst>
                  <a:ext uri="{FF2B5EF4-FFF2-40B4-BE49-F238E27FC236}">
                    <a16:creationId xmlns:a16="http://schemas.microsoft.com/office/drawing/2014/main" xmlns="" id="{26F85F15-5DFB-463C-9821-45AB14492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4" y="1168"/>
                <a:ext cx="62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3" name="Rectangle 172">
                <a:extLst>
                  <a:ext uri="{FF2B5EF4-FFF2-40B4-BE49-F238E27FC236}">
                    <a16:creationId xmlns:a16="http://schemas.microsoft.com/office/drawing/2014/main" xmlns="" id="{DE0D8EE8-0609-4400-B86F-784E85ED7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2" y="1168"/>
                <a:ext cx="151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</a:rPr>
                  <a:t>F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4" name="Rectangle 174">
                <a:extLst>
                  <a:ext uri="{FF2B5EF4-FFF2-40B4-BE49-F238E27FC236}">
                    <a16:creationId xmlns:a16="http://schemas.microsoft.com/office/drawing/2014/main" xmlns="" id="{044F6F37-29C3-489D-9979-7C8A72DA0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0" y="1140"/>
                <a:ext cx="136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+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5" name="Rectangle 175">
                <a:extLst>
                  <a:ext uri="{FF2B5EF4-FFF2-40B4-BE49-F238E27FC236}">
                    <a16:creationId xmlns:a16="http://schemas.microsoft.com/office/drawing/2014/main" xmlns="" id="{EC190D7C-AA58-474D-BF4D-05230C00F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4" y="1140"/>
                <a:ext cx="136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100" b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0727" name="Group 163">
            <a:extLst>
              <a:ext uri="{FF2B5EF4-FFF2-40B4-BE49-F238E27FC236}">
                <a16:creationId xmlns:a16="http://schemas.microsoft.com/office/drawing/2014/main" xmlns="" id="{EA6A0A0A-76A6-4107-B4BB-377BA9DCDA43}"/>
              </a:ext>
            </a:extLst>
          </p:cNvPr>
          <p:cNvGrpSpPr>
            <a:grpSpLocks/>
          </p:cNvGrpSpPr>
          <p:nvPr/>
        </p:nvGrpSpPr>
        <p:grpSpPr bwMode="auto">
          <a:xfrm>
            <a:off x="2422525" y="1150939"/>
            <a:ext cx="3060700" cy="3711575"/>
            <a:chOff x="566" y="725"/>
            <a:chExt cx="1928" cy="2338"/>
          </a:xfrm>
        </p:grpSpPr>
        <p:sp>
          <p:nvSpPr>
            <p:cNvPr id="30728" name="Text Box 63">
              <a:extLst>
                <a:ext uri="{FF2B5EF4-FFF2-40B4-BE49-F238E27FC236}">
                  <a16:creationId xmlns:a16="http://schemas.microsoft.com/office/drawing/2014/main" xmlns="" id="{CA9B5C97-BFDC-451A-8B65-A142DE1C9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" y="725"/>
              <a:ext cx="11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Truth Table</a:t>
              </a:r>
            </a:p>
          </p:txBody>
        </p:sp>
        <p:grpSp>
          <p:nvGrpSpPr>
            <p:cNvPr id="30729" name="Group 88">
              <a:extLst>
                <a:ext uri="{FF2B5EF4-FFF2-40B4-BE49-F238E27FC236}">
                  <a16:creationId xmlns:a16="http://schemas.microsoft.com/office/drawing/2014/main" xmlns="" id="{8BD6A14C-53ED-4795-B88F-22CF3F12E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6" y="975"/>
              <a:ext cx="1928" cy="2088"/>
              <a:chOff x="568" y="975"/>
              <a:chExt cx="1928" cy="2088"/>
            </a:xfrm>
          </p:grpSpPr>
          <p:sp>
            <p:nvSpPr>
              <p:cNvPr id="30743" name="Rectangle 89">
                <a:extLst>
                  <a:ext uri="{FF2B5EF4-FFF2-40B4-BE49-F238E27FC236}">
                    <a16:creationId xmlns:a16="http://schemas.microsoft.com/office/drawing/2014/main" xmlns="" id="{EB4BC81E-9F6D-4E0A-B4C2-8B4C2D765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2831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744" name="Rectangle 90">
                <a:extLst>
                  <a:ext uri="{FF2B5EF4-FFF2-40B4-BE49-F238E27FC236}">
                    <a16:creationId xmlns:a16="http://schemas.microsoft.com/office/drawing/2014/main" xmlns="" id="{032D7CBF-823E-4641-B80A-2FA2BE520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2831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1 1 1</a:t>
                </a:r>
              </a:p>
            </p:txBody>
          </p:sp>
          <p:sp>
            <p:nvSpPr>
              <p:cNvPr id="30745" name="Rectangle 91">
                <a:extLst>
                  <a:ext uri="{FF2B5EF4-FFF2-40B4-BE49-F238E27FC236}">
                    <a16:creationId xmlns:a16="http://schemas.microsoft.com/office/drawing/2014/main" xmlns="" id="{86C5FEFB-23C5-4894-A455-8264C4A3D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2599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746" name="Rectangle 92">
                <a:extLst>
                  <a:ext uri="{FF2B5EF4-FFF2-40B4-BE49-F238E27FC236}">
                    <a16:creationId xmlns:a16="http://schemas.microsoft.com/office/drawing/2014/main" xmlns="" id="{1E68DD96-62E2-4532-A068-3E30E8178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2599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1 1 0</a:t>
                </a:r>
              </a:p>
            </p:txBody>
          </p:sp>
          <p:sp>
            <p:nvSpPr>
              <p:cNvPr id="30747" name="Rectangle 93">
                <a:extLst>
                  <a:ext uri="{FF2B5EF4-FFF2-40B4-BE49-F238E27FC236}">
                    <a16:creationId xmlns:a16="http://schemas.microsoft.com/office/drawing/2014/main" xmlns="" id="{87A53AC7-82F9-4442-BA5E-8FB4323A2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2367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748" name="Rectangle 94">
                <a:extLst>
                  <a:ext uri="{FF2B5EF4-FFF2-40B4-BE49-F238E27FC236}">
                    <a16:creationId xmlns:a16="http://schemas.microsoft.com/office/drawing/2014/main" xmlns="" id="{142002F2-E8EB-4FB5-A705-B2113A810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2367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1 0 1</a:t>
                </a:r>
              </a:p>
            </p:txBody>
          </p:sp>
          <p:sp>
            <p:nvSpPr>
              <p:cNvPr id="30749" name="Rectangle 95">
                <a:extLst>
                  <a:ext uri="{FF2B5EF4-FFF2-40B4-BE49-F238E27FC236}">
                    <a16:creationId xmlns:a16="http://schemas.microsoft.com/office/drawing/2014/main" xmlns="" id="{35435117-45F4-4AE3-B17C-7A85DC279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2135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750" name="Rectangle 96">
                <a:extLst>
                  <a:ext uri="{FF2B5EF4-FFF2-40B4-BE49-F238E27FC236}">
                    <a16:creationId xmlns:a16="http://schemas.microsoft.com/office/drawing/2014/main" xmlns="" id="{23AC31F2-4F07-485E-A976-B970F72FA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2135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1 0 0</a:t>
                </a:r>
              </a:p>
            </p:txBody>
          </p:sp>
          <p:sp>
            <p:nvSpPr>
              <p:cNvPr id="30751" name="Rectangle 97">
                <a:extLst>
                  <a:ext uri="{FF2B5EF4-FFF2-40B4-BE49-F238E27FC236}">
                    <a16:creationId xmlns:a16="http://schemas.microsoft.com/office/drawing/2014/main" xmlns="" id="{0F24062F-F92B-4F66-ADE6-359F01A2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1903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30752" name="Rectangle 98">
                <a:extLst>
                  <a:ext uri="{FF2B5EF4-FFF2-40B4-BE49-F238E27FC236}">
                    <a16:creationId xmlns:a16="http://schemas.microsoft.com/office/drawing/2014/main" xmlns="" id="{979ACB71-2332-435B-9886-4F605AE43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1903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0 1 1</a:t>
                </a:r>
              </a:p>
            </p:txBody>
          </p:sp>
          <p:sp>
            <p:nvSpPr>
              <p:cNvPr id="30753" name="Rectangle 99">
                <a:extLst>
                  <a:ext uri="{FF2B5EF4-FFF2-40B4-BE49-F238E27FC236}">
                    <a16:creationId xmlns:a16="http://schemas.microsoft.com/office/drawing/2014/main" xmlns="" id="{9E29984E-E0DE-48C3-BDEA-D832E9B2B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1671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30754" name="Rectangle 100">
                <a:extLst>
                  <a:ext uri="{FF2B5EF4-FFF2-40B4-BE49-F238E27FC236}">
                    <a16:creationId xmlns:a16="http://schemas.microsoft.com/office/drawing/2014/main" xmlns="" id="{561E9D87-A748-47ED-A178-88A57BF58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1671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0 1 0</a:t>
                </a:r>
              </a:p>
            </p:txBody>
          </p:sp>
          <p:sp>
            <p:nvSpPr>
              <p:cNvPr id="30755" name="Rectangle 101">
                <a:extLst>
                  <a:ext uri="{FF2B5EF4-FFF2-40B4-BE49-F238E27FC236}">
                    <a16:creationId xmlns:a16="http://schemas.microsoft.com/office/drawing/2014/main" xmlns="" id="{AA442695-A221-424B-A8E5-E5FB51690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1439"/>
                <a:ext cx="118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30756" name="Rectangle 102">
                <a:extLst>
                  <a:ext uri="{FF2B5EF4-FFF2-40B4-BE49-F238E27FC236}">
                    <a16:creationId xmlns:a16="http://schemas.microsoft.com/office/drawing/2014/main" xmlns="" id="{57B142D8-9030-45D0-838C-7080442D5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1439"/>
                <a:ext cx="744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0 0 1</a:t>
                </a:r>
              </a:p>
            </p:txBody>
          </p:sp>
          <p:sp>
            <p:nvSpPr>
              <p:cNvPr id="30757" name="Rectangle 103">
                <a:extLst>
                  <a:ext uri="{FF2B5EF4-FFF2-40B4-BE49-F238E27FC236}">
                    <a16:creationId xmlns:a16="http://schemas.microsoft.com/office/drawing/2014/main" xmlns="" id="{63AC1E95-1480-4E12-B258-197C4AE14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1208"/>
                <a:ext cx="11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30758" name="Rectangle 104">
                <a:extLst>
                  <a:ext uri="{FF2B5EF4-FFF2-40B4-BE49-F238E27FC236}">
                    <a16:creationId xmlns:a16="http://schemas.microsoft.com/office/drawing/2014/main" xmlns="" id="{0B9ED936-687F-439A-97AA-C0FF67163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1208"/>
                <a:ext cx="7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0 0 0</a:t>
                </a:r>
              </a:p>
            </p:txBody>
          </p:sp>
          <p:sp>
            <p:nvSpPr>
              <p:cNvPr id="30759" name="Rectangle 105">
                <a:extLst>
                  <a:ext uri="{FF2B5EF4-FFF2-40B4-BE49-F238E27FC236}">
                    <a16:creationId xmlns:a16="http://schemas.microsoft.com/office/drawing/2014/main" xmlns="" id="{763E015C-FE79-4493-BA68-4FF66911E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975"/>
                <a:ext cx="118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endParaRPr lang="en-US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60" name="Rectangle 106">
                <a:extLst>
                  <a:ext uri="{FF2B5EF4-FFF2-40B4-BE49-F238E27FC236}">
                    <a16:creationId xmlns:a16="http://schemas.microsoft.com/office/drawing/2014/main" xmlns="" id="{758F53A2-F8B4-415E-93E0-1C64CCFD1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975"/>
                <a:ext cx="74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9999"/>
                  </a:buClr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9999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fontAlgn="base" hangingPunct="0">
                  <a:spcAft>
                    <a:spcPct val="0"/>
                  </a:spcAft>
                  <a:buNone/>
                </a:pPr>
                <a:r>
                  <a:rPr lang="en-US" altLang="en-US" sz="2000" b="1">
                    <a:solidFill>
                      <a:srgbClr val="000000"/>
                    </a:solidFill>
                  </a:rPr>
                  <a:t>X Y Z</a:t>
                </a:r>
              </a:p>
            </p:txBody>
          </p:sp>
          <p:sp>
            <p:nvSpPr>
              <p:cNvPr id="30761" name="Line 107">
                <a:extLst>
                  <a:ext uri="{FF2B5EF4-FFF2-40B4-BE49-F238E27FC236}">
                    <a16:creationId xmlns:a16="http://schemas.microsoft.com/office/drawing/2014/main" xmlns="" id="{B4466840-0D3C-47D9-9BF6-5225EE7AD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1208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2" name="Line 108">
                <a:extLst>
                  <a:ext uri="{FF2B5EF4-FFF2-40B4-BE49-F238E27FC236}">
                    <a16:creationId xmlns:a16="http://schemas.microsoft.com/office/drawing/2014/main" xmlns="" id="{FFCEEA22-FD2A-4396-8EE3-C69947418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1439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3" name="Line 109">
                <a:extLst>
                  <a:ext uri="{FF2B5EF4-FFF2-40B4-BE49-F238E27FC236}">
                    <a16:creationId xmlns:a16="http://schemas.microsoft.com/office/drawing/2014/main" xmlns="" id="{95464FAD-E7FC-41EB-AABD-0AD250043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1671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4" name="Line 110">
                <a:extLst>
                  <a:ext uri="{FF2B5EF4-FFF2-40B4-BE49-F238E27FC236}">
                    <a16:creationId xmlns:a16="http://schemas.microsoft.com/office/drawing/2014/main" xmlns="" id="{35384CC6-A007-4696-8FF3-69915D4053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1903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5" name="Line 111">
                <a:extLst>
                  <a:ext uri="{FF2B5EF4-FFF2-40B4-BE49-F238E27FC236}">
                    <a16:creationId xmlns:a16="http://schemas.microsoft.com/office/drawing/2014/main" xmlns="" id="{DF07D722-BB68-42A1-8655-EF4AEBF45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2135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6" name="Line 112">
                <a:extLst>
                  <a:ext uri="{FF2B5EF4-FFF2-40B4-BE49-F238E27FC236}">
                    <a16:creationId xmlns:a16="http://schemas.microsoft.com/office/drawing/2014/main" xmlns="" id="{A8AAEFA8-E048-4774-BAA7-49B9C5420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2367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7" name="Line 113">
                <a:extLst>
                  <a:ext uri="{FF2B5EF4-FFF2-40B4-BE49-F238E27FC236}">
                    <a16:creationId xmlns:a16="http://schemas.microsoft.com/office/drawing/2014/main" xmlns="" id="{09498F0C-A376-4B49-8033-E7342B2F7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2599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8" name="Line 114">
                <a:extLst>
                  <a:ext uri="{FF2B5EF4-FFF2-40B4-BE49-F238E27FC236}">
                    <a16:creationId xmlns:a16="http://schemas.microsoft.com/office/drawing/2014/main" xmlns="" id="{9C919BCE-5376-45D9-B54F-B4240AB54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2831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9" name="Line 115">
                <a:extLst>
                  <a:ext uri="{FF2B5EF4-FFF2-40B4-BE49-F238E27FC236}">
                    <a16:creationId xmlns:a16="http://schemas.microsoft.com/office/drawing/2014/main" xmlns="" id="{7D596FD9-3CAE-462B-9E5E-A91BCE93D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3063"/>
                <a:ext cx="192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0" name="Line 116">
                <a:extLst>
                  <a:ext uri="{FF2B5EF4-FFF2-40B4-BE49-F238E27FC236}">
                    <a16:creationId xmlns:a16="http://schemas.microsoft.com/office/drawing/2014/main" xmlns="" id="{E7DC066F-D0F4-47CF-9F12-9578EB9F2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975"/>
                <a:ext cx="0" cy="20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1" name="Line 117">
                <a:extLst>
                  <a:ext uri="{FF2B5EF4-FFF2-40B4-BE49-F238E27FC236}">
                    <a16:creationId xmlns:a16="http://schemas.microsoft.com/office/drawing/2014/main" xmlns="" id="{1851BBA5-96D5-4541-B73F-385E4F535E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2" y="975"/>
                <a:ext cx="0" cy="20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2" name="Line 118">
                <a:extLst>
                  <a:ext uri="{FF2B5EF4-FFF2-40B4-BE49-F238E27FC236}">
                    <a16:creationId xmlns:a16="http://schemas.microsoft.com/office/drawing/2014/main" xmlns="" id="{59C54AB4-9DE4-46C1-8A7A-2CBB748B9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975"/>
                <a:ext cx="0" cy="20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3" name="Line 119">
                <a:extLst>
                  <a:ext uri="{FF2B5EF4-FFF2-40B4-BE49-F238E27FC236}">
                    <a16:creationId xmlns:a16="http://schemas.microsoft.com/office/drawing/2014/main" xmlns="" id="{BF0BE3A3-C10A-449C-8D57-9EF4508F7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" y="975"/>
                <a:ext cx="192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0" name="Rectangle 121">
              <a:extLst>
                <a:ext uri="{FF2B5EF4-FFF2-40B4-BE49-F238E27FC236}">
                  <a16:creationId xmlns:a16="http://schemas.microsoft.com/office/drawing/2014/main" xmlns="" id="{C13C6A45-34AB-465F-BAC6-AF0AF2326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995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31" name="Rectangle 122">
              <a:extLst>
                <a:ext uri="{FF2B5EF4-FFF2-40B4-BE49-F238E27FC236}">
                  <a16:creationId xmlns:a16="http://schemas.microsoft.com/office/drawing/2014/main" xmlns="" id="{0E9F0404-A291-482D-8CFA-48A7A391D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7" y="995"/>
              <a:ext cx="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grpSp>
          <p:nvGrpSpPr>
            <p:cNvPr id="30732" name="Group 162">
              <a:extLst>
                <a:ext uri="{FF2B5EF4-FFF2-40B4-BE49-F238E27FC236}">
                  <a16:creationId xmlns:a16="http://schemas.microsoft.com/office/drawing/2014/main" xmlns="" id="{6CB42496-80D7-408E-A1CB-D2D6042ED7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3" y="1000"/>
              <a:ext cx="116" cy="192"/>
              <a:chOff x="2073" y="1000"/>
              <a:chExt cx="116" cy="192"/>
            </a:xfrm>
          </p:grpSpPr>
          <p:sp>
            <p:nvSpPr>
              <p:cNvPr id="30741" name="Line 120">
                <a:extLst>
                  <a:ext uri="{FF2B5EF4-FFF2-40B4-BE49-F238E27FC236}">
                    <a16:creationId xmlns:a16="http://schemas.microsoft.com/office/drawing/2014/main" xmlns="" id="{91F0ED43-24F1-4CAC-A231-A4B3BC345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4" y="1003"/>
                <a:ext cx="10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2" name="Rectangle 123">
                <a:extLst>
                  <a:ext uri="{FF2B5EF4-FFF2-40B4-BE49-F238E27FC236}">
                    <a16:creationId xmlns:a16="http://schemas.microsoft.com/office/drawing/2014/main" xmlns="" id="{7593B9B5-855E-4C80-96D0-13DDC5751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3" y="1000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b="1">
                    <a:solidFill>
                      <a:srgbClr val="000000"/>
                    </a:solidFill>
                  </a:rPr>
                  <a:t>Y</a:t>
                </a: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733" name="Rectangle 124">
              <a:extLst>
                <a:ext uri="{FF2B5EF4-FFF2-40B4-BE49-F238E27FC236}">
                  <a16:creationId xmlns:a16="http://schemas.microsoft.com/office/drawing/2014/main" xmlns="" id="{6F9CAABD-72F4-47D2-AE0A-7F0384C3E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995"/>
              <a:ext cx="5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9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0734" name="Rectangle 125">
              <a:extLst>
                <a:ext uri="{FF2B5EF4-FFF2-40B4-BE49-F238E27FC236}">
                  <a16:creationId xmlns:a16="http://schemas.microsoft.com/office/drawing/2014/main" xmlns="" id="{8A9CD4B3-63CA-4C80-9357-E589EA9A6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" y="995"/>
              <a:ext cx="1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X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35" name="Rectangle 126">
              <a:extLst>
                <a:ext uri="{FF2B5EF4-FFF2-40B4-BE49-F238E27FC236}">
                  <a16:creationId xmlns:a16="http://schemas.microsoft.com/office/drawing/2014/main" xmlns="" id="{FB870105-9912-46AF-B0E6-A66C27CF7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995"/>
              <a:ext cx="5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9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0736" name="Rectangle 127">
              <a:extLst>
                <a:ext uri="{FF2B5EF4-FFF2-40B4-BE49-F238E27FC236}">
                  <a16:creationId xmlns:a16="http://schemas.microsoft.com/office/drawing/2014/main" xmlns="" id="{A4AC4F61-E57A-4981-A16D-3F4932752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995"/>
              <a:ext cx="5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9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0737" name="Rectangle 128">
              <a:extLst>
                <a:ext uri="{FF2B5EF4-FFF2-40B4-BE49-F238E27FC236}">
                  <a16:creationId xmlns:a16="http://schemas.microsoft.com/office/drawing/2014/main" xmlns="" id="{07B03740-F9DF-4A60-9FCE-C0B001FEC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7" y="995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F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38" name="Rectangle 129">
              <a:extLst>
                <a:ext uri="{FF2B5EF4-FFF2-40B4-BE49-F238E27FC236}">
                  <a16:creationId xmlns:a16="http://schemas.microsoft.com/office/drawing/2014/main" xmlns="" id="{6EFA42A5-CE11-4378-A841-FB24DCF9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" y="978"/>
              <a:ext cx="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39" name="Rectangle 130">
              <a:extLst>
                <a:ext uri="{FF2B5EF4-FFF2-40B4-BE49-F238E27FC236}">
                  <a16:creationId xmlns:a16="http://schemas.microsoft.com/office/drawing/2014/main" xmlns="" id="{7485F0D7-C83D-4D3A-85E9-12F2A9EC8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981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740" name="Rectangle 131">
              <a:extLst>
                <a:ext uri="{FF2B5EF4-FFF2-40B4-BE49-F238E27FC236}">
                  <a16:creationId xmlns:a16="http://schemas.microsoft.com/office/drawing/2014/main" xmlns="" id="{906E2397-758E-4257-B110-264C15ABA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969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xmlns="" id="{CFD37E92-81B8-4B7C-BD63-56ADF1905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14CBBB78-F936-431D-B538-B1E33D40F731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grpSp>
        <p:nvGrpSpPr>
          <p:cNvPr id="31747" name="Group 451">
            <a:extLst>
              <a:ext uri="{FF2B5EF4-FFF2-40B4-BE49-F238E27FC236}">
                <a16:creationId xmlns:a16="http://schemas.microsoft.com/office/drawing/2014/main" xmlns="" id="{9C1E12CD-0329-44E4-9031-71DDDF7154AC}"/>
              </a:ext>
            </a:extLst>
          </p:cNvPr>
          <p:cNvGrpSpPr>
            <a:grpSpLocks/>
          </p:cNvGrpSpPr>
          <p:nvPr/>
        </p:nvGrpSpPr>
        <p:grpSpPr bwMode="auto">
          <a:xfrm>
            <a:off x="1878013" y="2543175"/>
            <a:ext cx="190500" cy="1828800"/>
            <a:chOff x="223" y="1602"/>
            <a:chExt cx="120" cy="1152"/>
          </a:xfrm>
        </p:grpSpPr>
        <p:sp>
          <p:nvSpPr>
            <p:cNvPr id="31860" name="Rectangle 293">
              <a:extLst>
                <a:ext uri="{FF2B5EF4-FFF2-40B4-BE49-F238E27FC236}">
                  <a16:creationId xmlns:a16="http://schemas.microsoft.com/office/drawing/2014/main" xmlns="" id="{B3B7B78A-AE28-46F6-B938-064B9A78E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" y="160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1.</a:t>
              </a:r>
            </a:p>
          </p:txBody>
        </p:sp>
        <p:sp>
          <p:nvSpPr>
            <p:cNvPr id="31861" name="Rectangle 295">
              <a:extLst>
                <a:ext uri="{FF2B5EF4-FFF2-40B4-BE49-F238E27FC236}">
                  <a16:creationId xmlns:a16="http://schemas.microsoft.com/office/drawing/2014/main" xmlns="" id="{69B9C4A1-9DA4-4293-94FB-F005C057E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" y="184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3.</a:t>
              </a:r>
            </a:p>
          </p:txBody>
        </p:sp>
        <p:sp>
          <p:nvSpPr>
            <p:cNvPr id="31862" name="Rectangle 297">
              <a:extLst>
                <a:ext uri="{FF2B5EF4-FFF2-40B4-BE49-F238E27FC236}">
                  <a16:creationId xmlns:a16="http://schemas.microsoft.com/office/drawing/2014/main" xmlns="" id="{144ABB8A-88E1-4DDE-901B-EA979556B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" y="208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5.</a:t>
              </a:r>
            </a:p>
          </p:txBody>
        </p:sp>
        <p:sp>
          <p:nvSpPr>
            <p:cNvPr id="31863" name="Rectangle 299">
              <a:extLst>
                <a:ext uri="{FF2B5EF4-FFF2-40B4-BE49-F238E27FC236}">
                  <a16:creationId xmlns:a16="http://schemas.microsoft.com/office/drawing/2014/main" xmlns="" id="{BC9ED355-190B-463C-9493-A3BB25ACA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" y="232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7.</a:t>
              </a:r>
            </a:p>
          </p:txBody>
        </p:sp>
        <p:sp>
          <p:nvSpPr>
            <p:cNvPr id="31864" name="Rectangle 301">
              <a:extLst>
                <a:ext uri="{FF2B5EF4-FFF2-40B4-BE49-F238E27FC236}">
                  <a16:creationId xmlns:a16="http://schemas.microsoft.com/office/drawing/2014/main" xmlns="" id="{AEBF1EC7-B485-4FB4-9012-CA26C3B8D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" y="256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9.</a:t>
              </a:r>
            </a:p>
          </p:txBody>
        </p:sp>
      </p:grpSp>
      <p:grpSp>
        <p:nvGrpSpPr>
          <p:cNvPr id="31748" name="Group 453">
            <a:extLst>
              <a:ext uri="{FF2B5EF4-FFF2-40B4-BE49-F238E27FC236}">
                <a16:creationId xmlns:a16="http://schemas.microsoft.com/office/drawing/2014/main" xmlns="" id="{72D9E3ED-1660-4595-B59E-CB696A7E704B}"/>
              </a:ext>
            </a:extLst>
          </p:cNvPr>
          <p:cNvGrpSpPr>
            <a:grpSpLocks/>
          </p:cNvGrpSpPr>
          <p:nvPr/>
        </p:nvGrpSpPr>
        <p:grpSpPr bwMode="auto">
          <a:xfrm>
            <a:off x="5597525" y="4500564"/>
            <a:ext cx="317500" cy="1449387"/>
            <a:chOff x="2566" y="2835"/>
            <a:chExt cx="200" cy="913"/>
          </a:xfrm>
        </p:grpSpPr>
        <p:sp>
          <p:nvSpPr>
            <p:cNvPr id="31856" name="Rectangle 303">
              <a:extLst>
                <a:ext uri="{FF2B5EF4-FFF2-40B4-BE49-F238E27FC236}">
                  <a16:creationId xmlns:a16="http://schemas.microsoft.com/office/drawing/2014/main" xmlns="" id="{2A19314F-8615-4161-84F6-8A17E4654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2835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11.</a:t>
              </a:r>
            </a:p>
          </p:txBody>
        </p:sp>
        <p:sp>
          <p:nvSpPr>
            <p:cNvPr id="31857" name="Rectangle 308">
              <a:extLst>
                <a:ext uri="{FF2B5EF4-FFF2-40B4-BE49-F238E27FC236}">
                  <a16:creationId xmlns:a16="http://schemas.microsoft.com/office/drawing/2014/main" xmlns="" id="{63B3A7CA-C654-48FD-A36B-3B021DFA8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075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13.</a:t>
              </a:r>
            </a:p>
          </p:txBody>
        </p:sp>
        <p:sp>
          <p:nvSpPr>
            <p:cNvPr id="31858" name="Rectangle 311">
              <a:extLst>
                <a:ext uri="{FF2B5EF4-FFF2-40B4-BE49-F238E27FC236}">
                  <a16:creationId xmlns:a16="http://schemas.microsoft.com/office/drawing/2014/main" xmlns="" id="{5DCC60B1-21AA-4179-8E4F-396E0772B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316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15.</a:t>
              </a:r>
            </a:p>
          </p:txBody>
        </p:sp>
        <p:sp>
          <p:nvSpPr>
            <p:cNvPr id="31859" name="Rectangle 314">
              <a:extLst>
                <a:ext uri="{FF2B5EF4-FFF2-40B4-BE49-F238E27FC236}">
                  <a16:creationId xmlns:a16="http://schemas.microsoft.com/office/drawing/2014/main" xmlns="" id="{BCC839E0-4377-463F-B4BC-3DFE668D3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556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17.</a:t>
              </a:r>
            </a:p>
          </p:txBody>
        </p:sp>
      </p:grpSp>
      <p:sp>
        <p:nvSpPr>
          <p:cNvPr id="31749" name="Rectangle 306">
            <a:extLst>
              <a:ext uri="{FF2B5EF4-FFF2-40B4-BE49-F238E27FC236}">
                <a16:creationId xmlns:a16="http://schemas.microsoft.com/office/drawing/2014/main" xmlns="" id="{5A1ABF4D-77E0-4C5F-8C0F-80E8B1E3A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482" y="4487864"/>
            <a:ext cx="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31750" name="Group 443">
            <a:extLst>
              <a:ext uri="{FF2B5EF4-FFF2-40B4-BE49-F238E27FC236}">
                <a16:creationId xmlns:a16="http://schemas.microsoft.com/office/drawing/2014/main" xmlns="" id="{A3061276-0A3B-42AF-A440-93A285104D68}"/>
              </a:ext>
            </a:extLst>
          </p:cNvPr>
          <p:cNvGrpSpPr>
            <a:grpSpLocks/>
          </p:cNvGrpSpPr>
          <p:nvPr/>
        </p:nvGrpSpPr>
        <p:grpSpPr bwMode="auto">
          <a:xfrm>
            <a:off x="8991601" y="4513264"/>
            <a:ext cx="1420813" cy="1423987"/>
            <a:chOff x="4704" y="2843"/>
            <a:chExt cx="895" cy="897"/>
          </a:xfrm>
        </p:grpSpPr>
        <p:sp>
          <p:nvSpPr>
            <p:cNvPr id="31850" name="Rectangle 304">
              <a:extLst>
                <a:ext uri="{FF2B5EF4-FFF2-40B4-BE49-F238E27FC236}">
                  <a16:creationId xmlns:a16="http://schemas.microsoft.com/office/drawing/2014/main" xmlns="" id="{F61261CE-DA15-4E72-A920-EE726CDBC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843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Commutative</a:t>
              </a:r>
            </a:p>
          </p:txBody>
        </p:sp>
        <p:sp>
          <p:nvSpPr>
            <p:cNvPr id="31851" name="Rectangle 309">
              <a:extLst>
                <a:ext uri="{FF2B5EF4-FFF2-40B4-BE49-F238E27FC236}">
                  <a16:creationId xmlns:a16="http://schemas.microsoft.com/office/drawing/2014/main" xmlns="" id="{142783FE-D1ED-4E10-B02D-49B78E0B1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5" y="3067"/>
              <a:ext cx="74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Associative</a:t>
              </a:r>
            </a:p>
          </p:txBody>
        </p:sp>
        <p:sp>
          <p:nvSpPr>
            <p:cNvPr id="31852" name="Rectangle 312">
              <a:extLst>
                <a:ext uri="{FF2B5EF4-FFF2-40B4-BE49-F238E27FC236}">
                  <a16:creationId xmlns:a16="http://schemas.microsoft.com/office/drawing/2014/main" xmlns="" id="{F25C1AEA-7E55-4046-8C77-D657B1038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3308"/>
              <a:ext cx="7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Distributive</a:t>
              </a:r>
            </a:p>
          </p:txBody>
        </p:sp>
        <p:sp>
          <p:nvSpPr>
            <p:cNvPr id="31853" name="Rectangle 315">
              <a:extLst>
                <a:ext uri="{FF2B5EF4-FFF2-40B4-BE49-F238E27FC236}">
                  <a16:creationId xmlns:a16="http://schemas.microsoft.com/office/drawing/2014/main" xmlns="" id="{71656523-74B7-494B-A1E7-B866C5EBC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" y="3548"/>
              <a:ext cx="6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DeMorgan</a:t>
              </a:r>
            </a:p>
          </p:txBody>
        </p:sp>
        <p:sp>
          <p:nvSpPr>
            <p:cNvPr id="31854" name="Rectangle 316">
              <a:extLst>
                <a:ext uri="{FF2B5EF4-FFF2-40B4-BE49-F238E27FC236}">
                  <a16:creationId xmlns:a16="http://schemas.microsoft.com/office/drawing/2014/main" xmlns="" id="{5E7087B6-63F2-4B5E-8E87-B8D2F4ED8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8" y="3548"/>
              <a:ext cx="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’</a:t>
              </a:r>
            </a:p>
          </p:txBody>
        </p:sp>
        <p:sp>
          <p:nvSpPr>
            <p:cNvPr id="31855" name="Rectangle 317">
              <a:extLst>
                <a:ext uri="{FF2B5EF4-FFF2-40B4-BE49-F238E27FC236}">
                  <a16:creationId xmlns:a16="http://schemas.microsoft.com/office/drawing/2014/main" xmlns="" id="{913D64EC-BFFB-45B5-A87A-881BE5080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" y="3548"/>
              <a:ext cx="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s</a:t>
              </a:r>
            </a:p>
          </p:txBody>
        </p:sp>
      </p:grpSp>
      <p:sp>
        <p:nvSpPr>
          <p:cNvPr id="31751" name="Rectangle 318">
            <a:extLst>
              <a:ext uri="{FF2B5EF4-FFF2-40B4-BE49-F238E27FC236}">
                <a16:creationId xmlns:a16="http://schemas.microsoft.com/office/drawing/2014/main" xmlns="" id="{5FF14E47-F1E7-4A59-B79A-A5A38AA9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65375"/>
            <a:ext cx="8767763" cy="25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752" name="Rectangle 319">
            <a:extLst>
              <a:ext uri="{FF2B5EF4-FFF2-40B4-BE49-F238E27FC236}">
                <a16:creationId xmlns:a16="http://schemas.microsoft.com/office/drawing/2014/main" xmlns="" id="{C12614E7-27D0-4DA4-9179-BD4E2D953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6" y="4449764"/>
            <a:ext cx="8767763" cy="269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9999"/>
              </a:solidFill>
            </a:endParaRPr>
          </a:p>
        </p:txBody>
      </p:sp>
      <p:sp>
        <p:nvSpPr>
          <p:cNvPr id="31753" name="Rectangle 320">
            <a:extLst>
              <a:ext uri="{FF2B5EF4-FFF2-40B4-BE49-F238E27FC236}">
                <a16:creationId xmlns:a16="http://schemas.microsoft.com/office/drawing/2014/main" xmlns="" id="{466F69EF-EC29-4203-B004-AA44C7677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6" y="6132513"/>
            <a:ext cx="8767763" cy="4286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9999"/>
              </a:solidFill>
            </a:endParaRPr>
          </a:p>
        </p:txBody>
      </p:sp>
      <p:grpSp>
        <p:nvGrpSpPr>
          <p:cNvPr id="31754" name="Group 450">
            <a:extLst>
              <a:ext uri="{FF2B5EF4-FFF2-40B4-BE49-F238E27FC236}">
                <a16:creationId xmlns:a16="http://schemas.microsoft.com/office/drawing/2014/main" xmlns="" id="{7DF5EE3D-BD8D-4F28-864F-FDA64E930622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2543175"/>
            <a:ext cx="190500" cy="1447800"/>
            <a:chOff x="2571" y="1602"/>
            <a:chExt cx="120" cy="912"/>
          </a:xfrm>
        </p:grpSpPr>
        <p:sp>
          <p:nvSpPr>
            <p:cNvPr id="31846" name="Rectangle 294">
              <a:extLst>
                <a:ext uri="{FF2B5EF4-FFF2-40B4-BE49-F238E27FC236}">
                  <a16:creationId xmlns:a16="http://schemas.microsoft.com/office/drawing/2014/main" xmlns="" id="{7373ACDB-5B50-410C-B3D3-C7C7154D5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160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2.</a:t>
              </a:r>
            </a:p>
          </p:txBody>
        </p:sp>
        <p:sp>
          <p:nvSpPr>
            <p:cNvPr id="31847" name="Rectangle 296">
              <a:extLst>
                <a:ext uri="{FF2B5EF4-FFF2-40B4-BE49-F238E27FC236}">
                  <a16:creationId xmlns:a16="http://schemas.microsoft.com/office/drawing/2014/main" xmlns="" id="{C8863247-A137-41D1-952B-B79E41B47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184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4.</a:t>
              </a:r>
            </a:p>
          </p:txBody>
        </p:sp>
        <p:sp>
          <p:nvSpPr>
            <p:cNvPr id="31848" name="Rectangle 298">
              <a:extLst>
                <a:ext uri="{FF2B5EF4-FFF2-40B4-BE49-F238E27FC236}">
                  <a16:creationId xmlns:a16="http://schemas.microsoft.com/office/drawing/2014/main" xmlns="" id="{BDB7BA1F-DA30-4C06-B5D7-2E016CF67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208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6.</a:t>
              </a:r>
            </a:p>
          </p:txBody>
        </p:sp>
        <p:sp>
          <p:nvSpPr>
            <p:cNvPr id="31849" name="Rectangle 300">
              <a:extLst>
                <a:ext uri="{FF2B5EF4-FFF2-40B4-BE49-F238E27FC236}">
                  <a16:creationId xmlns:a16="http://schemas.microsoft.com/office/drawing/2014/main" xmlns="" id="{6AC474C1-2E93-4E99-9641-EEE6F26F3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2322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8.</a:t>
              </a:r>
            </a:p>
          </p:txBody>
        </p:sp>
      </p:grpSp>
      <p:grpSp>
        <p:nvGrpSpPr>
          <p:cNvPr id="31755" name="Group 458">
            <a:extLst>
              <a:ext uri="{FF2B5EF4-FFF2-40B4-BE49-F238E27FC236}">
                <a16:creationId xmlns:a16="http://schemas.microsoft.com/office/drawing/2014/main" xmlns="" id="{14293219-2168-4A70-9A5B-D25937434300}"/>
              </a:ext>
            </a:extLst>
          </p:cNvPr>
          <p:cNvGrpSpPr>
            <a:grpSpLocks/>
          </p:cNvGrpSpPr>
          <p:nvPr/>
        </p:nvGrpSpPr>
        <p:grpSpPr bwMode="auto">
          <a:xfrm>
            <a:off x="6078543" y="2543176"/>
            <a:ext cx="946151" cy="1446213"/>
            <a:chOff x="2869" y="1602"/>
            <a:chExt cx="596" cy="911"/>
          </a:xfrm>
        </p:grpSpPr>
        <p:sp>
          <p:nvSpPr>
            <p:cNvPr id="31830" name="Rectangle 326">
              <a:extLst>
                <a:ext uri="{FF2B5EF4-FFF2-40B4-BE49-F238E27FC236}">
                  <a16:creationId xmlns:a16="http://schemas.microsoft.com/office/drawing/2014/main" xmlns="" id="{29B3B392-CB7C-470C-B4D3-5E32C7C83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1605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1" name="Rectangle 327">
              <a:extLst>
                <a:ext uri="{FF2B5EF4-FFF2-40B4-BE49-F238E27FC236}">
                  <a16:creationId xmlns:a16="http://schemas.microsoft.com/office/drawing/2014/main" xmlns="" id="{B42C3A81-B028-4601-A9E2-BDB121BEE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7" y="1602"/>
              <a:ext cx="13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 baseline="30000">
                  <a:solidFill>
                    <a:srgbClr val="000000"/>
                  </a:solidFill>
                </a:rPr>
                <a:t>.</a:t>
              </a:r>
              <a:r>
                <a:rPr lang="en-US" altLang="en-US" sz="1900" b="1">
                  <a:solidFill>
                    <a:srgbClr val="000000"/>
                  </a:solidFill>
                </a:rPr>
                <a:t> 1</a:t>
              </a:r>
            </a:p>
          </p:txBody>
        </p:sp>
        <p:sp>
          <p:nvSpPr>
            <p:cNvPr id="31832" name="Rectangle 329">
              <a:extLst>
                <a:ext uri="{FF2B5EF4-FFF2-40B4-BE49-F238E27FC236}">
                  <a16:creationId xmlns:a16="http://schemas.microsoft.com/office/drawing/2014/main" xmlns="" id="{769EE1DA-5FCE-4076-9AF9-2379F6CC6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1605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3" name="Rectangle 330">
              <a:extLst>
                <a:ext uri="{FF2B5EF4-FFF2-40B4-BE49-F238E27FC236}">
                  <a16:creationId xmlns:a16="http://schemas.microsoft.com/office/drawing/2014/main" xmlns="" id="{98ACCC16-24A7-47A7-B6AD-EE6502D5B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160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4" name="Rectangle 336">
              <a:extLst>
                <a:ext uri="{FF2B5EF4-FFF2-40B4-BE49-F238E27FC236}">
                  <a16:creationId xmlns:a16="http://schemas.microsoft.com/office/drawing/2014/main" xmlns="" id="{06B6005D-DCB0-4FC7-B662-25BE6EFE1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1845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5" name="Rectangle 337">
              <a:extLst>
                <a:ext uri="{FF2B5EF4-FFF2-40B4-BE49-F238E27FC236}">
                  <a16:creationId xmlns:a16="http://schemas.microsoft.com/office/drawing/2014/main" xmlns="" id="{C642B1CA-16A1-4E46-A848-5DABA0AB7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8" y="1842"/>
              <a:ext cx="17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 </a:t>
              </a:r>
              <a:r>
                <a:rPr lang="en-US" altLang="en-US" sz="1800" b="1" baseline="30000">
                  <a:solidFill>
                    <a:srgbClr val="000000"/>
                  </a:solidFill>
                </a:rPr>
                <a:t>.</a:t>
              </a:r>
              <a:r>
                <a:rPr lang="en-US" altLang="en-US" sz="1900" b="1">
                  <a:solidFill>
                    <a:srgbClr val="000000"/>
                  </a:solidFill>
                </a:rPr>
                <a:t> 0</a:t>
              </a:r>
            </a:p>
          </p:txBody>
        </p:sp>
        <p:sp>
          <p:nvSpPr>
            <p:cNvPr id="31836" name="Rectangle 339">
              <a:extLst>
                <a:ext uri="{FF2B5EF4-FFF2-40B4-BE49-F238E27FC236}">
                  <a16:creationId xmlns:a16="http://schemas.microsoft.com/office/drawing/2014/main" xmlns="" id="{201F1FDB-D8C3-4FEC-956D-09D07DA4A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84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0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7" name="Rectangle 340">
              <a:extLst>
                <a:ext uri="{FF2B5EF4-FFF2-40B4-BE49-F238E27FC236}">
                  <a16:creationId xmlns:a16="http://schemas.microsoft.com/office/drawing/2014/main" xmlns="" id="{F6FCFBA8-5A81-4136-8920-8428BCCBD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4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8" name="Rectangle 345">
              <a:extLst>
                <a:ext uri="{FF2B5EF4-FFF2-40B4-BE49-F238E27FC236}">
                  <a16:creationId xmlns:a16="http://schemas.microsoft.com/office/drawing/2014/main" xmlns="" id="{8D92BB67-5AE5-43A6-9401-F0A29DBE7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2085"/>
              <a:ext cx="29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 </a:t>
              </a:r>
              <a:r>
                <a:rPr lang="en-US" altLang="en-US" sz="1800" b="1" baseline="30000">
                  <a:solidFill>
                    <a:srgbClr val="000000"/>
                  </a:solidFill>
                </a:rPr>
                <a:t>. </a:t>
              </a: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39" name="Rectangle 347">
              <a:extLst>
                <a:ext uri="{FF2B5EF4-FFF2-40B4-BE49-F238E27FC236}">
                  <a16:creationId xmlns:a16="http://schemas.microsoft.com/office/drawing/2014/main" xmlns="" id="{EB996F99-C688-4CCE-969C-D399EFF6C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" y="2085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40" name="Rectangle 348">
              <a:extLst>
                <a:ext uri="{FF2B5EF4-FFF2-40B4-BE49-F238E27FC236}">
                  <a16:creationId xmlns:a16="http://schemas.microsoft.com/office/drawing/2014/main" xmlns="" id="{BC689A30-A40B-4126-8E9A-37321EA73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9" y="208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41" name="Rectangle 356">
              <a:extLst>
                <a:ext uri="{FF2B5EF4-FFF2-40B4-BE49-F238E27FC236}">
                  <a16:creationId xmlns:a16="http://schemas.microsoft.com/office/drawing/2014/main" xmlns="" id="{4434762F-1C0F-417D-A13E-2E3B8CA0F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232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0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842" name="Rectangle 357">
              <a:extLst>
                <a:ext uri="{FF2B5EF4-FFF2-40B4-BE49-F238E27FC236}">
                  <a16:creationId xmlns:a16="http://schemas.microsoft.com/office/drawing/2014/main" xmlns="" id="{949A8A2D-FFCE-48DA-9FBE-70D9A1A3C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9" y="232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grpSp>
          <p:nvGrpSpPr>
            <p:cNvPr id="31843" name="Group 456">
              <a:extLst>
                <a:ext uri="{FF2B5EF4-FFF2-40B4-BE49-F238E27FC236}">
                  <a16:creationId xmlns:a16="http://schemas.microsoft.com/office/drawing/2014/main" xmlns="" id="{259F28D6-ED88-4F7B-A63F-8B405F5B7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9" y="2324"/>
              <a:ext cx="315" cy="184"/>
              <a:chOff x="2869" y="2324"/>
              <a:chExt cx="315" cy="184"/>
            </a:xfrm>
          </p:grpSpPr>
          <p:sp>
            <p:nvSpPr>
              <p:cNvPr id="31844" name="Rectangle 354">
                <a:extLst>
                  <a:ext uri="{FF2B5EF4-FFF2-40B4-BE49-F238E27FC236}">
                    <a16:creationId xmlns:a16="http://schemas.microsoft.com/office/drawing/2014/main" xmlns="" id="{D8EAE525-CA2F-447D-BF5D-412F49E0B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" y="2324"/>
                <a:ext cx="29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b="1" i="1">
                    <a:solidFill>
                      <a:srgbClr val="000000"/>
                    </a:solidFill>
                  </a:rPr>
                  <a:t>X </a:t>
                </a:r>
                <a:r>
                  <a:rPr lang="en-US" altLang="en-US" sz="1800" b="1" baseline="30000">
                    <a:solidFill>
                      <a:srgbClr val="000000"/>
                    </a:solidFill>
                  </a:rPr>
                  <a:t>. </a:t>
                </a:r>
                <a:r>
                  <a:rPr lang="en-US" altLang="en-US" sz="1900" b="1" i="1">
                    <a:solidFill>
                      <a:srgbClr val="000000"/>
                    </a:solidFill>
                  </a:rPr>
                  <a:t>X</a:t>
                </a:r>
              </a:p>
            </p:txBody>
          </p:sp>
          <p:sp>
            <p:nvSpPr>
              <p:cNvPr id="31845" name="Rectangle 358">
                <a:extLst>
                  <a:ext uri="{FF2B5EF4-FFF2-40B4-BE49-F238E27FC236}">
                    <a16:creationId xmlns:a16="http://schemas.microsoft.com/office/drawing/2014/main" xmlns="" id="{514A0A4D-BC86-45E7-8660-F4D5086E7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6" y="2327"/>
                <a:ext cx="98" cy="7"/>
              </a:xfrm>
              <a:prstGeom prst="rect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31756" name="Rectangle 412">
            <a:extLst>
              <a:ext uri="{FF2B5EF4-FFF2-40B4-BE49-F238E27FC236}">
                <a16:creationId xmlns:a16="http://schemas.microsoft.com/office/drawing/2014/main" xmlns="" id="{E1395986-0137-4280-BF7E-9E3438972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838" y="5654676"/>
            <a:ext cx="4762" cy="11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757" name="Rectangle 414">
            <a:extLst>
              <a:ext uri="{FF2B5EF4-FFF2-40B4-BE49-F238E27FC236}">
                <a16:creationId xmlns:a16="http://schemas.microsoft.com/office/drawing/2014/main" xmlns="" id="{DA149E21-594C-4347-BF0F-740B24E19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9" y="5654676"/>
            <a:ext cx="3175" cy="11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758" name="Rectangle 2">
            <a:extLst>
              <a:ext uri="{FF2B5EF4-FFF2-40B4-BE49-F238E27FC236}">
                <a16:creationId xmlns:a16="http://schemas.microsoft.com/office/drawing/2014/main" xmlns="" id="{0A05D849-0609-417B-BB45-70028245D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838200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Boolean Algebra</a:t>
            </a:r>
          </a:p>
        </p:txBody>
      </p:sp>
      <p:sp>
        <p:nvSpPr>
          <p:cNvPr id="31759" name="Rectangle 4">
            <a:extLst>
              <a:ext uri="{FF2B5EF4-FFF2-40B4-BE49-F238E27FC236}">
                <a16:creationId xmlns:a16="http://schemas.microsoft.com/office/drawing/2014/main" xmlns="" id="{2A5D860E-9E6C-4EA1-ACC9-403ADC69F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1311275"/>
            <a:ext cx="7772400" cy="97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lr>
                <a:srgbClr val="009999"/>
              </a:buClr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lr>
                <a:srgbClr val="009999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SzPct val="125000"/>
            </a:pPr>
            <a:r>
              <a:rPr lang="en-US" altLang="en-US" sz="2000" b="1">
                <a:solidFill>
                  <a:srgbClr val="000000"/>
                </a:solidFill>
                <a:cs typeface="Times New Roman" panose="02020603050405020304" pitchFamily="18" charset="0"/>
              </a:rPr>
              <a:t>An algebraic structure defined on a set of at least two elements, B, together with three binary operators (denoted +, </a:t>
            </a:r>
            <a:r>
              <a:rPr lang="en-US" altLang="en-US" sz="2000" b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· </a:t>
            </a:r>
            <a:r>
              <a:rPr lang="en-US" altLang="en-US" sz="2000" b="1">
                <a:solidFill>
                  <a:srgbClr val="000000"/>
                </a:solidFill>
                <a:cs typeface="Times New Roman" panose="02020603050405020304" pitchFamily="18" charset="0"/>
              </a:rPr>
              <a:t> and </a:t>
            </a:r>
            <a:r>
              <a:rPr lang="en-US" altLang="en-US" sz="2000" b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2000" b="1">
                <a:solidFill>
                  <a:srgbClr val="000000"/>
                </a:solidFill>
                <a:cs typeface="Times New Roman" panose="02020603050405020304" pitchFamily="18" charset="0"/>
              </a:rPr>
              <a:t>) that satisfies the following basic identities:</a:t>
            </a:r>
            <a:endParaRPr lang="en-US" altLang="en-US" sz="2000" b="1">
              <a:solidFill>
                <a:srgbClr val="00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1760" name="Group 452">
            <a:extLst>
              <a:ext uri="{FF2B5EF4-FFF2-40B4-BE49-F238E27FC236}">
                <a16:creationId xmlns:a16="http://schemas.microsoft.com/office/drawing/2014/main" xmlns="" id="{FB0B223D-B0AD-426B-BDEB-433D2D11CAA9}"/>
              </a:ext>
            </a:extLst>
          </p:cNvPr>
          <p:cNvGrpSpPr>
            <a:grpSpLocks/>
          </p:cNvGrpSpPr>
          <p:nvPr/>
        </p:nvGrpSpPr>
        <p:grpSpPr bwMode="auto">
          <a:xfrm>
            <a:off x="1741488" y="4500564"/>
            <a:ext cx="336550" cy="1449387"/>
            <a:chOff x="137" y="2835"/>
            <a:chExt cx="212" cy="913"/>
          </a:xfrm>
        </p:grpSpPr>
        <p:sp>
          <p:nvSpPr>
            <p:cNvPr id="31826" name="Rectangle 302">
              <a:extLst>
                <a:ext uri="{FF2B5EF4-FFF2-40B4-BE49-F238E27FC236}">
                  <a16:creationId xmlns:a16="http://schemas.microsoft.com/office/drawing/2014/main" xmlns="" id="{E54DDC7A-4598-44B7-A1B0-F851EE8F1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2835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10.</a:t>
              </a:r>
            </a:p>
          </p:txBody>
        </p:sp>
        <p:sp>
          <p:nvSpPr>
            <p:cNvPr id="31827" name="Rectangle 307">
              <a:extLst>
                <a:ext uri="{FF2B5EF4-FFF2-40B4-BE49-F238E27FC236}">
                  <a16:creationId xmlns:a16="http://schemas.microsoft.com/office/drawing/2014/main" xmlns="" id="{11F63CA3-B1C1-4462-A202-517C866CE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" y="3075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12.</a:t>
              </a:r>
            </a:p>
          </p:txBody>
        </p:sp>
        <p:sp>
          <p:nvSpPr>
            <p:cNvPr id="31828" name="Rectangle 310">
              <a:extLst>
                <a:ext uri="{FF2B5EF4-FFF2-40B4-BE49-F238E27FC236}">
                  <a16:creationId xmlns:a16="http://schemas.microsoft.com/office/drawing/2014/main" xmlns="" id="{4702A27F-268D-441E-AA5D-A72770AF4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" y="3316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14.</a:t>
              </a:r>
            </a:p>
          </p:txBody>
        </p:sp>
        <p:sp>
          <p:nvSpPr>
            <p:cNvPr id="31829" name="Rectangle 313">
              <a:extLst>
                <a:ext uri="{FF2B5EF4-FFF2-40B4-BE49-F238E27FC236}">
                  <a16:creationId xmlns:a16="http://schemas.microsoft.com/office/drawing/2014/main" xmlns="" id="{593A2F68-ED15-4F4B-B15D-997AF5009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" y="3556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16.</a:t>
              </a:r>
            </a:p>
          </p:txBody>
        </p:sp>
      </p:grpSp>
      <p:grpSp>
        <p:nvGrpSpPr>
          <p:cNvPr id="31761" name="Group 459">
            <a:extLst>
              <a:ext uri="{FF2B5EF4-FFF2-40B4-BE49-F238E27FC236}">
                <a16:creationId xmlns:a16="http://schemas.microsoft.com/office/drawing/2014/main" xmlns="" id="{C9395275-CE0B-43DD-A608-DCD8EB996B59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4524375"/>
            <a:ext cx="2779713" cy="1436688"/>
            <a:chOff x="476" y="2850"/>
            <a:chExt cx="1751" cy="905"/>
          </a:xfrm>
        </p:grpSpPr>
        <p:sp>
          <p:nvSpPr>
            <p:cNvPr id="31804" name="Rectangle 363">
              <a:extLst>
                <a:ext uri="{FF2B5EF4-FFF2-40B4-BE49-F238E27FC236}">
                  <a16:creationId xmlns:a16="http://schemas.microsoft.com/office/drawing/2014/main" xmlns="" id="{A5F9DF73-2199-42DB-9D71-412825B58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853"/>
              <a:ext cx="3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 + 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05" name="Rectangle 365">
              <a:extLst>
                <a:ext uri="{FF2B5EF4-FFF2-40B4-BE49-F238E27FC236}">
                  <a16:creationId xmlns:a16="http://schemas.microsoft.com/office/drawing/2014/main" xmlns="" id="{281DED8F-AED7-4D83-ABE4-C4296AE0D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2853"/>
              <a:ext cx="3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Y + X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06" name="Rectangle 367">
              <a:extLst>
                <a:ext uri="{FF2B5EF4-FFF2-40B4-BE49-F238E27FC236}">
                  <a16:creationId xmlns:a16="http://schemas.microsoft.com/office/drawing/2014/main" xmlns="" id="{ABFE9076-916D-43A0-99C5-1EF0261DE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2850"/>
              <a:ext cx="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807" name="Rectangle 371">
              <a:extLst>
                <a:ext uri="{FF2B5EF4-FFF2-40B4-BE49-F238E27FC236}">
                  <a16:creationId xmlns:a16="http://schemas.microsoft.com/office/drawing/2014/main" xmlns="" id="{39D62695-CFD8-4B05-8D64-357BBB124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093"/>
              <a:ext cx="4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X + Y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808" name="Rectangle 372">
              <a:extLst>
                <a:ext uri="{FF2B5EF4-FFF2-40B4-BE49-F238E27FC236}">
                  <a16:creationId xmlns:a16="http://schemas.microsoft.com/office/drawing/2014/main" xmlns="" id="{CFCF8554-0210-4C98-8D0E-6B7BAD0E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3093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Z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09" name="Rectangle 373">
              <a:extLst>
                <a:ext uri="{FF2B5EF4-FFF2-40B4-BE49-F238E27FC236}">
                  <a16:creationId xmlns:a16="http://schemas.microsoft.com/office/drawing/2014/main" xmlns="" id="{C0FB4DBA-00B7-4372-B4EC-866791D03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" y="3098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+</a:t>
              </a:r>
            </a:p>
          </p:txBody>
        </p:sp>
        <p:sp>
          <p:nvSpPr>
            <p:cNvPr id="31810" name="Rectangle 376">
              <a:extLst>
                <a:ext uri="{FF2B5EF4-FFF2-40B4-BE49-F238E27FC236}">
                  <a16:creationId xmlns:a16="http://schemas.microsoft.com/office/drawing/2014/main" xmlns="" id="{3BA5850A-E1A1-4536-8EBF-6ADB880AA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3093"/>
              <a:ext cx="4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 X + </a:t>
              </a: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11" name="Rectangle 379">
              <a:extLst>
                <a:ext uri="{FF2B5EF4-FFF2-40B4-BE49-F238E27FC236}">
                  <a16:creationId xmlns:a16="http://schemas.microsoft.com/office/drawing/2014/main" xmlns="" id="{443D843C-7593-4C48-8E8E-920226472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6" y="3093"/>
              <a:ext cx="1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Z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812" name="Rectangle 380">
              <a:extLst>
                <a:ext uri="{FF2B5EF4-FFF2-40B4-BE49-F238E27FC236}">
                  <a16:creationId xmlns:a16="http://schemas.microsoft.com/office/drawing/2014/main" xmlns="" id="{ED28ABD8-C85C-4385-AD21-05804B7EF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3098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+</a:t>
              </a:r>
            </a:p>
          </p:txBody>
        </p:sp>
        <p:sp>
          <p:nvSpPr>
            <p:cNvPr id="31813" name="Rectangle 381">
              <a:extLst>
                <a:ext uri="{FF2B5EF4-FFF2-40B4-BE49-F238E27FC236}">
                  <a16:creationId xmlns:a16="http://schemas.microsoft.com/office/drawing/2014/main" xmlns="" id="{E582030F-8651-4F46-95FC-492B57340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098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814" name="Rectangle 389">
              <a:extLst>
                <a:ext uri="{FF2B5EF4-FFF2-40B4-BE49-F238E27FC236}">
                  <a16:creationId xmlns:a16="http://schemas.microsoft.com/office/drawing/2014/main" xmlns="" id="{B671D084-B2D8-47F5-81FA-40FC149AB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3301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</a:t>
              </a: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Y +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15" name="Rectangle 390">
              <a:extLst>
                <a:ext uri="{FF2B5EF4-FFF2-40B4-BE49-F238E27FC236}">
                  <a16:creationId xmlns:a16="http://schemas.microsoft.com/office/drawing/2014/main" xmlns="" id="{253BD0B9-E7AE-4469-B3FD-BB81A36E9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3301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 Z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816" name="Rectangle 393">
              <a:extLst>
                <a:ext uri="{FF2B5EF4-FFF2-40B4-BE49-F238E27FC236}">
                  <a16:creationId xmlns:a16="http://schemas.microsoft.com/office/drawing/2014/main" xmlns="" id="{03C3237E-CF93-4699-A48A-D0B20F011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3301"/>
              <a:ext cx="2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17" name="Rectangle 394">
              <a:extLst>
                <a:ext uri="{FF2B5EF4-FFF2-40B4-BE49-F238E27FC236}">
                  <a16:creationId xmlns:a16="http://schemas.microsoft.com/office/drawing/2014/main" xmlns="" id="{90BA68AD-1BA9-49D9-AA4C-165C8DE91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3301"/>
              <a:ext cx="2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XZ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18" name="Rectangle 395">
              <a:extLst>
                <a:ext uri="{FF2B5EF4-FFF2-40B4-BE49-F238E27FC236}">
                  <a16:creationId xmlns:a16="http://schemas.microsoft.com/office/drawing/2014/main" xmlns="" id="{2DE9AEB0-6ECF-44A6-BBB6-9B5C2E8B8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306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+</a:t>
              </a:r>
            </a:p>
          </p:txBody>
        </p:sp>
        <p:sp>
          <p:nvSpPr>
            <p:cNvPr id="31819" name="Rectangle 396">
              <a:extLst>
                <a:ext uri="{FF2B5EF4-FFF2-40B4-BE49-F238E27FC236}">
                  <a16:creationId xmlns:a16="http://schemas.microsoft.com/office/drawing/2014/main" xmlns="" id="{BD067D9A-C8F7-42F5-8AE4-100F502B8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" y="3306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820" name="Rectangle 407">
              <a:extLst>
                <a:ext uri="{FF2B5EF4-FFF2-40B4-BE49-F238E27FC236}">
                  <a16:creationId xmlns:a16="http://schemas.microsoft.com/office/drawing/2014/main" xmlns="" id="{535CA2CA-E163-44F0-9A4E-B19373BEE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" y="3559"/>
              <a:ext cx="3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 + 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821" name="Rectangle 409">
              <a:extLst>
                <a:ext uri="{FF2B5EF4-FFF2-40B4-BE49-F238E27FC236}">
                  <a16:creationId xmlns:a16="http://schemas.microsoft.com/office/drawing/2014/main" xmlns="" id="{76184CF2-1757-42A0-B42B-73FEF2C05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3559"/>
              <a:ext cx="30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 </a:t>
              </a:r>
              <a:r>
                <a:rPr lang="en-US" altLang="en-US" b="1" baseline="30000">
                  <a:solidFill>
                    <a:srgbClr val="000000"/>
                  </a:solidFill>
                </a:rPr>
                <a:t>. </a:t>
              </a:r>
              <a:r>
                <a:rPr lang="en-US" altLang="en-US" b="1" i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1822" name="Rectangle 411">
              <a:extLst>
                <a:ext uri="{FF2B5EF4-FFF2-40B4-BE49-F238E27FC236}">
                  <a16:creationId xmlns:a16="http://schemas.microsoft.com/office/drawing/2014/main" xmlns="" id="{4EA817DF-45B5-4448-987E-1320CD5EA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" y="3563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823" name="Line 435">
              <a:extLst>
                <a:ext uri="{FF2B5EF4-FFF2-40B4-BE49-F238E27FC236}">
                  <a16:creationId xmlns:a16="http://schemas.microsoft.com/office/drawing/2014/main" xmlns="" id="{0CBA29C3-F5B4-4F4A-B607-8E638C75A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" y="3568"/>
              <a:ext cx="41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824" name="Rectangle 436">
              <a:extLst>
                <a:ext uri="{FF2B5EF4-FFF2-40B4-BE49-F238E27FC236}">
                  <a16:creationId xmlns:a16="http://schemas.microsoft.com/office/drawing/2014/main" xmlns="" id="{0A3A495F-15F5-4C81-84D6-586D40962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" y="3562"/>
              <a:ext cx="94" cy="7"/>
            </a:xfrm>
            <a:prstGeom prst="rect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1825" name="Rectangle 437">
              <a:extLst>
                <a:ext uri="{FF2B5EF4-FFF2-40B4-BE49-F238E27FC236}">
                  <a16:creationId xmlns:a16="http://schemas.microsoft.com/office/drawing/2014/main" xmlns="" id="{BD50BF29-C4F5-45D7-BA4F-3A8B0E75E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562"/>
              <a:ext cx="94" cy="7"/>
            </a:xfrm>
            <a:prstGeom prst="rect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1762" name="Group 448">
            <a:extLst>
              <a:ext uri="{FF2B5EF4-FFF2-40B4-BE49-F238E27FC236}">
                <a16:creationId xmlns:a16="http://schemas.microsoft.com/office/drawing/2014/main" xmlns="" id="{03F53036-DFC1-4267-B5ED-C00C29455226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4503739"/>
            <a:ext cx="2668588" cy="1457325"/>
            <a:chOff x="2912" y="2837"/>
            <a:chExt cx="1681" cy="918"/>
          </a:xfrm>
        </p:grpSpPr>
        <p:sp>
          <p:nvSpPr>
            <p:cNvPr id="31785" name="Rectangle 368">
              <a:extLst>
                <a:ext uri="{FF2B5EF4-FFF2-40B4-BE49-F238E27FC236}">
                  <a16:creationId xmlns:a16="http://schemas.microsoft.com/office/drawing/2014/main" xmlns="" id="{D2DF896E-E5F6-4FFC-9418-5F98557CB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4" y="2837"/>
              <a:ext cx="2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6" name="Rectangle 369">
              <a:extLst>
                <a:ext uri="{FF2B5EF4-FFF2-40B4-BE49-F238E27FC236}">
                  <a16:creationId xmlns:a16="http://schemas.microsoft.com/office/drawing/2014/main" xmlns="" id="{193245D6-6FC3-4DE5-B4AC-5BE12821B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4" y="2837"/>
              <a:ext cx="2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YX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87" name="Rectangle 370">
              <a:extLst>
                <a:ext uri="{FF2B5EF4-FFF2-40B4-BE49-F238E27FC236}">
                  <a16:creationId xmlns:a16="http://schemas.microsoft.com/office/drawing/2014/main" xmlns="" id="{E7380BA2-DB3C-4B5F-96F7-3BF5E8659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" y="2842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788" name="Rectangle 382">
              <a:extLst>
                <a:ext uri="{FF2B5EF4-FFF2-40B4-BE49-F238E27FC236}">
                  <a16:creationId xmlns:a16="http://schemas.microsoft.com/office/drawing/2014/main" xmlns="" id="{432F825C-376A-4E94-BB6A-86A59EA8E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3077"/>
              <a:ext cx="3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XY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789" name="Rectangle 383">
              <a:extLst>
                <a:ext uri="{FF2B5EF4-FFF2-40B4-BE49-F238E27FC236}">
                  <a16:creationId xmlns:a16="http://schemas.microsoft.com/office/drawing/2014/main" xmlns="" id="{11B2399F-2C4C-46A1-A8DC-FCFFDA4B8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3077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Z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0" name="Rectangle 385">
              <a:extLst>
                <a:ext uri="{FF2B5EF4-FFF2-40B4-BE49-F238E27FC236}">
                  <a16:creationId xmlns:a16="http://schemas.microsoft.com/office/drawing/2014/main" xmlns="" id="{B2C89B83-CE31-40E3-B805-25B9C6BE0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3077"/>
              <a:ext cx="25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</a:t>
              </a: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Y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1" name="Rectangle 387">
              <a:extLst>
                <a:ext uri="{FF2B5EF4-FFF2-40B4-BE49-F238E27FC236}">
                  <a16:creationId xmlns:a16="http://schemas.microsoft.com/office/drawing/2014/main" xmlns="" id="{588E3FF2-4A91-4A8B-9E7E-ADFAC412F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3077"/>
              <a:ext cx="1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Z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792" name="Rectangle 388">
              <a:extLst>
                <a:ext uri="{FF2B5EF4-FFF2-40B4-BE49-F238E27FC236}">
                  <a16:creationId xmlns:a16="http://schemas.microsoft.com/office/drawing/2014/main" xmlns="" id="{F398FB62-6876-4239-B355-72B2ECD3A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3082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793" name="Rectangle 397">
              <a:extLst>
                <a:ext uri="{FF2B5EF4-FFF2-40B4-BE49-F238E27FC236}">
                  <a16:creationId xmlns:a16="http://schemas.microsoft.com/office/drawing/2014/main" xmlns="" id="{29C3C956-C1DA-444F-8A5B-1DE13B9C5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3327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4" name="Rectangle 398">
              <a:extLst>
                <a:ext uri="{FF2B5EF4-FFF2-40B4-BE49-F238E27FC236}">
                  <a16:creationId xmlns:a16="http://schemas.microsoft.com/office/drawing/2014/main" xmlns="" id="{496A87E1-7ABF-4559-9602-D9B14D2E7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3327"/>
              <a:ext cx="3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+ YZ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1795" name="Rectangle 400">
              <a:extLst>
                <a:ext uri="{FF2B5EF4-FFF2-40B4-BE49-F238E27FC236}">
                  <a16:creationId xmlns:a16="http://schemas.microsoft.com/office/drawing/2014/main" xmlns="" id="{F1F8B17A-3B80-43C5-A1E1-EBE61A2DF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" y="3327"/>
              <a:ext cx="4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X + Y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796" name="Rectangle 403">
              <a:extLst>
                <a:ext uri="{FF2B5EF4-FFF2-40B4-BE49-F238E27FC236}">
                  <a16:creationId xmlns:a16="http://schemas.microsoft.com/office/drawing/2014/main" xmlns="" id="{83B83154-0D5A-4743-A9B6-B5017B2D2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" y="3327"/>
              <a:ext cx="4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(</a:t>
              </a:r>
              <a:r>
                <a:rPr lang="en-US" altLang="en-US" b="1" i="1">
                  <a:solidFill>
                    <a:srgbClr val="000000"/>
                  </a:solidFill>
                </a:rPr>
                <a:t>X + Z</a:t>
              </a:r>
              <a:r>
                <a:rPr lang="en-US" altLang="en-US" b="1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31797" name="Rectangle 406">
              <a:extLst>
                <a:ext uri="{FF2B5EF4-FFF2-40B4-BE49-F238E27FC236}">
                  <a16:creationId xmlns:a16="http://schemas.microsoft.com/office/drawing/2014/main" xmlns="" id="{4CBBA216-2423-4434-B9FE-7EA9992F1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3327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798" name="Rectangle 418">
              <a:extLst>
                <a:ext uri="{FF2B5EF4-FFF2-40B4-BE49-F238E27FC236}">
                  <a16:creationId xmlns:a16="http://schemas.microsoft.com/office/drawing/2014/main" xmlns="" id="{22174869-8498-4786-B0AF-BA73E0CD5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3559"/>
              <a:ext cx="30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 </a:t>
              </a:r>
              <a:r>
                <a:rPr lang="en-US" altLang="en-US" b="1" baseline="30000">
                  <a:solidFill>
                    <a:srgbClr val="000000"/>
                  </a:solidFill>
                </a:rPr>
                <a:t>. </a:t>
              </a:r>
              <a:r>
                <a:rPr lang="en-US" altLang="en-US" b="1" i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1799" name="Rectangle 420">
              <a:extLst>
                <a:ext uri="{FF2B5EF4-FFF2-40B4-BE49-F238E27FC236}">
                  <a16:creationId xmlns:a16="http://schemas.microsoft.com/office/drawing/2014/main" xmlns="" id="{7C34D02E-BEEC-4C86-904E-BFD808C4C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" y="3559"/>
              <a:ext cx="3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>
                  <a:solidFill>
                    <a:srgbClr val="000000"/>
                  </a:solidFill>
                </a:rPr>
                <a:t>X </a:t>
              </a:r>
              <a:r>
                <a:rPr lang="en-US" altLang="en-US" b="1">
                  <a:solidFill>
                    <a:srgbClr val="000000"/>
                  </a:solidFill>
                </a:rPr>
                <a:t>+</a:t>
              </a:r>
              <a:r>
                <a:rPr lang="en-US" altLang="en-US" b="1" i="1">
                  <a:solidFill>
                    <a:srgbClr val="000000"/>
                  </a:solidFill>
                </a:rPr>
                <a:t> Y</a:t>
              </a:r>
            </a:p>
          </p:txBody>
        </p:sp>
        <p:sp>
          <p:nvSpPr>
            <p:cNvPr id="31800" name="Rectangle 422">
              <a:extLst>
                <a:ext uri="{FF2B5EF4-FFF2-40B4-BE49-F238E27FC236}">
                  <a16:creationId xmlns:a16="http://schemas.microsoft.com/office/drawing/2014/main" xmlns="" id="{1ECC6E50-AF56-4273-8308-8BFA58F79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3563"/>
              <a:ext cx="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31801" name="Rectangle 426">
              <a:extLst>
                <a:ext uri="{FF2B5EF4-FFF2-40B4-BE49-F238E27FC236}">
                  <a16:creationId xmlns:a16="http://schemas.microsoft.com/office/drawing/2014/main" xmlns="" id="{EDD2C5AF-4EAB-45F0-BADA-76EBBDC97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3553"/>
              <a:ext cx="94" cy="7"/>
            </a:xfrm>
            <a:prstGeom prst="rect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1802" name="Rectangle 434">
              <a:extLst>
                <a:ext uri="{FF2B5EF4-FFF2-40B4-BE49-F238E27FC236}">
                  <a16:creationId xmlns:a16="http://schemas.microsoft.com/office/drawing/2014/main" xmlns="" id="{E2EC721B-AB0F-43D4-992E-FC47A4FF3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3553"/>
              <a:ext cx="320" cy="7"/>
            </a:xfrm>
            <a:prstGeom prst="rect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1803" name="Rectangle 438">
              <a:extLst>
                <a:ext uri="{FF2B5EF4-FFF2-40B4-BE49-F238E27FC236}">
                  <a16:creationId xmlns:a16="http://schemas.microsoft.com/office/drawing/2014/main" xmlns="" id="{91935AEF-09A4-4258-AD6C-748360718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553"/>
              <a:ext cx="94" cy="7"/>
            </a:xfrm>
            <a:prstGeom prst="rect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1763" name="Group 457">
            <a:extLst>
              <a:ext uri="{FF2B5EF4-FFF2-40B4-BE49-F238E27FC236}">
                <a16:creationId xmlns:a16="http://schemas.microsoft.com/office/drawing/2014/main" xmlns="" id="{CEB9320B-0E2A-4AC4-BB91-12496BBD409F}"/>
              </a:ext>
            </a:extLst>
          </p:cNvPr>
          <p:cNvGrpSpPr>
            <a:grpSpLocks/>
          </p:cNvGrpSpPr>
          <p:nvPr/>
        </p:nvGrpSpPr>
        <p:grpSpPr bwMode="auto">
          <a:xfrm>
            <a:off x="2390775" y="2517776"/>
            <a:ext cx="1079500" cy="1844675"/>
            <a:chOff x="546" y="1586"/>
            <a:chExt cx="680" cy="1162"/>
          </a:xfrm>
        </p:grpSpPr>
        <p:sp>
          <p:nvSpPr>
            <p:cNvPr id="31765" name="Rectangle 321">
              <a:extLst>
                <a:ext uri="{FF2B5EF4-FFF2-40B4-BE49-F238E27FC236}">
                  <a16:creationId xmlns:a16="http://schemas.microsoft.com/office/drawing/2014/main" xmlns="" id="{9A8F4BC6-D6BB-4553-8219-906594F3F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1588"/>
              <a:ext cx="140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 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66" name="Rectangle 322">
              <a:extLst>
                <a:ext uri="{FF2B5EF4-FFF2-40B4-BE49-F238E27FC236}">
                  <a16:creationId xmlns:a16="http://schemas.microsoft.com/office/drawing/2014/main" xmlns="" id="{E48463E9-8D55-49B4-91BC-C4F8015BF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586"/>
              <a:ext cx="20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+ 0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67" name="Rectangle 324">
              <a:extLst>
                <a:ext uri="{FF2B5EF4-FFF2-40B4-BE49-F238E27FC236}">
                  <a16:creationId xmlns:a16="http://schemas.microsoft.com/office/drawing/2014/main" xmlns="" id="{03C62FB8-35FA-41C4-B582-7106B073F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1588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68" name="Rectangle 325">
              <a:extLst>
                <a:ext uri="{FF2B5EF4-FFF2-40B4-BE49-F238E27FC236}">
                  <a16:creationId xmlns:a16="http://schemas.microsoft.com/office/drawing/2014/main" xmlns="" id="{81604D84-BDC5-4EAA-92B7-E94CF27A0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1593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69" name="Rectangle 333">
              <a:extLst>
                <a:ext uri="{FF2B5EF4-FFF2-40B4-BE49-F238E27FC236}">
                  <a16:creationId xmlns:a16="http://schemas.microsoft.com/office/drawing/2014/main" xmlns="" id="{81B51EE9-9F68-473D-9D84-19D858CC8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184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+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0" name="Rectangle 331">
              <a:extLst>
                <a:ext uri="{FF2B5EF4-FFF2-40B4-BE49-F238E27FC236}">
                  <a16:creationId xmlns:a16="http://schemas.microsoft.com/office/drawing/2014/main" xmlns="" id="{F7809087-1B15-45AA-AC86-6D65545F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" y="1845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1" name="Rectangle 332">
              <a:extLst>
                <a:ext uri="{FF2B5EF4-FFF2-40B4-BE49-F238E27FC236}">
                  <a16:creationId xmlns:a16="http://schemas.microsoft.com/office/drawing/2014/main" xmlns="" id="{5AD287C8-B614-49BF-9120-8DF1AD0A6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" y="1842"/>
              <a:ext cx="19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   1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2" name="Rectangle 334">
              <a:extLst>
                <a:ext uri="{FF2B5EF4-FFF2-40B4-BE49-F238E27FC236}">
                  <a16:creationId xmlns:a16="http://schemas.microsoft.com/office/drawing/2014/main" xmlns="" id="{C87C3A51-9E93-4511-8612-3FCB0F8B8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184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1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3" name="Rectangle 335">
              <a:extLst>
                <a:ext uri="{FF2B5EF4-FFF2-40B4-BE49-F238E27FC236}">
                  <a16:creationId xmlns:a16="http://schemas.microsoft.com/office/drawing/2014/main" xmlns="" id="{A9770E64-DD31-4E91-81D3-776C5B011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" y="184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4" name="Rectangle 341">
              <a:extLst>
                <a:ext uri="{FF2B5EF4-FFF2-40B4-BE49-F238E27FC236}">
                  <a16:creationId xmlns:a16="http://schemas.microsoft.com/office/drawing/2014/main" xmlns="" id="{17B59F87-C139-4E1A-A10A-2609BD7D2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" y="2085"/>
              <a:ext cx="36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 + 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5" name="Rectangle 343">
              <a:extLst>
                <a:ext uri="{FF2B5EF4-FFF2-40B4-BE49-F238E27FC236}">
                  <a16:creationId xmlns:a16="http://schemas.microsoft.com/office/drawing/2014/main" xmlns="" id="{94EB8780-10A0-4671-BA15-D2E21587D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" y="2085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6" name="Rectangle 344">
              <a:extLst>
                <a:ext uri="{FF2B5EF4-FFF2-40B4-BE49-F238E27FC236}">
                  <a16:creationId xmlns:a16="http://schemas.microsoft.com/office/drawing/2014/main" xmlns="" id="{EE7B2BDE-982B-4745-A517-82206F738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08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7" name="Rectangle 351">
              <a:extLst>
                <a:ext uri="{FF2B5EF4-FFF2-40B4-BE49-F238E27FC236}">
                  <a16:creationId xmlns:a16="http://schemas.microsoft.com/office/drawing/2014/main" xmlns="" id="{91BCB233-1385-41B5-9329-C4E3CA4CA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232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1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78" name="Rectangle 352">
              <a:extLst>
                <a:ext uri="{FF2B5EF4-FFF2-40B4-BE49-F238E27FC236}">
                  <a16:creationId xmlns:a16="http://schemas.microsoft.com/office/drawing/2014/main" xmlns="" id="{50A31A84-666E-4630-AD28-7299D1811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" y="2329"/>
              <a:ext cx="8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=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grpSp>
          <p:nvGrpSpPr>
            <p:cNvPr id="31779" name="Group 455">
              <a:extLst>
                <a:ext uri="{FF2B5EF4-FFF2-40B4-BE49-F238E27FC236}">
                  <a16:creationId xmlns:a16="http://schemas.microsoft.com/office/drawing/2014/main" xmlns="" id="{EF957591-57A5-481F-B871-52562F2A1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" y="2324"/>
              <a:ext cx="392" cy="184"/>
              <a:chOff x="546" y="2324"/>
              <a:chExt cx="392" cy="184"/>
            </a:xfrm>
          </p:grpSpPr>
          <p:sp>
            <p:nvSpPr>
              <p:cNvPr id="31783" name="Rectangle 349">
                <a:extLst>
                  <a:ext uri="{FF2B5EF4-FFF2-40B4-BE49-F238E27FC236}">
                    <a16:creationId xmlns:a16="http://schemas.microsoft.com/office/drawing/2014/main" xmlns="" id="{F8615F3C-F04A-4240-BBDE-715A7B3EB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2324"/>
                <a:ext cx="369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b="1" i="1">
                    <a:solidFill>
                      <a:srgbClr val="000000"/>
                    </a:solidFill>
                  </a:rPr>
                  <a:t>X + X</a:t>
                </a:r>
                <a:endParaRPr lang="en-US" altLang="en-US" sz="24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1784" name="Rectangle 353">
                <a:extLst>
                  <a:ext uri="{FF2B5EF4-FFF2-40B4-BE49-F238E27FC236}">
                    <a16:creationId xmlns:a16="http://schemas.microsoft.com/office/drawing/2014/main" xmlns="" id="{AA67DD30-F0E4-4064-825F-4F989A825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2327"/>
                <a:ext cx="98" cy="7"/>
              </a:xfrm>
              <a:prstGeom prst="rect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1780" name="Rectangle 359">
              <a:extLst>
                <a:ext uri="{FF2B5EF4-FFF2-40B4-BE49-F238E27FC236}">
                  <a16:creationId xmlns:a16="http://schemas.microsoft.com/office/drawing/2014/main" xmlns="" id="{75AD420D-1740-48DC-914C-C5827E081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" y="2564"/>
              <a:ext cx="38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 i="1">
                  <a:solidFill>
                    <a:srgbClr val="000000"/>
                  </a:solidFill>
                  <a:latin typeface="TimesTen" pitchFamily="18" charset="0"/>
                </a:rPr>
                <a:t>X </a:t>
              </a:r>
              <a:r>
                <a:rPr lang="en-US" altLang="en-US" sz="1900" i="1">
                  <a:solidFill>
                    <a:srgbClr val="000000"/>
                  </a:solidFill>
                  <a:latin typeface="TimesTen" pitchFamily="18" charset="0"/>
                </a:rPr>
                <a:t>=</a:t>
              </a:r>
              <a:r>
                <a:rPr lang="en-US" altLang="en-US" sz="1900" b="1" i="1">
                  <a:solidFill>
                    <a:srgbClr val="000000"/>
                  </a:solidFill>
                  <a:latin typeface="TimesTen" pitchFamily="18" charset="0"/>
                </a:rPr>
                <a:t> 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31781" name="Rectangle 361">
              <a:extLst>
                <a:ext uri="{FF2B5EF4-FFF2-40B4-BE49-F238E27FC236}">
                  <a16:creationId xmlns:a16="http://schemas.microsoft.com/office/drawing/2014/main" xmlns="" id="{CC87B62B-4286-4CAE-ABB1-1AE916F40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" y="2568"/>
              <a:ext cx="98" cy="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1782" name="Rectangle 444">
              <a:extLst>
                <a:ext uri="{FF2B5EF4-FFF2-40B4-BE49-F238E27FC236}">
                  <a16:creationId xmlns:a16="http://schemas.microsoft.com/office/drawing/2014/main" xmlns="" id="{A5248DCA-993B-4ABB-9B84-925A26A70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" y="2536"/>
              <a:ext cx="98" cy="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1764" name="Line 454">
            <a:extLst>
              <a:ext uri="{FF2B5EF4-FFF2-40B4-BE49-F238E27FC236}">
                <a16:creationId xmlns:a16="http://schemas.microsoft.com/office/drawing/2014/main" xmlns="" id="{F883F910-486F-4567-94A9-0213A57CE0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09026" y="1728788"/>
            <a:ext cx="1889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2">
            <a:extLst>
              <a:ext uri="{FF2B5EF4-FFF2-40B4-BE49-F238E27FC236}">
                <a16:creationId xmlns:a16="http://schemas.microsoft.com/office/drawing/2014/main" xmlns="" id="{11FC8EEB-C4D8-4D7A-9A66-35B1B86189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86459AB6-7FC5-4F53-A52A-E547F0B9547A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2773" name="Rectangle 23">
            <a:extLst>
              <a:ext uri="{FF2B5EF4-FFF2-40B4-BE49-F238E27FC236}">
                <a16:creationId xmlns:a16="http://schemas.microsoft.com/office/drawing/2014/main" xmlns="" id="{38D5EEE4-1170-4726-8C9D-988447BCDC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8350" y="212725"/>
            <a:ext cx="8351838" cy="838200"/>
          </a:xfrm>
          <a:noFill/>
        </p:spPr>
        <p:txBody>
          <a:bodyPr/>
          <a:lstStyle/>
          <a:p>
            <a:r>
              <a:rPr lang="en-US" altLang="en-US" sz="3200" b="1"/>
              <a:t>Some Properties of Identities &amp; the Algebra</a:t>
            </a:r>
          </a:p>
        </p:txBody>
      </p:sp>
      <p:sp>
        <p:nvSpPr>
          <p:cNvPr id="32774" name="Rectangle 25">
            <a:extLst>
              <a:ext uri="{FF2B5EF4-FFF2-40B4-BE49-F238E27FC236}">
                <a16:creationId xmlns:a16="http://schemas.microsoft.com/office/drawing/2014/main" xmlns="" id="{3C4EBA02-67D9-4DF1-97EF-DFF50312F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81" y="1598125"/>
            <a:ext cx="8748103" cy="370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9999"/>
              </a:buClr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9999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en-US" sz="2400" b="1" dirty="0">
                <a:solidFill>
                  <a:srgbClr val="000000"/>
                </a:solidFill>
              </a:rPr>
              <a:t>The </a:t>
            </a:r>
            <a:r>
              <a:rPr lang="en-US" altLang="en-US" sz="2400" b="1" u="sng" dirty="0">
                <a:solidFill>
                  <a:srgbClr val="000000"/>
                </a:solidFill>
              </a:rPr>
              <a:t>dual</a:t>
            </a:r>
            <a:r>
              <a:rPr lang="en-US" altLang="en-US" sz="2400" b="1" dirty="0">
                <a:solidFill>
                  <a:srgbClr val="000000"/>
                </a:solidFill>
              </a:rPr>
              <a:t> of an algebraic expression is obtained by interchanging + and </a:t>
            </a:r>
            <a:r>
              <a:rPr lang="en-US" altLang="en-US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· </a:t>
            </a:r>
            <a:r>
              <a:rPr lang="en-US" altLang="en-US" sz="2400" b="1" dirty="0">
                <a:solidFill>
                  <a:srgbClr val="000000"/>
                </a:solidFill>
              </a:rPr>
              <a:t>and interchanging 0’s and 1’s.</a:t>
            </a:r>
            <a:r>
              <a:rPr lang="en-US" altLang="en-US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0" fontAlgn="base" hangingPunct="0">
              <a:spcAft>
                <a:spcPct val="0"/>
              </a:spcAft>
            </a:pPr>
            <a:endParaRPr lang="en-US" altLang="en-US" sz="2400" b="1" dirty="0">
              <a:solidFill>
                <a:srgbClr val="00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0" fontAlgn="base" hangingPunct="0">
              <a:spcAft>
                <a:spcPct val="0"/>
              </a:spcAft>
              <a:buNone/>
            </a:pPr>
            <a:endParaRPr lang="en-US" altLang="en-US" sz="2400" b="1" dirty="0">
              <a:solidFill>
                <a:srgbClr val="00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altLang="en-US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The identities appear in </a:t>
            </a:r>
            <a:r>
              <a:rPr lang="en-US" altLang="en-US" sz="2400" b="1" u="sng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dual</a:t>
            </a:r>
            <a:r>
              <a:rPr lang="en-US" altLang="en-US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pairs. When there is only one identity on a line the identity is </a:t>
            </a:r>
            <a:r>
              <a:rPr lang="en-US" altLang="en-US" sz="2400" b="1" u="sng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self-dual</a:t>
            </a:r>
            <a:r>
              <a:rPr lang="en-US" altLang="en-US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sz="2400" b="1" dirty="0" err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. e., the dual expression = the original expression. 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xmlns="" id="{CE1694E3-04EC-41D1-8065-4DB0AB380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F8FD12C1-A53D-4E24-8E1E-4EE9556DA803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xmlns="" id="{A16D6DEA-16D6-46B9-8169-7C24366E4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8375" y="1708151"/>
            <a:ext cx="7772400" cy="4562475"/>
          </a:xfrm>
          <a:noFill/>
        </p:spPr>
        <p:txBody>
          <a:bodyPr/>
          <a:lstStyle/>
          <a:p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Unless it happens to be self-dual, the dual of an expression does not equal the expression itself.</a:t>
            </a:r>
          </a:p>
          <a:p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Example: F = (A + C)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· 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B + 0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             dual F =  (A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 C + B)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· 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 C  + B</a:t>
            </a:r>
          </a:p>
          <a:p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Example: G = X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 Y + (W + Z)</a:t>
            </a:r>
          </a:p>
          <a:p>
            <a:pPr>
              <a:buNone/>
            </a:pP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           dual G = </a:t>
            </a:r>
            <a:r>
              <a:rPr lang="en-US" altLang="en-US" sz="2800" dirty="0"/>
              <a:t>((X</a:t>
            </a:r>
            <a:r>
              <a:rPr lang="en-US" altLang="en-US" sz="1600" b="1" dirty="0">
                <a:cs typeface="Times New Roman" panose="02020603050405020304" pitchFamily="18" charset="0"/>
              </a:rPr>
              <a:t>+</a:t>
            </a:r>
            <a:r>
              <a:rPr lang="en-US" altLang="en-US" sz="2800" dirty="0"/>
              <a:t>Y) </a:t>
            </a:r>
            <a:r>
              <a:rPr lang="en-US" altLang="en-US" sz="16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dirty="0"/>
              <a:t> (W </a:t>
            </a:r>
            <a:r>
              <a:rPr lang="en-US" altLang="en-US" sz="16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dirty="0"/>
              <a:t> Z)’) </a:t>
            </a:r>
            <a:endParaRPr lang="en-US" altLang="en-US" sz="16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1600" dirty="0">
                <a:cs typeface="Times New Roman" panose="02020603050405020304" pitchFamily="18" charset="0"/>
                <a:sym typeface="Symbol" panose="05050102010706020507" pitchFamily="18" charset="2"/>
              </a:rPr>
              <a:t>			=  </a:t>
            </a:r>
            <a:r>
              <a:rPr lang="en-US" altLang="en-US" sz="2800" dirty="0"/>
              <a:t>((X</a:t>
            </a:r>
            <a:r>
              <a:rPr lang="en-US" altLang="en-US" sz="1600" b="1" dirty="0">
                <a:cs typeface="Times New Roman" panose="02020603050405020304" pitchFamily="18" charset="0"/>
              </a:rPr>
              <a:t>+</a:t>
            </a:r>
            <a:r>
              <a:rPr lang="en-US" altLang="en-US" sz="2800" dirty="0"/>
              <a:t>Y) </a:t>
            </a:r>
            <a:r>
              <a:rPr lang="en-US" altLang="en-US" sz="16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dirty="0"/>
              <a:t>(W' </a:t>
            </a:r>
            <a:r>
              <a:rPr lang="en-US" altLang="en-US" sz="1600" b="1" dirty="0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800" dirty="0"/>
              <a:t> Z')</a:t>
            </a:r>
            <a:endParaRPr lang="en-US" altLang="en-US" sz="2800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xmlns="" id="{7EFC62A9-5282-4C03-9249-0B5FDAA07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2725"/>
            <a:ext cx="8351838" cy="838200"/>
          </a:xfrm>
        </p:spPr>
        <p:txBody>
          <a:bodyPr/>
          <a:lstStyle/>
          <a:p>
            <a:r>
              <a:rPr lang="en-US" altLang="en-US" sz="3200" b="1"/>
              <a:t>Some Properties of Identities &amp; the Algebra </a:t>
            </a:r>
            <a:r>
              <a:rPr lang="en-US" altLang="en-US" sz="3200"/>
              <a:t>(Continued)</a:t>
            </a:r>
          </a:p>
        </p:txBody>
      </p:sp>
      <p:sp>
        <p:nvSpPr>
          <p:cNvPr id="33797" name="Line 4">
            <a:extLst>
              <a:ext uri="{FF2B5EF4-FFF2-40B4-BE49-F238E27FC236}">
                <a16:creationId xmlns:a16="http://schemas.microsoft.com/office/drawing/2014/main" xmlns="" id="{8BA40172-A034-429B-9B29-503286CC3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8639" y="3246438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xmlns="" id="{078FCEEF-64AA-47AF-947F-86D9544B5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9" y="3759200"/>
            <a:ext cx="904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9" name="Line 6">
            <a:extLst>
              <a:ext uri="{FF2B5EF4-FFF2-40B4-BE49-F238E27FC236}">
                <a16:creationId xmlns:a16="http://schemas.microsoft.com/office/drawing/2014/main" xmlns="" id="{EB977BF7-E1F6-4FBF-8D07-FEF163390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4514" y="2743200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0" name="Line 9">
            <a:extLst>
              <a:ext uri="{FF2B5EF4-FFF2-40B4-BE49-F238E27FC236}">
                <a16:creationId xmlns:a16="http://schemas.microsoft.com/office/drawing/2014/main" xmlns="" id="{E39295DA-9495-484E-9504-CE4EBABF6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4150" y="3255963"/>
            <a:ext cx="217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493DF4-7AC9-4E76-8967-0FEDAD82A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Example: H = A 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 B + A · C + B · C</a:t>
            </a:r>
          </a:p>
          <a:p>
            <a:endParaRPr lang="en-US" altLang="en-US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en-US" dirty="0"/>
              <a:t>(A + B)(A + C)(B + C). 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    (A +BC) (B+C) </a:t>
            </a:r>
          </a:p>
          <a:p>
            <a:endParaRPr lang="en-US" altLang="en-US" dirty="0"/>
          </a:p>
          <a:p>
            <a:r>
              <a:rPr lang="en-US" altLang="en-US" dirty="0"/>
              <a:t>   AB + AC + BC. </a:t>
            </a:r>
          </a:p>
          <a:p>
            <a:pPr marL="0" indent="0">
              <a:buNone/>
            </a:pPr>
            <a:r>
              <a:rPr lang="en-US" altLang="en-US" dirty="0"/>
              <a:t>So H is self-dual.</a:t>
            </a:r>
          </a:p>
          <a:p>
            <a:endParaRPr lang="en-US" altLang="en-US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402A3D-F45C-4B2A-B23C-A257D57A2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Chapter 2 - Part 1         </a:t>
            </a:r>
            <a:fld id="{B3EDB963-B994-4340-BFD5-6A44A9DD331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DA5FBC8-8161-46C1-BC01-BDE24633A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811" y="3724335"/>
            <a:ext cx="2712541" cy="3848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859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>
            <a:extLst>
              <a:ext uri="{FF2B5EF4-FFF2-40B4-BE49-F238E27FC236}">
                <a16:creationId xmlns:a16="http://schemas.microsoft.com/office/drawing/2014/main" xmlns="" id="{77D9F62B-8118-4F9A-A21E-55E2CBE8B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03F52CB7-B8F3-4111-8403-E7751E5AA952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44035" name="Rectangle 138">
            <a:extLst>
              <a:ext uri="{FF2B5EF4-FFF2-40B4-BE49-F238E27FC236}">
                <a16:creationId xmlns:a16="http://schemas.microsoft.com/office/drawing/2014/main" xmlns="" id="{9E4BB0D1-1552-4BFF-A5CF-DFD7E19CE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36" name="Rectangle 137">
            <a:extLst>
              <a:ext uri="{FF2B5EF4-FFF2-40B4-BE49-F238E27FC236}">
                <a16:creationId xmlns:a16="http://schemas.microsoft.com/office/drawing/2014/main" xmlns="" id="{F56163A1-2717-49F8-8C48-F65D47817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975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37" name="Rectangle 144">
            <a:extLst>
              <a:ext uri="{FF2B5EF4-FFF2-40B4-BE49-F238E27FC236}">
                <a16:creationId xmlns:a16="http://schemas.microsoft.com/office/drawing/2014/main" xmlns="" id="{A3A46D00-0785-453A-976F-746F896C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4441826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38" name="Rectangle 139">
            <a:extLst>
              <a:ext uri="{FF2B5EF4-FFF2-40B4-BE49-F238E27FC236}">
                <a16:creationId xmlns:a16="http://schemas.microsoft.com/office/drawing/2014/main" xmlns="" id="{017F704E-0315-4CF8-BE9E-00785015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763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39" name="Rectangle 2">
            <a:extLst>
              <a:ext uri="{FF2B5EF4-FFF2-40B4-BE49-F238E27FC236}">
                <a16:creationId xmlns:a16="http://schemas.microsoft.com/office/drawing/2014/main" xmlns="" id="{74121795-6E1E-40A8-880F-D950EB604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466850"/>
            <a:ext cx="7772400" cy="4724400"/>
          </a:xfrm>
        </p:spPr>
        <p:txBody>
          <a:bodyPr/>
          <a:lstStyle/>
          <a:p>
            <a:r>
              <a:rPr lang="en-US" altLang="en-US"/>
              <a:t> </a:t>
            </a:r>
          </a:p>
          <a:p>
            <a:r>
              <a:rPr lang="en-US" altLang="en-US"/>
              <a:t>  </a:t>
            </a:r>
          </a:p>
          <a:p>
            <a:r>
              <a:rPr lang="en-US" altLang="en-US"/>
              <a:t> </a:t>
            </a:r>
          </a:p>
          <a:p>
            <a:r>
              <a:rPr lang="en-US" altLang="en-US"/>
              <a:t> </a:t>
            </a:r>
          </a:p>
          <a:p>
            <a:endParaRPr lang="en-US" altLang="en-US"/>
          </a:p>
          <a:p>
            <a:r>
              <a:rPr lang="en-US" altLang="en-US"/>
              <a:t> 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4040" name="Rectangle 3">
            <a:extLst>
              <a:ext uri="{FF2B5EF4-FFF2-40B4-BE49-F238E27FC236}">
                <a16:creationId xmlns:a16="http://schemas.microsoft.com/office/drawing/2014/main" xmlns="" id="{54661238-781A-49B7-9391-C274642A6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b="1"/>
              <a:t>Useful Theorems</a:t>
            </a:r>
          </a:p>
        </p:txBody>
      </p:sp>
      <p:sp>
        <p:nvSpPr>
          <p:cNvPr id="44041" name="Line 10">
            <a:extLst>
              <a:ext uri="{FF2B5EF4-FFF2-40B4-BE49-F238E27FC236}">
                <a16:creationId xmlns:a16="http://schemas.microsoft.com/office/drawing/2014/main" xmlns="" id="{8DFBF651-3AC5-4885-A29D-356F5E666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4101" y="1668463"/>
            <a:ext cx="1762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Rectangle 11">
            <a:extLst>
              <a:ext uri="{FF2B5EF4-FFF2-40B4-BE49-F238E27FC236}">
                <a16:creationId xmlns:a16="http://schemas.microsoft.com/office/drawing/2014/main" xmlns="" id="{BA07DD1D-7E52-4B20-B1B8-1C0659B9D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1403351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3" name="Rectangle 12">
            <a:extLst>
              <a:ext uri="{FF2B5EF4-FFF2-40B4-BE49-F238E27FC236}">
                <a16:creationId xmlns:a16="http://schemas.microsoft.com/office/drawing/2014/main" xmlns="" id="{BDE34C3D-F614-4DCD-B5B1-421257DF3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1403351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4" name="Rectangle 14">
            <a:extLst>
              <a:ext uri="{FF2B5EF4-FFF2-40B4-BE49-F238E27FC236}">
                <a16:creationId xmlns:a16="http://schemas.microsoft.com/office/drawing/2014/main" xmlns="" id="{01F04D63-143B-4F7E-AAFB-DEAF59C5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1347789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5" name="Rectangle 15">
            <a:extLst>
              <a:ext uri="{FF2B5EF4-FFF2-40B4-BE49-F238E27FC236}">
                <a16:creationId xmlns:a16="http://schemas.microsoft.com/office/drawing/2014/main" xmlns="" id="{60901BA5-3E0D-4A36-A1F2-0F1ABA8AA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188" y="1347789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6" name="Rectangle 16">
            <a:extLst>
              <a:ext uri="{FF2B5EF4-FFF2-40B4-BE49-F238E27FC236}">
                <a16:creationId xmlns:a16="http://schemas.microsoft.com/office/drawing/2014/main" xmlns="" id="{4F1BA046-D48A-4BB8-9310-54DF43BB1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1863" y="153987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n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7" name="Rectangle 17">
            <a:extLst>
              <a:ext uri="{FF2B5EF4-FFF2-40B4-BE49-F238E27FC236}">
                <a16:creationId xmlns:a16="http://schemas.microsoft.com/office/drawing/2014/main" xmlns="" id="{26AFAF79-B5BB-40CF-9CF3-AC8012DB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914" y="1539875"/>
            <a:ext cx="1520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inimizatio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8" name="Rectangle 18">
            <a:extLst>
              <a:ext uri="{FF2B5EF4-FFF2-40B4-BE49-F238E27FC236}">
                <a16:creationId xmlns:a16="http://schemas.microsoft.com/office/drawing/2014/main" xmlns="" id="{69261098-9300-4C07-9D0B-0044654F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1539876"/>
            <a:ext cx="3382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49" name="Rectangle 19">
            <a:extLst>
              <a:ext uri="{FF2B5EF4-FFF2-40B4-BE49-F238E27FC236}">
                <a16:creationId xmlns:a16="http://schemas.microsoft.com/office/drawing/2014/main" xmlns="" id="{2FAC7760-1121-4EA3-9E5F-B809B05D1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0" name="Rectangle 20">
            <a:extLst>
              <a:ext uri="{FF2B5EF4-FFF2-40B4-BE49-F238E27FC236}">
                <a16:creationId xmlns:a16="http://schemas.microsoft.com/office/drawing/2014/main" xmlns="" id="{E63CB6F6-B393-4711-B581-3995BC33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1" name="Rectangle 22">
            <a:extLst>
              <a:ext uri="{FF2B5EF4-FFF2-40B4-BE49-F238E27FC236}">
                <a16:creationId xmlns:a16="http://schemas.microsoft.com/office/drawing/2014/main" xmlns="" id="{1AE57C9B-5063-498F-8AAD-1719DE5FD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675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2" name="Rectangle 23">
            <a:extLst>
              <a:ext uri="{FF2B5EF4-FFF2-40B4-BE49-F238E27FC236}">
                <a16:creationId xmlns:a16="http://schemas.microsoft.com/office/drawing/2014/main" xmlns="" id="{53932F82-890B-429C-BD05-E3246905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88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3" name="Rectangle 24">
            <a:extLst>
              <a:ext uri="{FF2B5EF4-FFF2-40B4-BE49-F238E27FC236}">
                <a16:creationId xmlns:a16="http://schemas.microsoft.com/office/drawing/2014/main" xmlns="" id="{A7131DE2-EF29-4F81-B65B-90A2B108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4" name="Rectangle 25">
            <a:extLst>
              <a:ext uri="{FF2B5EF4-FFF2-40B4-BE49-F238E27FC236}">
                <a16:creationId xmlns:a16="http://schemas.microsoft.com/office/drawing/2014/main" xmlns="" id="{0CE54915-0E72-4AB8-9369-539EB6CC0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5" name="Rectangle 27">
            <a:extLst>
              <a:ext uri="{FF2B5EF4-FFF2-40B4-BE49-F238E27FC236}">
                <a16:creationId xmlns:a16="http://schemas.microsoft.com/office/drawing/2014/main" xmlns="" id="{886528A1-EDCB-465E-BDEE-499A5A8EA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050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6" name="Rectangle 28">
            <a:extLst>
              <a:ext uri="{FF2B5EF4-FFF2-40B4-BE49-F238E27FC236}">
                <a16:creationId xmlns:a16="http://schemas.microsoft.com/office/drawing/2014/main" xmlns="" id="{1E5B599A-3D1D-4D6B-81E7-15DEE4B84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15398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7" name="Rectangle 29">
            <a:extLst>
              <a:ext uri="{FF2B5EF4-FFF2-40B4-BE49-F238E27FC236}">
                <a16:creationId xmlns:a16="http://schemas.microsoft.com/office/drawing/2014/main" xmlns="" id="{1DEBE33E-61DA-41DC-BA6E-17F2A6618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225" y="150018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8" name="Rectangle 30">
            <a:extLst>
              <a:ext uri="{FF2B5EF4-FFF2-40B4-BE49-F238E27FC236}">
                <a16:creationId xmlns:a16="http://schemas.microsoft.com/office/drawing/2014/main" xmlns="" id="{6B0EDE1E-9D25-431D-B9EC-25E9CCA9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5" y="150018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59" name="Rectangle 31">
            <a:extLst>
              <a:ext uri="{FF2B5EF4-FFF2-40B4-BE49-F238E27FC236}">
                <a16:creationId xmlns:a16="http://schemas.microsoft.com/office/drawing/2014/main" xmlns="" id="{D1062BFF-4A0B-4057-BF0A-85C346788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038" y="150018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0" name="Rectangle 32">
            <a:extLst>
              <a:ext uri="{FF2B5EF4-FFF2-40B4-BE49-F238E27FC236}">
                <a16:creationId xmlns:a16="http://schemas.microsoft.com/office/drawing/2014/main" xmlns="" id="{CBCAD234-5E67-4ADD-8D52-D1B7C43CF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25" y="150018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1" name="Rectangle 33">
            <a:extLst>
              <a:ext uri="{FF2B5EF4-FFF2-40B4-BE49-F238E27FC236}">
                <a16:creationId xmlns:a16="http://schemas.microsoft.com/office/drawing/2014/main" xmlns="" id="{1280F55F-CB92-4521-A718-70893FB3E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1544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2" name="Rectangle 35">
            <a:extLst>
              <a:ext uri="{FF2B5EF4-FFF2-40B4-BE49-F238E27FC236}">
                <a16:creationId xmlns:a16="http://schemas.microsoft.com/office/drawing/2014/main" xmlns="" id="{2FE4EBD9-8437-4A90-ACD2-2702F7A89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153828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3" name="Rectangle 41">
            <a:extLst>
              <a:ext uri="{FF2B5EF4-FFF2-40B4-BE49-F238E27FC236}">
                <a16:creationId xmlns:a16="http://schemas.microsoft.com/office/drawing/2014/main" xmlns="" id="{4AAE6186-3D79-4695-B956-8A3EB44BA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2520951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4" name="Rectangle 42">
            <a:extLst>
              <a:ext uri="{FF2B5EF4-FFF2-40B4-BE49-F238E27FC236}">
                <a16:creationId xmlns:a16="http://schemas.microsoft.com/office/drawing/2014/main" xmlns="" id="{BF6455EB-0216-4716-BBAC-E9A0EFEEF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525" y="2520951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5" name="Rectangle 43">
            <a:extLst>
              <a:ext uri="{FF2B5EF4-FFF2-40B4-BE49-F238E27FC236}">
                <a16:creationId xmlns:a16="http://schemas.microsoft.com/office/drawing/2014/main" xmlns="" id="{D5396FCB-8439-4AE6-9119-5E719B009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851" y="2713039"/>
            <a:ext cx="5937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tion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6" name="Rectangle 44">
            <a:extLst>
              <a:ext uri="{FF2B5EF4-FFF2-40B4-BE49-F238E27FC236}">
                <a16:creationId xmlns:a16="http://schemas.microsoft.com/office/drawing/2014/main" xmlns="" id="{22049486-6816-4BC0-8479-A2DC80111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6" y="2713039"/>
            <a:ext cx="15414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Simplifica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7" name="Rectangle 45">
            <a:extLst>
              <a:ext uri="{FF2B5EF4-FFF2-40B4-BE49-F238E27FC236}">
                <a16:creationId xmlns:a16="http://schemas.microsoft.com/office/drawing/2014/main" xmlns="" id="{3DC17D14-D249-431E-AE5E-49FB95AD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939" y="2713039"/>
            <a:ext cx="7181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      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8" name="Rectangle 46">
            <a:extLst>
              <a:ext uri="{FF2B5EF4-FFF2-40B4-BE49-F238E27FC236}">
                <a16:creationId xmlns:a16="http://schemas.microsoft.com/office/drawing/2014/main" xmlns="" id="{84E70F78-2681-4F5A-A615-ADBF5D0A2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138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69" name="Rectangle 47">
            <a:extLst>
              <a:ext uri="{FF2B5EF4-FFF2-40B4-BE49-F238E27FC236}">
                <a16:creationId xmlns:a16="http://schemas.microsoft.com/office/drawing/2014/main" xmlns="" id="{1F8C792C-0EA3-4CCD-ABFC-6898DBA88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0" name="Rectangle 48">
            <a:extLst>
              <a:ext uri="{FF2B5EF4-FFF2-40B4-BE49-F238E27FC236}">
                <a16:creationId xmlns:a16="http://schemas.microsoft.com/office/drawing/2014/main" xmlns="" id="{043A2085-8D91-4C5D-87F6-7ACA4BCF9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150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1" name="Rectangle 50">
            <a:extLst>
              <a:ext uri="{FF2B5EF4-FFF2-40B4-BE49-F238E27FC236}">
                <a16:creationId xmlns:a16="http://schemas.microsoft.com/office/drawing/2014/main" xmlns="" id="{953CD22F-66CA-4931-B9D9-730C296A5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2" name="Rectangle 51">
            <a:extLst>
              <a:ext uri="{FF2B5EF4-FFF2-40B4-BE49-F238E27FC236}">
                <a16:creationId xmlns:a16="http://schemas.microsoft.com/office/drawing/2014/main" xmlns="" id="{563F10B1-ECFE-40B9-BE66-4B6668868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3" name="Rectangle 52">
            <a:extLst>
              <a:ext uri="{FF2B5EF4-FFF2-40B4-BE49-F238E27FC236}">
                <a16:creationId xmlns:a16="http://schemas.microsoft.com/office/drawing/2014/main" xmlns="" id="{3FA87F05-F504-4900-AA1B-14450FD8A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4" name="Rectangle 53">
            <a:extLst>
              <a:ext uri="{FF2B5EF4-FFF2-40B4-BE49-F238E27FC236}">
                <a16:creationId xmlns:a16="http://schemas.microsoft.com/office/drawing/2014/main" xmlns="" id="{8BE7C1D0-C83C-4576-B9DB-D79DDCA84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5" name="Rectangle 55">
            <a:extLst>
              <a:ext uri="{FF2B5EF4-FFF2-40B4-BE49-F238E27FC236}">
                <a16:creationId xmlns:a16="http://schemas.microsoft.com/office/drawing/2014/main" xmlns="" id="{AA9D6C4F-2BE9-4E37-9E6B-F7F945E4E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27130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6" name="Rectangle 56">
            <a:extLst>
              <a:ext uri="{FF2B5EF4-FFF2-40B4-BE49-F238E27FC236}">
                <a16:creationId xmlns:a16="http://schemas.microsoft.com/office/drawing/2014/main" xmlns="" id="{4AFDF19E-F30F-49AB-9E3D-FFBD4CE90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438" y="272415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7" name="Rectangle 57">
            <a:extLst>
              <a:ext uri="{FF2B5EF4-FFF2-40B4-BE49-F238E27FC236}">
                <a16:creationId xmlns:a16="http://schemas.microsoft.com/office/drawing/2014/main" xmlns="" id="{A6B380F6-D194-452D-9CDA-5F9F2EFF1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6733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8" name="Rectangle 58">
            <a:extLst>
              <a:ext uri="{FF2B5EF4-FFF2-40B4-BE49-F238E27FC236}">
                <a16:creationId xmlns:a16="http://schemas.microsoft.com/office/drawing/2014/main" xmlns="" id="{CE7EABA5-3AFF-4CCF-A977-AE87B6D44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26733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79" name="Rectangle 59">
            <a:extLst>
              <a:ext uri="{FF2B5EF4-FFF2-40B4-BE49-F238E27FC236}">
                <a16:creationId xmlns:a16="http://schemas.microsoft.com/office/drawing/2014/main" xmlns="" id="{24E41E0B-DC0F-4DD4-98C7-452FDCD9C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271780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80" name="Rectangle 60">
            <a:extLst>
              <a:ext uri="{FF2B5EF4-FFF2-40B4-BE49-F238E27FC236}">
                <a16:creationId xmlns:a16="http://schemas.microsoft.com/office/drawing/2014/main" xmlns="" id="{1E9D696E-DD78-4A91-BD5A-AC7B086AD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26733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81" name="Rectangle 61">
            <a:extLst>
              <a:ext uri="{FF2B5EF4-FFF2-40B4-BE49-F238E27FC236}">
                <a16:creationId xmlns:a16="http://schemas.microsoft.com/office/drawing/2014/main" xmlns="" id="{B7CCC6B9-58B3-4216-8421-BD62D07B8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3" y="26733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82" name="Rectangle 62">
            <a:extLst>
              <a:ext uri="{FF2B5EF4-FFF2-40B4-BE49-F238E27FC236}">
                <a16:creationId xmlns:a16="http://schemas.microsoft.com/office/drawing/2014/main" xmlns="" id="{B549C7EA-9A4F-4D86-8432-EB0E026B0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271780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83" name="Rectangle 63">
            <a:extLst>
              <a:ext uri="{FF2B5EF4-FFF2-40B4-BE49-F238E27FC236}">
                <a16:creationId xmlns:a16="http://schemas.microsoft.com/office/drawing/2014/main" xmlns="" id="{B6E6BB2A-4DC3-4D65-8BE6-98666CBA6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6733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44084" name="Object 6">
            <a:extLst>
              <a:ext uri="{FF2B5EF4-FFF2-40B4-BE49-F238E27FC236}">
                <a16:creationId xmlns:a16="http://schemas.microsoft.com/office/drawing/2014/main" xmlns="" id="{F01D7030-3BB9-47EA-B917-30D09EEF8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3025" y="2060575"/>
          <a:ext cx="7086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3" imgW="7086600" imgH="419100" progId="Equation.3">
                  <p:embed/>
                </p:oleObj>
              </mc:Choice>
              <mc:Fallback>
                <p:oleObj name="Equation" r:id="rId3" imgW="7086600" imgH="419100" progId="Equation.3">
                  <p:embed/>
                  <p:pic>
                    <p:nvPicPr>
                      <p:cNvPr id="44084" name="Object 6">
                        <a:extLst>
                          <a:ext uri="{FF2B5EF4-FFF2-40B4-BE49-F238E27FC236}">
                            <a16:creationId xmlns:a16="http://schemas.microsoft.com/office/drawing/2014/main" xmlns="" id="{F01D7030-3BB9-47EA-B917-30D09EEF8D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2060575"/>
                        <a:ext cx="7086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5" name="Line 66">
            <a:extLst>
              <a:ext uri="{FF2B5EF4-FFF2-40B4-BE49-F238E27FC236}">
                <a16:creationId xmlns:a16="http://schemas.microsoft.com/office/drawing/2014/main" xmlns="" id="{CA519BE9-0F42-4A97-8ECE-45055AF9C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0613" y="3375025"/>
            <a:ext cx="1635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86" name="Line 67">
            <a:extLst>
              <a:ext uri="{FF2B5EF4-FFF2-40B4-BE49-F238E27FC236}">
                <a16:creationId xmlns:a16="http://schemas.microsoft.com/office/drawing/2014/main" xmlns="" id="{297FE00F-E844-4B89-9D6B-10F457EBF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8725" y="3375025"/>
            <a:ext cx="1651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87" name="Rectangle 68">
            <a:extLst>
              <a:ext uri="{FF2B5EF4-FFF2-40B4-BE49-F238E27FC236}">
                <a16:creationId xmlns:a16="http://schemas.microsoft.com/office/drawing/2014/main" xmlns="" id="{54ECC221-D224-4E1F-99E5-9BFF45E83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75" y="3246439"/>
            <a:ext cx="161743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Consensus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88" name="Rectangle 69">
            <a:extLst>
              <a:ext uri="{FF2B5EF4-FFF2-40B4-BE49-F238E27FC236}">
                <a16:creationId xmlns:a16="http://schemas.microsoft.com/office/drawing/2014/main" xmlns="" id="{F4309AEE-6E71-40FF-898D-FF405FEAB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24643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89" name="Rectangle 71">
            <a:extLst>
              <a:ext uri="{FF2B5EF4-FFF2-40B4-BE49-F238E27FC236}">
                <a16:creationId xmlns:a16="http://schemas.microsoft.com/office/drawing/2014/main" xmlns="" id="{18397BA7-C799-4315-8406-D55E0BFFF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32464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0" name="Rectangle 72">
            <a:extLst>
              <a:ext uri="{FF2B5EF4-FFF2-40B4-BE49-F238E27FC236}">
                <a16:creationId xmlns:a16="http://schemas.microsoft.com/office/drawing/2014/main" xmlns="" id="{959E8D51-FC6E-4BA3-94F4-E5A310A76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38" y="32464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1" name="Rectangle 73">
            <a:extLst>
              <a:ext uri="{FF2B5EF4-FFF2-40B4-BE49-F238E27FC236}">
                <a16:creationId xmlns:a16="http://schemas.microsoft.com/office/drawing/2014/main" xmlns="" id="{324CCF87-E5DB-4248-B6BA-A4346587C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324643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2" name="Rectangle 74">
            <a:extLst>
              <a:ext uri="{FF2B5EF4-FFF2-40B4-BE49-F238E27FC236}">
                <a16:creationId xmlns:a16="http://schemas.microsoft.com/office/drawing/2014/main" xmlns="" id="{F4307008-A927-4476-8595-7DA3467FD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32464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3" name="Rectangle 75">
            <a:extLst>
              <a:ext uri="{FF2B5EF4-FFF2-40B4-BE49-F238E27FC236}">
                <a16:creationId xmlns:a16="http://schemas.microsoft.com/office/drawing/2014/main" xmlns="" id="{4F6CF31C-F1C4-4139-997E-3E8FEFE1D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324643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4" name="Rectangle 77">
            <a:extLst>
              <a:ext uri="{FF2B5EF4-FFF2-40B4-BE49-F238E27FC236}">
                <a16:creationId xmlns:a16="http://schemas.microsoft.com/office/drawing/2014/main" xmlns="" id="{D70F3F32-8780-4063-A441-4776B3AD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32464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5" name="Rectangle 78">
            <a:extLst>
              <a:ext uri="{FF2B5EF4-FFF2-40B4-BE49-F238E27FC236}">
                <a16:creationId xmlns:a16="http://schemas.microsoft.com/office/drawing/2014/main" xmlns="" id="{0BEC7E35-91B1-4179-8619-9377BE4BE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325" y="32464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6" name="Rectangle 79">
            <a:extLst>
              <a:ext uri="{FF2B5EF4-FFF2-40B4-BE49-F238E27FC236}">
                <a16:creationId xmlns:a16="http://schemas.microsoft.com/office/drawing/2014/main" xmlns="" id="{A1C55957-D7C0-4510-9965-BFF65C791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324485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7" name="Rectangle 80">
            <a:extLst>
              <a:ext uri="{FF2B5EF4-FFF2-40B4-BE49-F238E27FC236}">
                <a16:creationId xmlns:a16="http://schemas.microsoft.com/office/drawing/2014/main" xmlns="" id="{E7B6F1E4-2F0C-45B5-B535-13122C5C9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32067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8" name="Rectangle 81">
            <a:extLst>
              <a:ext uri="{FF2B5EF4-FFF2-40B4-BE49-F238E27FC236}">
                <a16:creationId xmlns:a16="http://schemas.microsoft.com/office/drawing/2014/main" xmlns="" id="{DA6CF4B8-FFB4-4641-9CE9-0904F7442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325120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099" name="Rectangle 82">
            <a:extLst>
              <a:ext uri="{FF2B5EF4-FFF2-40B4-BE49-F238E27FC236}">
                <a16:creationId xmlns:a16="http://schemas.microsoft.com/office/drawing/2014/main" xmlns="" id="{8817C372-8620-4172-BDF8-C0FC67CBF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32067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0" name="Rectangle 83">
            <a:extLst>
              <a:ext uri="{FF2B5EF4-FFF2-40B4-BE49-F238E27FC236}">
                <a16:creationId xmlns:a16="http://schemas.microsoft.com/office/drawing/2014/main" xmlns="" id="{73220066-0183-404E-BF58-B17BDEBF9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63" y="325120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1" name="Rectangle 84">
            <a:extLst>
              <a:ext uri="{FF2B5EF4-FFF2-40B4-BE49-F238E27FC236}">
                <a16:creationId xmlns:a16="http://schemas.microsoft.com/office/drawing/2014/main" xmlns="" id="{6FA88441-7CBA-48CE-B95B-6538AFE31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575" y="32067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2" name="Rectangle 85">
            <a:extLst>
              <a:ext uri="{FF2B5EF4-FFF2-40B4-BE49-F238E27FC236}">
                <a16:creationId xmlns:a16="http://schemas.microsoft.com/office/drawing/2014/main" xmlns="" id="{D3CAFC13-949B-46C5-B8D2-516DEFEE2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24485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3" name="Rectangle 86">
            <a:extLst>
              <a:ext uri="{FF2B5EF4-FFF2-40B4-BE49-F238E27FC236}">
                <a16:creationId xmlns:a16="http://schemas.microsoft.com/office/drawing/2014/main" xmlns="" id="{5A385552-3D23-443D-8FBA-E3F5D3EE2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2067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4" name="Rectangle 87">
            <a:extLst>
              <a:ext uri="{FF2B5EF4-FFF2-40B4-BE49-F238E27FC236}">
                <a16:creationId xmlns:a16="http://schemas.microsoft.com/office/drawing/2014/main" xmlns="" id="{4A1FD494-F023-43B7-8670-E9761C871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3263900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5" name="Rectangle 90">
            <a:extLst>
              <a:ext uri="{FF2B5EF4-FFF2-40B4-BE49-F238E27FC236}">
                <a16:creationId xmlns:a16="http://schemas.microsoft.com/office/drawing/2014/main" xmlns="" id="{F5289C56-ACB1-49D0-98E1-FA021D15A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675064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6" name="Rectangle 91">
            <a:extLst>
              <a:ext uri="{FF2B5EF4-FFF2-40B4-BE49-F238E27FC236}">
                <a16:creationId xmlns:a16="http://schemas.microsoft.com/office/drawing/2014/main" xmlns="" id="{14450B96-951A-438E-A2FD-C9E7B805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3675064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7" name="Line 92">
            <a:extLst>
              <a:ext uri="{FF2B5EF4-FFF2-40B4-BE49-F238E27FC236}">
                <a16:creationId xmlns:a16="http://schemas.microsoft.com/office/drawing/2014/main" xmlns="" id="{48C23F4D-6D97-4AD9-8E55-FFEFFA4E9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2075" y="3927475"/>
            <a:ext cx="1651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08" name="Rectangle 93">
            <a:extLst>
              <a:ext uri="{FF2B5EF4-FFF2-40B4-BE49-F238E27FC236}">
                <a16:creationId xmlns:a16="http://schemas.microsoft.com/office/drawing/2014/main" xmlns="" id="{98B2362B-F231-4B07-8408-D81D21813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3619501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09" name="Rectangle 94">
            <a:extLst>
              <a:ext uri="{FF2B5EF4-FFF2-40B4-BE49-F238E27FC236}">
                <a16:creationId xmlns:a16="http://schemas.microsoft.com/office/drawing/2014/main" xmlns="" id="{A2BED960-C509-4C35-B635-A0EA4B0FB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050" y="3619501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0" name="Rectangle 95">
            <a:extLst>
              <a:ext uri="{FF2B5EF4-FFF2-40B4-BE49-F238E27FC236}">
                <a16:creationId xmlns:a16="http://schemas.microsoft.com/office/drawing/2014/main" xmlns="" id="{857735D7-9B43-4988-9F48-0BAF53846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75064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1" name="Rectangle 96">
            <a:extLst>
              <a:ext uri="{FF2B5EF4-FFF2-40B4-BE49-F238E27FC236}">
                <a16:creationId xmlns:a16="http://schemas.microsoft.com/office/drawing/2014/main" xmlns="" id="{748EA591-F6EF-4B56-89B6-C12269368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3675064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2" name="Rectangle 97">
            <a:extLst>
              <a:ext uri="{FF2B5EF4-FFF2-40B4-BE49-F238E27FC236}">
                <a16:creationId xmlns:a16="http://schemas.microsoft.com/office/drawing/2014/main" xmlns="" id="{D4D589DE-B830-4F8F-9021-2643347F4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150" y="3675064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3" name="Rectangle 98">
            <a:extLst>
              <a:ext uri="{FF2B5EF4-FFF2-40B4-BE49-F238E27FC236}">
                <a16:creationId xmlns:a16="http://schemas.microsoft.com/office/drawing/2014/main" xmlns="" id="{CA424038-1711-4576-8705-E048AA904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3675064"/>
            <a:ext cx="149080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5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4" name="Line 99">
            <a:extLst>
              <a:ext uri="{FF2B5EF4-FFF2-40B4-BE49-F238E27FC236}">
                <a16:creationId xmlns:a16="http://schemas.microsoft.com/office/drawing/2014/main" xmlns="" id="{4D0F5A43-91FC-4B04-8BD6-5E662C391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9813" y="3927475"/>
            <a:ext cx="1635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15" name="Rectangle 100">
            <a:extLst>
              <a:ext uri="{FF2B5EF4-FFF2-40B4-BE49-F238E27FC236}">
                <a16:creationId xmlns:a16="http://schemas.microsoft.com/office/drawing/2014/main" xmlns="" id="{F5118946-433B-4CBD-A46D-164673159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3619501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6" name="Rectangle 101">
            <a:extLst>
              <a:ext uri="{FF2B5EF4-FFF2-40B4-BE49-F238E27FC236}">
                <a16:creationId xmlns:a16="http://schemas.microsoft.com/office/drawing/2014/main" xmlns="" id="{58B55537-CB25-4608-94EF-9E49953DB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788" y="3619501"/>
            <a:ext cx="1715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7" name="Rectangle 102">
            <a:extLst>
              <a:ext uri="{FF2B5EF4-FFF2-40B4-BE49-F238E27FC236}">
                <a16:creationId xmlns:a16="http://schemas.microsoft.com/office/drawing/2014/main" xmlns="" id="{74559B78-9163-494F-B049-E752F563B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400" y="38115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8" name="Rectangle 104">
            <a:extLst>
              <a:ext uri="{FF2B5EF4-FFF2-40B4-BE49-F238E27FC236}">
                <a16:creationId xmlns:a16="http://schemas.microsoft.com/office/drawing/2014/main" xmlns="" id="{E77B3260-C84E-4E99-89CB-B600A2489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25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19" name="Rectangle 105">
            <a:extLst>
              <a:ext uri="{FF2B5EF4-FFF2-40B4-BE49-F238E27FC236}">
                <a16:creationId xmlns:a16="http://schemas.microsoft.com/office/drawing/2014/main" xmlns="" id="{119E1483-23C3-43D0-A0F5-A92458204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038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0" name="Rectangle 106">
            <a:extLst>
              <a:ext uri="{FF2B5EF4-FFF2-40B4-BE49-F238E27FC236}">
                <a16:creationId xmlns:a16="http://schemas.microsoft.com/office/drawing/2014/main" xmlns="" id="{EAFD8B28-CA6B-4DC9-BFAD-BCAF9E1F6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38115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1" name="Rectangle 107">
            <a:extLst>
              <a:ext uri="{FF2B5EF4-FFF2-40B4-BE49-F238E27FC236}">
                <a16:creationId xmlns:a16="http://schemas.microsoft.com/office/drawing/2014/main" xmlns="" id="{8135673A-A991-4D18-85C2-E3A2A123A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2" name="Rectangle 108">
            <a:extLst>
              <a:ext uri="{FF2B5EF4-FFF2-40B4-BE49-F238E27FC236}">
                <a16:creationId xmlns:a16="http://schemas.microsoft.com/office/drawing/2014/main" xmlns="" id="{13033FAB-4877-4E45-8195-26DB0437D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663" y="38115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3" name="Rectangle 110">
            <a:extLst>
              <a:ext uri="{FF2B5EF4-FFF2-40B4-BE49-F238E27FC236}">
                <a16:creationId xmlns:a16="http://schemas.microsoft.com/office/drawing/2014/main" xmlns="" id="{E6B7D698-BCA2-42F9-B3FB-BD22A26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175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4" name="Rectangle 111">
            <a:extLst>
              <a:ext uri="{FF2B5EF4-FFF2-40B4-BE49-F238E27FC236}">
                <a16:creationId xmlns:a16="http://schemas.microsoft.com/office/drawing/2014/main" xmlns="" id="{33E26021-057A-42C1-8F7F-F144661F4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5" name="Rectangle 112">
            <a:extLst>
              <a:ext uri="{FF2B5EF4-FFF2-40B4-BE49-F238E27FC236}">
                <a16:creationId xmlns:a16="http://schemas.microsoft.com/office/drawing/2014/main" xmlns="" id="{55764988-071C-4A77-998A-69AA1186D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37719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6" name="Rectangle 113">
            <a:extLst>
              <a:ext uri="{FF2B5EF4-FFF2-40B4-BE49-F238E27FC236}">
                <a16:creationId xmlns:a16="http://schemas.microsoft.com/office/drawing/2014/main" xmlns="" id="{50825171-16E1-4EC2-BE34-5733AC8DE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988" y="3771901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7" name="Rectangle 114">
            <a:extLst>
              <a:ext uri="{FF2B5EF4-FFF2-40B4-BE49-F238E27FC236}">
                <a16:creationId xmlns:a16="http://schemas.microsoft.com/office/drawing/2014/main" xmlns="" id="{61D75DC6-3E3F-4DF1-BBEF-3984123E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7719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8" name="Rectangle 115">
            <a:extLst>
              <a:ext uri="{FF2B5EF4-FFF2-40B4-BE49-F238E27FC236}">
                <a16:creationId xmlns:a16="http://schemas.microsoft.com/office/drawing/2014/main" xmlns="" id="{6B36DF63-7B9B-4C1D-869E-0E063A299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7719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29" name="Rectangle 116">
            <a:extLst>
              <a:ext uri="{FF2B5EF4-FFF2-40B4-BE49-F238E27FC236}">
                <a16:creationId xmlns:a16="http://schemas.microsoft.com/office/drawing/2014/main" xmlns="" id="{1B27BE8B-6EB6-4BF2-B7BC-FB3F9B2C4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37719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30" name="Rectangle 117">
            <a:extLst>
              <a:ext uri="{FF2B5EF4-FFF2-40B4-BE49-F238E27FC236}">
                <a16:creationId xmlns:a16="http://schemas.microsoft.com/office/drawing/2014/main" xmlns="" id="{D3E8A64E-FD82-4A56-A72F-D9C7893DC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71901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31" name="Rectangle 118">
            <a:extLst>
              <a:ext uri="{FF2B5EF4-FFF2-40B4-BE49-F238E27FC236}">
                <a16:creationId xmlns:a16="http://schemas.microsoft.com/office/drawing/2014/main" xmlns="" id="{959AD12F-41DD-41CA-84A2-41C15CB9F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37719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32" name="Rectangle 119">
            <a:extLst>
              <a:ext uri="{FF2B5EF4-FFF2-40B4-BE49-F238E27FC236}">
                <a16:creationId xmlns:a16="http://schemas.microsoft.com/office/drawing/2014/main" xmlns="" id="{149AAD3B-87A2-4BCA-95ED-23F1543F9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771901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33" name="Rectangle 120">
            <a:extLst>
              <a:ext uri="{FF2B5EF4-FFF2-40B4-BE49-F238E27FC236}">
                <a16:creationId xmlns:a16="http://schemas.microsoft.com/office/drawing/2014/main" xmlns="" id="{8B49004E-F583-484F-9053-87E3FF71A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37719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34" name="Line 123">
            <a:extLst>
              <a:ext uri="{FF2B5EF4-FFF2-40B4-BE49-F238E27FC236}">
                <a16:creationId xmlns:a16="http://schemas.microsoft.com/office/drawing/2014/main" xmlns="" id="{A8845280-0628-4271-B3C8-A391524BA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2413" y="4559300"/>
            <a:ext cx="69215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5" name="Line 124">
            <a:extLst>
              <a:ext uri="{FF2B5EF4-FFF2-40B4-BE49-F238E27FC236}">
                <a16:creationId xmlns:a16="http://schemas.microsoft.com/office/drawing/2014/main" xmlns="" id="{93E9942B-144F-40E1-ABFD-05A20E38F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6675" y="4565650"/>
            <a:ext cx="1651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6" name="Line 125">
            <a:extLst>
              <a:ext uri="{FF2B5EF4-FFF2-40B4-BE49-F238E27FC236}">
                <a16:creationId xmlns:a16="http://schemas.microsoft.com/office/drawing/2014/main" xmlns="" id="{2351F165-5C58-474B-9EEE-7D473D79D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456565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7" name="Line 126">
            <a:extLst>
              <a:ext uri="{FF2B5EF4-FFF2-40B4-BE49-F238E27FC236}">
                <a16:creationId xmlns:a16="http://schemas.microsoft.com/office/drawing/2014/main" xmlns="" id="{91573C0A-7C82-485F-8E34-048865E7F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5276" y="4578350"/>
            <a:ext cx="5445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8" name="Line 127">
            <a:extLst>
              <a:ext uri="{FF2B5EF4-FFF2-40B4-BE49-F238E27FC236}">
                <a16:creationId xmlns:a16="http://schemas.microsoft.com/office/drawing/2014/main" xmlns="" id="{389AF365-A822-4731-88D4-D1D48213D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3488" y="4578350"/>
            <a:ext cx="1635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9" name="Line 128">
            <a:extLst>
              <a:ext uri="{FF2B5EF4-FFF2-40B4-BE49-F238E27FC236}">
                <a16:creationId xmlns:a16="http://schemas.microsoft.com/office/drawing/2014/main" xmlns="" id="{21F40655-9BEF-479F-8D96-3BC41621C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7838" y="457835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40" name="Rectangle 129">
            <a:extLst>
              <a:ext uri="{FF2B5EF4-FFF2-40B4-BE49-F238E27FC236}">
                <a16:creationId xmlns:a16="http://schemas.microsoft.com/office/drawing/2014/main" xmlns="" id="{2385C908-3409-40F3-9A1C-5C705DA1E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7701" y="4481514"/>
            <a:ext cx="81753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Laws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1" name="Rectangle 130">
            <a:extLst>
              <a:ext uri="{FF2B5EF4-FFF2-40B4-BE49-F238E27FC236}">
                <a16:creationId xmlns:a16="http://schemas.microsoft.com/office/drawing/2014/main" xmlns="" id="{1BE0E205-2EF9-4909-AF80-60B02A849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6738" y="4481514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2" name="Rectangle 131">
            <a:extLst>
              <a:ext uri="{FF2B5EF4-FFF2-40B4-BE49-F238E27FC236}">
                <a16:creationId xmlns:a16="http://schemas.microsoft.com/office/drawing/2014/main" xmlns="" id="{AF0CBBE0-7B4A-4263-BC28-8B64CCEEE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2913" y="4481514"/>
            <a:ext cx="1394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3" name="Rectangle 132">
            <a:extLst>
              <a:ext uri="{FF2B5EF4-FFF2-40B4-BE49-F238E27FC236}">
                <a16:creationId xmlns:a16="http://schemas.microsoft.com/office/drawing/2014/main" xmlns="" id="{B1B5D6AC-3C04-4D1C-86B0-2001BD660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7614" y="4481514"/>
            <a:ext cx="17367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DeMorgan'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4" name="Rectangle 136">
            <a:extLst>
              <a:ext uri="{FF2B5EF4-FFF2-40B4-BE49-F238E27FC236}">
                <a16:creationId xmlns:a16="http://schemas.microsoft.com/office/drawing/2014/main" xmlns="" id="{9471EC86-AA25-4A48-BBC8-AEB57AD08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5" name="Rectangle 140">
            <a:extLst>
              <a:ext uri="{FF2B5EF4-FFF2-40B4-BE49-F238E27FC236}">
                <a16:creationId xmlns:a16="http://schemas.microsoft.com/office/drawing/2014/main" xmlns="" id="{BB5EBC31-E569-4EED-8B8E-1836421F3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6" name="Rectangle 143">
            <a:extLst>
              <a:ext uri="{FF2B5EF4-FFF2-40B4-BE49-F238E27FC236}">
                <a16:creationId xmlns:a16="http://schemas.microsoft.com/office/drawing/2014/main" xmlns="" id="{FEC009EA-50A1-4BE5-9F2E-BF90C9B1A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4441826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7" name="Rectangle 145">
            <a:extLst>
              <a:ext uri="{FF2B5EF4-FFF2-40B4-BE49-F238E27FC236}">
                <a16:creationId xmlns:a16="http://schemas.microsoft.com/office/drawing/2014/main" xmlns="" id="{CC6A9F37-223F-4D8F-B621-EB821233C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44182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8" name="Rectangle 146">
            <a:extLst>
              <a:ext uri="{FF2B5EF4-FFF2-40B4-BE49-F238E27FC236}">
                <a16:creationId xmlns:a16="http://schemas.microsoft.com/office/drawing/2014/main" xmlns="" id="{FBE66CDE-B997-41DB-8EB5-2C0A22048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444182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49" name="Rectangle 36">
            <a:extLst>
              <a:ext uri="{FF2B5EF4-FFF2-40B4-BE49-F238E27FC236}">
                <a16:creationId xmlns:a16="http://schemas.microsoft.com/office/drawing/2014/main" xmlns="" id="{9B4D2F8A-64D7-49EA-BA09-B09598BC1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150018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0" name="Rectangle 37">
            <a:extLst>
              <a:ext uri="{FF2B5EF4-FFF2-40B4-BE49-F238E27FC236}">
                <a16:creationId xmlns:a16="http://schemas.microsoft.com/office/drawing/2014/main" xmlns="" id="{7CB0F9B5-F909-4AD9-B4F3-BEAAD96BB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5" y="15271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1" name="Rectangle 38">
            <a:extLst>
              <a:ext uri="{FF2B5EF4-FFF2-40B4-BE49-F238E27FC236}">
                <a16:creationId xmlns:a16="http://schemas.microsoft.com/office/drawing/2014/main" xmlns="" id="{36CEA7F6-F14B-4B2F-9ED4-E15CF838D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575" y="15271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2" name="Rectangle 64">
            <a:extLst>
              <a:ext uri="{FF2B5EF4-FFF2-40B4-BE49-F238E27FC236}">
                <a16:creationId xmlns:a16="http://schemas.microsoft.com/office/drawing/2014/main" xmlns="" id="{F436E926-8CA5-4220-8D5E-C019AB854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913" y="27130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3" name="Rectangle 65">
            <a:extLst>
              <a:ext uri="{FF2B5EF4-FFF2-40B4-BE49-F238E27FC236}">
                <a16:creationId xmlns:a16="http://schemas.microsoft.com/office/drawing/2014/main" xmlns="" id="{F959DAFE-4A3F-448D-A591-142D34774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27193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4" name="Rectangle 88">
            <a:extLst>
              <a:ext uri="{FF2B5EF4-FFF2-40B4-BE49-F238E27FC236}">
                <a16:creationId xmlns:a16="http://schemas.microsoft.com/office/drawing/2014/main" xmlns="" id="{CC257F38-604A-4D01-A305-30AEA6E48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2464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5" name="Rectangle 89">
            <a:extLst>
              <a:ext uri="{FF2B5EF4-FFF2-40B4-BE49-F238E27FC236}">
                <a16:creationId xmlns:a16="http://schemas.microsoft.com/office/drawing/2014/main" xmlns="" id="{86AD4A8D-FDD2-4302-96B5-57D83843E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2464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6" name="Rectangle 121">
            <a:extLst>
              <a:ext uri="{FF2B5EF4-FFF2-40B4-BE49-F238E27FC236}">
                <a16:creationId xmlns:a16="http://schemas.microsoft.com/office/drawing/2014/main" xmlns="" id="{783B24C5-102D-46F8-A18C-948B9CCB1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7" name="Rectangle 122">
            <a:extLst>
              <a:ext uri="{FF2B5EF4-FFF2-40B4-BE49-F238E27FC236}">
                <a16:creationId xmlns:a16="http://schemas.microsoft.com/office/drawing/2014/main" xmlns="" id="{33B9449A-25E7-4433-B9C7-D447C71E5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38115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8" name="Rectangle 147">
            <a:extLst>
              <a:ext uri="{FF2B5EF4-FFF2-40B4-BE49-F238E27FC236}">
                <a16:creationId xmlns:a16="http://schemas.microsoft.com/office/drawing/2014/main" xmlns="" id="{56E29B69-2A96-43E2-875A-55F27E3A4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59" name="Rectangle 149">
            <a:extLst>
              <a:ext uri="{FF2B5EF4-FFF2-40B4-BE49-F238E27FC236}">
                <a16:creationId xmlns:a16="http://schemas.microsoft.com/office/drawing/2014/main" xmlns="" id="{FC377360-DF0E-4F22-B9B8-E7AC09B5D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963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60" name="Rectangle 150">
            <a:extLst>
              <a:ext uri="{FF2B5EF4-FFF2-40B4-BE49-F238E27FC236}">
                <a16:creationId xmlns:a16="http://schemas.microsoft.com/office/drawing/2014/main" xmlns="" id="{D7AFF23D-79CA-4F2F-A024-162A64214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44182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61" name="Rectangle 151">
            <a:extLst>
              <a:ext uri="{FF2B5EF4-FFF2-40B4-BE49-F238E27FC236}">
                <a16:creationId xmlns:a16="http://schemas.microsoft.com/office/drawing/2014/main" xmlns="" id="{C15F6968-DE7B-46B9-8DFF-6AE89E491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44182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62" name="Rectangle 152">
            <a:extLst>
              <a:ext uri="{FF2B5EF4-FFF2-40B4-BE49-F238E27FC236}">
                <a16:creationId xmlns:a16="http://schemas.microsoft.com/office/drawing/2014/main" xmlns="" id="{5D3F7CF3-2197-40E0-B547-D27036292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838" y="44815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4163" name="Line 153">
            <a:extLst>
              <a:ext uri="{FF2B5EF4-FFF2-40B4-BE49-F238E27FC236}">
                <a16:creationId xmlns:a16="http://schemas.microsoft.com/office/drawing/2014/main" xmlns="" id="{293F40F4-B5E8-46E0-A0A1-EF48B24C0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1" y="1668463"/>
            <a:ext cx="1762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64" name="Line 154">
            <a:extLst>
              <a:ext uri="{FF2B5EF4-FFF2-40B4-BE49-F238E27FC236}">
                <a16:creationId xmlns:a16="http://schemas.microsoft.com/office/drawing/2014/main" xmlns="" id="{6E00451A-EB31-4CCE-9FCF-D0D84A3E0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1" y="2843213"/>
            <a:ext cx="1762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65" name="Line 155">
            <a:extLst>
              <a:ext uri="{FF2B5EF4-FFF2-40B4-BE49-F238E27FC236}">
                <a16:creationId xmlns:a16="http://schemas.microsoft.com/office/drawing/2014/main" xmlns="" id="{EA144EB3-CEC9-4B2B-9849-609CBF3792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6901" y="2855913"/>
            <a:ext cx="1762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70.5|2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9.8|433.6|249.2|26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3.7|2.5|127.8|4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35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4.2|17.4|24.6|19|22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7.4|11.5|8|101.7|9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855</Words>
  <Application>Microsoft Office PowerPoint</Application>
  <PresentationFormat>Widescreen</PresentationFormat>
  <Paragraphs>309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Symbol</vt:lpstr>
      <vt:lpstr>Times New Roman</vt:lpstr>
      <vt:lpstr>TimesTen</vt:lpstr>
      <vt:lpstr>Wingdings</vt:lpstr>
      <vt:lpstr>Office Theme</vt:lpstr>
      <vt:lpstr>Default Design</vt:lpstr>
      <vt:lpstr>Equation</vt:lpstr>
      <vt:lpstr>Logic Gates</vt:lpstr>
      <vt:lpstr>Logic Gates (continued)</vt:lpstr>
      <vt:lpstr>Logic Gate Symbols and Behavior</vt:lpstr>
      <vt:lpstr>Logic Diagrams and Expressions</vt:lpstr>
      <vt:lpstr>Boolean Algebra</vt:lpstr>
      <vt:lpstr>Some Properties of Identities &amp; the Algebra</vt:lpstr>
      <vt:lpstr>Some Properties of Identities &amp; the Algebra (Continued)</vt:lpstr>
      <vt:lpstr>PowerPoint Presentation</vt:lpstr>
      <vt:lpstr>Useful Theorems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Nutech</dc:creator>
  <cp:lastModifiedBy>Windows User</cp:lastModifiedBy>
  <cp:revision>72</cp:revision>
  <dcterms:created xsi:type="dcterms:W3CDTF">2020-04-18T07:13:17Z</dcterms:created>
  <dcterms:modified xsi:type="dcterms:W3CDTF">2025-02-20T06:37:11Z</dcterms:modified>
</cp:coreProperties>
</file>